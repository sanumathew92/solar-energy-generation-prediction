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099E3B-12AD-4C62-8CAC-5E766B5F42A6}" v="410" dt="2026-04-27T09:56:57.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u mathew" userId="ec8c2f12682202a6" providerId="LiveId" clId="{05ADEA0A-BB2B-4313-8B38-3B2BF9CE5AE5}"/>
    <pc:docChg chg="undo custSel addSld delSld modSld">
      <pc:chgData name="sanu mathew" userId="ec8c2f12682202a6" providerId="LiveId" clId="{05ADEA0A-BB2B-4313-8B38-3B2BF9CE5AE5}" dt="2026-04-27T09:56:57.625" v="2470"/>
      <pc:docMkLst>
        <pc:docMk/>
      </pc:docMkLst>
      <pc:sldChg chg="modSp mod">
        <pc:chgData name="sanu mathew" userId="ec8c2f12682202a6" providerId="LiveId" clId="{05ADEA0A-BB2B-4313-8B38-3B2BF9CE5AE5}" dt="2026-04-27T06:53:12.593" v="97"/>
        <pc:sldMkLst>
          <pc:docMk/>
          <pc:sldMk cId="1351718829" sldId="256"/>
        </pc:sldMkLst>
        <pc:spChg chg="mod">
          <ac:chgData name="sanu mathew" userId="ec8c2f12682202a6" providerId="LiveId" clId="{05ADEA0A-BB2B-4313-8B38-3B2BF9CE5AE5}" dt="2026-04-27T06:50:06.873" v="2" actId="14100"/>
          <ac:spMkLst>
            <pc:docMk/>
            <pc:sldMk cId="1351718829" sldId="256"/>
            <ac:spMk id="2" creationId="{083A64D0-1019-9D94-FB4A-06E3BFC020CD}"/>
          </ac:spMkLst>
        </pc:spChg>
        <pc:spChg chg="mod">
          <ac:chgData name="sanu mathew" userId="ec8c2f12682202a6" providerId="LiveId" clId="{05ADEA0A-BB2B-4313-8B38-3B2BF9CE5AE5}" dt="2026-04-27T06:53:12.593" v="97"/>
          <ac:spMkLst>
            <pc:docMk/>
            <pc:sldMk cId="1351718829" sldId="256"/>
            <ac:spMk id="3" creationId="{90146C4A-1F86-78F6-284D-6ECD79241094}"/>
          </ac:spMkLst>
        </pc:spChg>
      </pc:sldChg>
      <pc:sldChg chg="new del">
        <pc:chgData name="sanu mathew" userId="ec8c2f12682202a6" providerId="LiveId" clId="{05ADEA0A-BB2B-4313-8B38-3B2BF9CE5AE5}" dt="2026-04-27T06:50:47.388" v="38" actId="2696"/>
        <pc:sldMkLst>
          <pc:docMk/>
          <pc:sldMk cId="1021692088" sldId="257"/>
        </pc:sldMkLst>
      </pc:sldChg>
      <pc:sldChg chg="modSp add mod">
        <pc:chgData name="sanu mathew" userId="ec8c2f12682202a6" providerId="LiveId" clId="{05ADEA0A-BB2B-4313-8B38-3B2BF9CE5AE5}" dt="2026-04-27T09:41:03.551" v="2328" actId="20577"/>
        <pc:sldMkLst>
          <pc:docMk/>
          <pc:sldMk cId="2061883191" sldId="257"/>
        </pc:sldMkLst>
        <pc:spChg chg="mod">
          <ac:chgData name="sanu mathew" userId="ec8c2f12682202a6" providerId="LiveId" clId="{05ADEA0A-BB2B-4313-8B38-3B2BF9CE5AE5}" dt="2026-04-27T06:53:26.884" v="102" actId="27636"/>
          <ac:spMkLst>
            <pc:docMk/>
            <pc:sldMk cId="2061883191" sldId="257"/>
            <ac:spMk id="2" creationId="{2C67ABC2-5142-1C60-CCBA-9662A9114864}"/>
          </ac:spMkLst>
        </pc:spChg>
        <pc:spChg chg="mod">
          <ac:chgData name="sanu mathew" userId="ec8c2f12682202a6" providerId="LiveId" clId="{05ADEA0A-BB2B-4313-8B38-3B2BF9CE5AE5}" dt="2026-04-27T09:41:03.551" v="2328" actId="20577"/>
          <ac:spMkLst>
            <pc:docMk/>
            <pc:sldMk cId="2061883191" sldId="257"/>
            <ac:spMk id="3" creationId="{C5648F18-4662-669D-F063-451068BDBF86}"/>
          </ac:spMkLst>
        </pc:spChg>
      </pc:sldChg>
      <pc:sldChg chg="new del">
        <pc:chgData name="sanu mathew" userId="ec8c2f12682202a6" providerId="LiveId" clId="{05ADEA0A-BB2B-4313-8B38-3B2BF9CE5AE5}" dt="2026-04-27T06:50:36.168" v="36" actId="47"/>
        <pc:sldMkLst>
          <pc:docMk/>
          <pc:sldMk cId="2484573381" sldId="257"/>
        </pc:sldMkLst>
      </pc:sldChg>
      <pc:sldChg chg="modSp new mod">
        <pc:chgData name="sanu mathew" userId="ec8c2f12682202a6" providerId="LiveId" clId="{05ADEA0A-BB2B-4313-8B38-3B2BF9CE5AE5}" dt="2026-04-27T06:58:58.622" v="225" actId="11"/>
        <pc:sldMkLst>
          <pc:docMk/>
          <pc:sldMk cId="2460872548" sldId="258"/>
        </pc:sldMkLst>
        <pc:spChg chg="mod">
          <ac:chgData name="sanu mathew" userId="ec8c2f12682202a6" providerId="LiveId" clId="{05ADEA0A-BB2B-4313-8B38-3B2BF9CE5AE5}" dt="2026-04-27T06:55:45.035" v="205"/>
          <ac:spMkLst>
            <pc:docMk/>
            <pc:sldMk cId="2460872548" sldId="258"/>
            <ac:spMk id="2" creationId="{78CAB476-DE8F-CFE8-1D1B-ED84528AB64C}"/>
          </ac:spMkLst>
        </pc:spChg>
        <pc:spChg chg="mod">
          <ac:chgData name="sanu mathew" userId="ec8c2f12682202a6" providerId="LiveId" clId="{05ADEA0A-BB2B-4313-8B38-3B2BF9CE5AE5}" dt="2026-04-27T06:58:58.622" v="225" actId="11"/>
          <ac:spMkLst>
            <pc:docMk/>
            <pc:sldMk cId="2460872548" sldId="258"/>
            <ac:spMk id="3" creationId="{EEB03A49-3E96-040B-AC38-6563848C8BA1}"/>
          </ac:spMkLst>
        </pc:spChg>
      </pc:sldChg>
      <pc:sldChg chg="addSp delSp modSp new mod">
        <pc:chgData name="sanu mathew" userId="ec8c2f12682202a6" providerId="LiveId" clId="{05ADEA0A-BB2B-4313-8B38-3B2BF9CE5AE5}" dt="2026-04-27T06:58:41.358" v="224" actId="11"/>
        <pc:sldMkLst>
          <pc:docMk/>
          <pc:sldMk cId="457833508" sldId="259"/>
        </pc:sldMkLst>
        <pc:spChg chg="del mod">
          <ac:chgData name="sanu mathew" userId="ec8c2f12682202a6" providerId="LiveId" clId="{05ADEA0A-BB2B-4313-8B38-3B2BF9CE5AE5}" dt="2026-04-27T06:57:20.607" v="216" actId="21"/>
          <ac:spMkLst>
            <pc:docMk/>
            <pc:sldMk cId="457833508" sldId="259"/>
            <ac:spMk id="2" creationId="{C18BE4BF-CE17-36F2-EAFB-842C4D93F82F}"/>
          </ac:spMkLst>
        </pc:spChg>
        <pc:spChg chg="mod">
          <ac:chgData name="sanu mathew" userId="ec8c2f12682202a6" providerId="LiveId" clId="{05ADEA0A-BB2B-4313-8B38-3B2BF9CE5AE5}" dt="2026-04-27T06:58:41.358" v="224" actId="11"/>
          <ac:spMkLst>
            <pc:docMk/>
            <pc:sldMk cId="457833508" sldId="259"/>
            <ac:spMk id="3" creationId="{399F370F-B7D9-FF90-3186-F8E6C746605B}"/>
          </ac:spMkLst>
        </pc:spChg>
        <pc:spChg chg="add del mod">
          <ac:chgData name="sanu mathew" userId="ec8c2f12682202a6" providerId="LiveId" clId="{05ADEA0A-BB2B-4313-8B38-3B2BF9CE5AE5}" dt="2026-04-27T06:57:23.951" v="217" actId="21"/>
          <ac:spMkLst>
            <pc:docMk/>
            <pc:sldMk cId="457833508" sldId="259"/>
            <ac:spMk id="5" creationId="{A2651AA1-82BD-BCC1-6325-22D3E53B05D2}"/>
          </ac:spMkLst>
        </pc:spChg>
      </pc:sldChg>
      <pc:sldChg chg="delSp modSp new mod">
        <pc:chgData name="sanu mathew" userId="ec8c2f12682202a6" providerId="LiveId" clId="{05ADEA0A-BB2B-4313-8B38-3B2BF9CE5AE5}" dt="2026-04-27T07:02:13.102" v="242" actId="108"/>
        <pc:sldMkLst>
          <pc:docMk/>
          <pc:sldMk cId="2645611664" sldId="260"/>
        </pc:sldMkLst>
        <pc:spChg chg="del">
          <ac:chgData name="sanu mathew" userId="ec8c2f12682202a6" providerId="LiveId" clId="{05ADEA0A-BB2B-4313-8B38-3B2BF9CE5AE5}" dt="2026-04-27T07:00:24.792" v="230" actId="21"/>
          <ac:spMkLst>
            <pc:docMk/>
            <pc:sldMk cId="2645611664" sldId="260"/>
            <ac:spMk id="2" creationId="{B9C47D82-0F20-493E-2A05-158F7F37B20F}"/>
          </ac:spMkLst>
        </pc:spChg>
        <pc:spChg chg="mod">
          <ac:chgData name="sanu mathew" userId="ec8c2f12682202a6" providerId="LiveId" clId="{05ADEA0A-BB2B-4313-8B38-3B2BF9CE5AE5}" dt="2026-04-27T07:02:13.102" v="242" actId="108"/>
          <ac:spMkLst>
            <pc:docMk/>
            <pc:sldMk cId="2645611664" sldId="260"/>
            <ac:spMk id="3" creationId="{61A51A44-A1A2-2AB5-C109-3EEB4D9F1468}"/>
          </ac:spMkLst>
        </pc:spChg>
      </pc:sldChg>
      <pc:sldChg chg="addSp delSp modSp new mod">
        <pc:chgData name="sanu mathew" userId="ec8c2f12682202a6" providerId="LiveId" clId="{05ADEA0A-BB2B-4313-8B38-3B2BF9CE5AE5}" dt="2026-04-27T07:03:41.566" v="254" actId="11"/>
        <pc:sldMkLst>
          <pc:docMk/>
          <pc:sldMk cId="2908807509" sldId="261"/>
        </pc:sldMkLst>
        <pc:spChg chg="del">
          <ac:chgData name="sanu mathew" userId="ec8c2f12682202a6" providerId="LiveId" clId="{05ADEA0A-BB2B-4313-8B38-3B2BF9CE5AE5}" dt="2026-04-27T07:02:47.148" v="244" actId="21"/>
          <ac:spMkLst>
            <pc:docMk/>
            <pc:sldMk cId="2908807509" sldId="261"/>
            <ac:spMk id="2" creationId="{DC8C0354-5862-46CF-BE38-9DEFCEFF1340}"/>
          </ac:spMkLst>
        </pc:spChg>
        <pc:spChg chg="add del mod">
          <ac:chgData name="sanu mathew" userId="ec8c2f12682202a6" providerId="LiveId" clId="{05ADEA0A-BB2B-4313-8B38-3B2BF9CE5AE5}" dt="2026-04-27T07:03:41.566" v="254" actId="11"/>
          <ac:spMkLst>
            <pc:docMk/>
            <pc:sldMk cId="2908807509" sldId="261"/>
            <ac:spMk id="3" creationId="{67480259-DF19-E423-7E83-A955CBD5BBFE}"/>
          </ac:spMkLst>
        </pc:spChg>
        <pc:spChg chg="add mod">
          <ac:chgData name="sanu mathew" userId="ec8c2f12682202a6" providerId="LiveId" clId="{05ADEA0A-BB2B-4313-8B38-3B2BF9CE5AE5}" dt="2026-04-27T07:03:00.382" v="248"/>
          <ac:spMkLst>
            <pc:docMk/>
            <pc:sldMk cId="2908807509" sldId="261"/>
            <ac:spMk id="4" creationId="{DC8C0354-5862-46CF-BE38-9DEFCEFF1340}"/>
          </ac:spMkLst>
        </pc:spChg>
      </pc:sldChg>
      <pc:sldChg chg="modSp new mod">
        <pc:chgData name="sanu mathew" userId="ec8c2f12682202a6" providerId="LiveId" clId="{05ADEA0A-BB2B-4313-8B38-3B2BF9CE5AE5}" dt="2026-04-27T07:11:40.280" v="284"/>
        <pc:sldMkLst>
          <pc:docMk/>
          <pc:sldMk cId="1057935239" sldId="262"/>
        </pc:sldMkLst>
        <pc:spChg chg="mod">
          <ac:chgData name="sanu mathew" userId="ec8c2f12682202a6" providerId="LiveId" clId="{05ADEA0A-BB2B-4313-8B38-3B2BF9CE5AE5}" dt="2026-04-27T07:04:45.346" v="278" actId="27636"/>
          <ac:spMkLst>
            <pc:docMk/>
            <pc:sldMk cId="1057935239" sldId="262"/>
            <ac:spMk id="2" creationId="{B25C1B8A-3E6A-19E9-D6A9-22E4BABA46B3}"/>
          </ac:spMkLst>
        </pc:spChg>
        <pc:spChg chg="mod">
          <ac:chgData name="sanu mathew" userId="ec8c2f12682202a6" providerId="LiveId" clId="{05ADEA0A-BB2B-4313-8B38-3B2BF9CE5AE5}" dt="2026-04-27T07:11:40.280" v="284"/>
          <ac:spMkLst>
            <pc:docMk/>
            <pc:sldMk cId="1057935239" sldId="262"/>
            <ac:spMk id="3" creationId="{273C3B42-754A-D1C7-9349-76E8D5FB83A1}"/>
          </ac:spMkLst>
        </pc:spChg>
      </pc:sldChg>
      <pc:sldChg chg="addSp delSp modSp new mod">
        <pc:chgData name="sanu mathew" userId="ec8c2f12682202a6" providerId="LiveId" clId="{05ADEA0A-BB2B-4313-8B38-3B2BF9CE5AE5}" dt="2026-04-27T07:18:13.517" v="376" actId="255"/>
        <pc:sldMkLst>
          <pc:docMk/>
          <pc:sldMk cId="2154153206" sldId="263"/>
        </pc:sldMkLst>
        <pc:spChg chg="del">
          <ac:chgData name="sanu mathew" userId="ec8c2f12682202a6" providerId="LiveId" clId="{05ADEA0A-BB2B-4313-8B38-3B2BF9CE5AE5}" dt="2026-04-27T07:12:01.689" v="286" actId="21"/>
          <ac:spMkLst>
            <pc:docMk/>
            <pc:sldMk cId="2154153206" sldId="263"/>
            <ac:spMk id="2" creationId="{499ECA06-2F86-E786-946B-143E99AEAA1E}"/>
          </ac:spMkLst>
        </pc:spChg>
        <pc:spChg chg="add del mod">
          <ac:chgData name="sanu mathew" userId="ec8c2f12682202a6" providerId="LiveId" clId="{05ADEA0A-BB2B-4313-8B38-3B2BF9CE5AE5}" dt="2026-04-27T07:18:13.517" v="376" actId="255"/>
          <ac:spMkLst>
            <pc:docMk/>
            <pc:sldMk cId="2154153206" sldId="263"/>
            <ac:spMk id="3" creationId="{DDD8D2B6-E53B-59D0-2C30-8ED9D092BB85}"/>
          </ac:spMkLst>
        </pc:spChg>
        <pc:spChg chg="add mod">
          <ac:chgData name="sanu mathew" userId="ec8c2f12682202a6" providerId="LiveId" clId="{05ADEA0A-BB2B-4313-8B38-3B2BF9CE5AE5}" dt="2026-04-27T07:12:13.953" v="290"/>
          <ac:spMkLst>
            <pc:docMk/>
            <pc:sldMk cId="2154153206" sldId="263"/>
            <ac:spMk id="4" creationId="{499ECA06-2F86-E786-946B-143E99AEAA1E}"/>
          </ac:spMkLst>
        </pc:spChg>
      </pc:sldChg>
      <pc:sldChg chg="delSp modSp new mod">
        <pc:chgData name="sanu mathew" userId="ec8c2f12682202a6" providerId="LiveId" clId="{05ADEA0A-BB2B-4313-8B38-3B2BF9CE5AE5}" dt="2026-04-27T07:17:21.678" v="368"/>
        <pc:sldMkLst>
          <pc:docMk/>
          <pc:sldMk cId="4080453459" sldId="264"/>
        </pc:sldMkLst>
        <pc:spChg chg="del">
          <ac:chgData name="sanu mathew" userId="ec8c2f12682202a6" providerId="LiveId" clId="{05ADEA0A-BB2B-4313-8B38-3B2BF9CE5AE5}" dt="2026-04-27T07:13:59.225" v="297" actId="21"/>
          <ac:spMkLst>
            <pc:docMk/>
            <pc:sldMk cId="4080453459" sldId="264"/>
            <ac:spMk id="2" creationId="{EEAFD2D7-4E05-F884-1D73-04227DD23697}"/>
          </ac:spMkLst>
        </pc:spChg>
        <pc:spChg chg="mod">
          <ac:chgData name="sanu mathew" userId="ec8c2f12682202a6" providerId="LiveId" clId="{05ADEA0A-BB2B-4313-8B38-3B2BF9CE5AE5}" dt="2026-04-27T07:17:21.678" v="368"/>
          <ac:spMkLst>
            <pc:docMk/>
            <pc:sldMk cId="4080453459" sldId="264"/>
            <ac:spMk id="3" creationId="{6E92C9BD-A11E-4A33-517A-689D839261E7}"/>
          </ac:spMkLst>
        </pc:spChg>
      </pc:sldChg>
      <pc:sldChg chg="delSp modSp new mod">
        <pc:chgData name="sanu mathew" userId="ec8c2f12682202a6" providerId="LiveId" clId="{05ADEA0A-BB2B-4313-8B38-3B2BF9CE5AE5}" dt="2026-04-27T07:18:52.953" v="385"/>
        <pc:sldMkLst>
          <pc:docMk/>
          <pc:sldMk cId="1295211467" sldId="265"/>
        </pc:sldMkLst>
        <pc:spChg chg="del">
          <ac:chgData name="sanu mathew" userId="ec8c2f12682202a6" providerId="LiveId" clId="{05ADEA0A-BB2B-4313-8B38-3B2BF9CE5AE5}" dt="2026-04-27T07:18:23.859" v="378" actId="21"/>
          <ac:spMkLst>
            <pc:docMk/>
            <pc:sldMk cId="1295211467" sldId="265"/>
            <ac:spMk id="2" creationId="{6735D27F-09FD-883B-F05A-89ABA596EF17}"/>
          </ac:spMkLst>
        </pc:spChg>
        <pc:spChg chg="mod">
          <ac:chgData name="sanu mathew" userId="ec8c2f12682202a6" providerId="LiveId" clId="{05ADEA0A-BB2B-4313-8B38-3B2BF9CE5AE5}" dt="2026-04-27T07:18:52.953" v="385"/>
          <ac:spMkLst>
            <pc:docMk/>
            <pc:sldMk cId="1295211467" sldId="265"/>
            <ac:spMk id="3" creationId="{54A1A83C-41DF-9D97-A665-A5EFEFE3AECD}"/>
          </ac:spMkLst>
        </pc:spChg>
      </pc:sldChg>
      <pc:sldChg chg="modSp new mod">
        <pc:chgData name="sanu mathew" userId="ec8c2f12682202a6" providerId="LiveId" clId="{05ADEA0A-BB2B-4313-8B38-3B2BF9CE5AE5}" dt="2026-04-27T07:25:44.078" v="524" actId="113"/>
        <pc:sldMkLst>
          <pc:docMk/>
          <pc:sldMk cId="3990924024" sldId="266"/>
        </pc:sldMkLst>
        <pc:spChg chg="mod">
          <ac:chgData name="sanu mathew" userId="ec8c2f12682202a6" providerId="LiveId" clId="{05ADEA0A-BB2B-4313-8B38-3B2BF9CE5AE5}" dt="2026-04-27T07:23:45.370" v="390" actId="27636"/>
          <ac:spMkLst>
            <pc:docMk/>
            <pc:sldMk cId="3990924024" sldId="266"/>
            <ac:spMk id="2" creationId="{FAA405B5-2C6A-8AFF-B06A-592F58CEBF8D}"/>
          </ac:spMkLst>
        </pc:spChg>
        <pc:spChg chg="mod">
          <ac:chgData name="sanu mathew" userId="ec8c2f12682202a6" providerId="LiveId" clId="{05ADEA0A-BB2B-4313-8B38-3B2BF9CE5AE5}" dt="2026-04-27T07:25:44.078" v="524" actId="113"/>
          <ac:spMkLst>
            <pc:docMk/>
            <pc:sldMk cId="3990924024" sldId="266"/>
            <ac:spMk id="3" creationId="{B7E39A54-A8D8-E4F9-6FF2-388ADD9E8214}"/>
          </ac:spMkLst>
        </pc:spChg>
      </pc:sldChg>
      <pc:sldChg chg="addSp delSp modSp new mod">
        <pc:chgData name="sanu mathew" userId="ec8c2f12682202a6" providerId="LiveId" clId="{05ADEA0A-BB2B-4313-8B38-3B2BF9CE5AE5}" dt="2026-04-27T07:30:28.997" v="662" actId="21"/>
        <pc:sldMkLst>
          <pc:docMk/>
          <pc:sldMk cId="2112377144" sldId="267"/>
        </pc:sldMkLst>
        <pc:spChg chg="del">
          <ac:chgData name="sanu mathew" userId="ec8c2f12682202a6" providerId="LiveId" clId="{05ADEA0A-BB2B-4313-8B38-3B2BF9CE5AE5}" dt="2026-04-27T07:26:13.590" v="526" actId="21"/>
          <ac:spMkLst>
            <pc:docMk/>
            <pc:sldMk cId="2112377144" sldId="267"/>
            <ac:spMk id="2" creationId="{F1EE5932-0BE3-4D01-2920-8B9381C6AC25}"/>
          </ac:spMkLst>
        </pc:spChg>
        <pc:spChg chg="mod">
          <ac:chgData name="sanu mathew" userId="ec8c2f12682202a6" providerId="LiveId" clId="{05ADEA0A-BB2B-4313-8B38-3B2BF9CE5AE5}" dt="2026-04-27T07:30:28.997" v="662" actId="21"/>
          <ac:spMkLst>
            <pc:docMk/>
            <pc:sldMk cId="2112377144" sldId="267"/>
            <ac:spMk id="3" creationId="{419187CB-9C80-8892-E150-48760C6C9238}"/>
          </ac:spMkLst>
        </pc:spChg>
        <pc:spChg chg="add">
          <ac:chgData name="sanu mathew" userId="ec8c2f12682202a6" providerId="LiveId" clId="{05ADEA0A-BB2B-4313-8B38-3B2BF9CE5AE5}" dt="2026-04-27T07:28:29.568" v="602"/>
          <ac:spMkLst>
            <pc:docMk/>
            <pc:sldMk cId="2112377144" sldId="267"/>
            <ac:spMk id="4" creationId="{95F58DF8-8C3E-6A31-3685-8DF79B5332CA}"/>
          </ac:spMkLst>
        </pc:spChg>
        <pc:spChg chg="add">
          <ac:chgData name="sanu mathew" userId="ec8c2f12682202a6" providerId="LiveId" clId="{05ADEA0A-BB2B-4313-8B38-3B2BF9CE5AE5}" dt="2026-04-27T07:28:34.901" v="604"/>
          <ac:spMkLst>
            <pc:docMk/>
            <pc:sldMk cId="2112377144" sldId="267"/>
            <ac:spMk id="5" creationId="{F5DBB213-5FC6-62EF-2A0C-FE649B47BC65}"/>
          </ac:spMkLst>
        </pc:spChg>
      </pc:sldChg>
      <pc:sldChg chg="addSp delSp modSp new mod">
        <pc:chgData name="sanu mathew" userId="ec8c2f12682202a6" providerId="LiveId" clId="{05ADEA0A-BB2B-4313-8B38-3B2BF9CE5AE5}" dt="2026-04-27T07:34:01.832" v="734" actId="27636"/>
        <pc:sldMkLst>
          <pc:docMk/>
          <pc:sldMk cId="4265118973" sldId="268"/>
        </pc:sldMkLst>
        <pc:spChg chg="del">
          <ac:chgData name="sanu mathew" userId="ec8c2f12682202a6" providerId="LiveId" clId="{05ADEA0A-BB2B-4313-8B38-3B2BF9CE5AE5}" dt="2026-04-27T07:30:36.064" v="664" actId="21"/>
          <ac:spMkLst>
            <pc:docMk/>
            <pc:sldMk cId="4265118973" sldId="268"/>
            <ac:spMk id="2" creationId="{3433F84E-3157-C281-28D8-E096903A9186}"/>
          </ac:spMkLst>
        </pc:spChg>
        <pc:spChg chg="add del mod">
          <ac:chgData name="sanu mathew" userId="ec8c2f12682202a6" providerId="LiveId" clId="{05ADEA0A-BB2B-4313-8B38-3B2BF9CE5AE5}" dt="2026-04-27T07:34:01.832" v="734" actId="27636"/>
          <ac:spMkLst>
            <pc:docMk/>
            <pc:sldMk cId="4265118973" sldId="268"/>
            <ac:spMk id="3" creationId="{D302A4DC-7A9C-37EE-C457-E9DE03184C61}"/>
          </ac:spMkLst>
        </pc:spChg>
        <pc:spChg chg="add mod">
          <ac:chgData name="sanu mathew" userId="ec8c2f12682202a6" providerId="LiveId" clId="{05ADEA0A-BB2B-4313-8B38-3B2BF9CE5AE5}" dt="2026-04-27T07:30:46.181" v="668"/>
          <ac:spMkLst>
            <pc:docMk/>
            <pc:sldMk cId="4265118973" sldId="268"/>
            <ac:spMk id="4" creationId="{3433F84E-3157-C281-28D8-E096903A9186}"/>
          </ac:spMkLst>
        </pc:spChg>
      </pc:sldChg>
      <pc:sldChg chg="modSp new mod">
        <pc:chgData name="sanu mathew" userId="ec8c2f12682202a6" providerId="LiveId" clId="{05ADEA0A-BB2B-4313-8B38-3B2BF9CE5AE5}" dt="2026-04-27T07:44:15.698" v="854" actId="113"/>
        <pc:sldMkLst>
          <pc:docMk/>
          <pc:sldMk cId="2686424957" sldId="269"/>
        </pc:sldMkLst>
        <pc:spChg chg="mod">
          <ac:chgData name="sanu mathew" userId="ec8c2f12682202a6" providerId="LiveId" clId="{05ADEA0A-BB2B-4313-8B38-3B2BF9CE5AE5}" dt="2026-04-27T07:38:50.992" v="759" actId="20577"/>
          <ac:spMkLst>
            <pc:docMk/>
            <pc:sldMk cId="2686424957" sldId="269"/>
            <ac:spMk id="2" creationId="{103CB188-21F7-24B9-9DBD-B0E740918469}"/>
          </ac:spMkLst>
        </pc:spChg>
        <pc:spChg chg="mod">
          <ac:chgData name="sanu mathew" userId="ec8c2f12682202a6" providerId="LiveId" clId="{05ADEA0A-BB2B-4313-8B38-3B2BF9CE5AE5}" dt="2026-04-27T07:44:15.698" v="854" actId="113"/>
          <ac:spMkLst>
            <pc:docMk/>
            <pc:sldMk cId="2686424957" sldId="269"/>
            <ac:spMk id="3" creationId="{A60506D2-7609-AA8F-53CB-8855B8DBAB21}"/>
          </ac:spMkLst>
        </pc:spChg>
      </pc:sldChg>
      <pc:sldChg chg="addSp delSp modSp new mod">
        <pc:chgData name="sanu mathew" userId="ec8c2f12682202a6" providerId="LiveId" clId="{05ADEA0A-BB2B-4313-8B38-3B2BF9CE5AE5}" dt="2026-04-27T07:45:42.035" v="883" actId="113"/>
        <pc:sldMkLst>
          <pc:docMk/>
          <pc:sldMk cId="2530815544" sldId="270"/>
        </pc:sldMkLst>
        <pc:spChg chg="del">
          <ac:chgData name="sanu mathew" userId="ec8c2f12682202a6" providerId="LiveId" clId="{05ADEA0A-BB2B-4313-8B38-3B2BF9CE5AE5}" dt="2026-04-27T07:42:59.692" v="833" actId="21"/>
          <ac:spMkLst>
            <pc:docMk/>
            <pc:sldMk cId="2530815544" sldId="270"/>
            <ac:spMk id="2" creationId="{14E942E9-789D-3326-161D-002E734ED70C}"/>
          </ac:spMkLst>
        </pc:spChg>
        <pc:spChg chg="del mod">
          <ac:chgData name="sanu mathew" userId="ec8c2f12682202a6" providerId="LiveId" clId="{05ADEA0A-BB2B-4313-8B38-3B2BF9CE5AE5}" dt="2026-04-27T07:43:06.520" v="836"/>
          <ac:spMkLst>
            <pc:docMk/>
            <pc:sldMk cId="2530815544" sldId="270"/>
            <ac:spMk id="3" creationId="{6C7832FB-750A-20F6-151F-58D20EA260A4}"/>
          </ac:spMkLst>
        </pc:spChg>
        <pc:spChg chg="add mod">
          <ac:chgData name="sanu mathew" userId="ec8c2f12682202a6" providerId="LiveId" clId="{05ADEA0A-BB2B-4313-8B38-3B2BF9CE5AE5}" dt="2026-04-27T07:45:42.035" v="883" actId="113"/>
          <ac:spMkLst>
            <pc:docMk/>
            <pc:sldMk cId="2530815544" sldId="270"/>
            <ac:spMk id="4" creationId="{14E942E9-789D-3326-161D-002E734ED70C}"/>
          </ac:spMkLst>
        </pc:spChg>
      </pc:sldChg>
      <pc:sldChg chg="modSp new mod">
        <pc:chgData name="sanu mathew" userId="ec8c2f12682202a6" providerId="LiveId" clId="{05ADEA0A-BB2B-4313-8B38-3B2BF9CE5AE5}" dt="2026-04-27T08:22:03.053" v="934"/>
        <pc:sldMkLst>
          <pc:docMk/>
          <pc:sldMk cId="2233857886" sldId="271"/>
        </pc:sldMkLst>
        <pc:spChg chg="mod">
          <ac:chgData name="sanu mathew" userId="ec8c2f12682202a6" providerId="LiveId" clId="{05ADEA0A-BB2B-4313-8B38-3B2BF9CE5AE5}" dt="2026-04-27T08:20:36.146" v="914" actId="20577"/>
          <ac:spMkLst>
            <pc:docMk/>
            <pc:sldMk cId="2233857886" sldId="271"/>
            <ac:spMk id="2" creationId="{CEA942BF-F072-588F-ABE4-D0B53DC352E2}"/>
          </ac:spMkLst>
        </pc:spChg>
        <pc:spChg chg="mod">
          <ac:chgData name="sanu mathew" userId="ec8c2f12682202a6" providerId="LiveId" clId="{05ADEA0A-BB2B-4313-8B38-3B2BF9CE5AE5}" dt="2026-04-27T08:22:03.053" v="934"/>
          <ac:spMkLst>
            <pc:docMk/>
            <pc:sldMk cId="2233857886" sldId="271"/>
            <ac:spMk id="3" creationId="{0CF4C2BA-E3DB-2578-A144-ECA9057AE657}"/>
          </ac:spMkLst>
        </pc:spChg>
      </pc:sldChg>
      <pc:sldChg chg="delSp modSp new mod">
        <pc:chgData name="sanu mathew" userId="ec8c2f12682202a6" providerId="LiveId" clId="{05ADEA0A-BB2B-4313-8B38-3B2BF9CE5AE5}" dt="2026-04-27T08:26:58.497" v="1016" actId="20577"/>
        <pc:sldMkLst>
          <pc:docMk/>
          <pc:sldMk cId="3699050926" sldId="272"/>
        </pc:sldMkLst>
        <pc:spChg chg="del">
          <ac:chgData name="sanu mathew" userId="ec8c2f12682202a6" providerId="LiveId" clId="{05ADEA0A-BB2B-4313-8B38-3B2BF9CE5AE5}" dt="2026-04-27T08:22:18.908" v="936" actId="21"/>
          <ac:spMkLst>
            <pc:docMk/>
            <pc:sldMk cId="3699050926" sldId="272"/>
            <ac:spMk id="2" creationId="{A24F0DA4-22E2-5721-4171-ACC8F66639F7}"/>
          </ac:spMkLst>
        </pc:spChg>
        <pc:spChg chg="mod">
          <ac:chgData name="sanu mathew" userId="ec8c2f12682202a6" providerId="LiveId" clId="{05ADEA0A-BB2B-4313-8B38-3B2BF9CE5AE5}" dt="2026-04-27T08:26:58.497" v="1016" actId="20577"/>
          <ac:spMkLst>
            <pc:docMk/>
            <pc:sldMk cId="3699050926" sldId="272"/>
            <ac:spMk id="3" creationId="{773B2F92-9922-6A9A-6EB7-32ACEA9B8E5A}"/>
          </ac:spMkLst>
        </pc:spChg>
      </pc:sldChg>
      <pc:sldChg chg="addSp delSp modSp new mod">
        <pc:chgData name="sanu mathew" userId="ec8c2f12682202a6" providerId="LiveId" clId="{05ADEA0A-BB2B-4313-8B38-3B2BF9CE5AE5}" dt="2026-04-27T08:30:37.869" v="1178"/>
        <pc:sldMkLst>
          <pc:docMk/>
          <pc:sldMk cId="2859032874" sldId="273"/>
        </pc:sldMkLst>
        <pc:spChg chg="del">
          <ac:chgData name="sanu mathew" userId="ec8c2f12682202a6" providerId="LiveId" clId="{05ADEA0A-BB2B-4313-8B38-3B2BF9CE5AE5}" dt="2026-04-27T08:27:22.474" v="1018" actId="21"/>
          <ac:spMkLst>
            <pc:docMk/>
            <pc:sldMk cId="2859032874" sldId="273"/>
            <ac:spMk id="2" creationId="{4E7815B0-F6C2-97DC-5186-62C631FDC25D}"/>
          </ac:spMkLst>
        </pc:spChg>
        <pc:spChg chg="add del mod">
          <ac:chgData name="sanu mathew" userId="ec8c2f12682202a6" providerId="LiveId" clId="{05ADEA0A-BB2B-4313-8B38-3B2BF9CE5AE5}" dt="2026-04-27T08:30:37.869" v="1178"/>
          <ac:spMkLst>
            <pc:docMk/>
            <pc:sldMk cId="2859032874" sldId="273"/>
            <ac:spMk id="3" creationId="{85DB715F-FA41-1C0B-C320-F4DFBEE401AE}"/>
          </ac:spMkLst>
        </pc:spChg>
        <pc:spChg chg="add mod">
          <ac:chgData name="sanu mathew" userId="ec8c2f12682202a6" providerId="LiveId" clId="{05ADEA0A-BB2B-4313-8B38-3B2BF9CE5AE5}" dt="2026-04-27T08:27:31.707" v="1022"/>
          <ac:spMkLst>
            <pc:docMk/>
            <pc:sldMk cId="2859032874" sldId="273"/>
            <ac:spMk id="4" creationId="{4E7815B0-F6C2-97DC-5186-62C631FDC25D}"/>
          </ac:spMkLst>
        </pc:spChg>
      </pc:sldChg>
      <pc:sldChg chg="addSp delSp modSp new mod">
        <pc:chgData name="sanu mathew" userId="ec8c2f12682202a6" providerId="LiveId" clId="{05ADEA0A-BB2B-4313-8B38-3B2BF9CE5AE5}" dt="2026-04-27T08:36:10.867" v="1233"/>
        <pc:sldMkLst>
          <pc:docMk/>
          <pc:sldMk cId="2944442690" sldId="274"/>
        </pc:sldMkLst>
        <pc:spChg chg="mod">
          <ac:chgData name="sanu mathew" userId="ec8c2f12682202a6" providerId="LiveId" clId="{05ADEA0A-BB2B-4313-8B38-3B2BF9CE5AE5}" dt="2026-04-27T08:33:39.593" v="1212" actId="20577"/>
          <ac:spMkLst>
            <pc:docMk/>
            <pc:sldMk cId="2944442690" sldId="274"/>
            <ac:spMk id="2" creationId="{6576C44B-E353-8DC5-9312-500B887D52D6}"/>
          </ac:spMkLst>
        </pc:spChg>
        <pc:spChg chg="del mod">
          <ac:chgData name="sanu mathew" userId="ec8c2f12682202a6" providerId="LiveId" clId="{05ADEA0A-BB2B-4313-8B38-3B2BF9CE5AE5}" dt="2026-04-27T08:33:56.755" v="1215" actId="931"/>
          <ac:spMkLst>
            <pc:docMk/>
            <pc:sldMk cId="2944442690" sldId="274"/>
            <ac:spMk id="3" creationId="{5E26BEF1-6655-D611-1174-2C38DBC7716D}"/>
          </ac:spMkLst>
        </pc:spChg>
        <pc:spChg chg="add mod">
          <ac:chgData name="sanu mathew" userId="ec8c2f12682202a6" providerId="LiveId" clId="{05ADEA0A-BB2B-4313-8B38-3B2BF9CE5AE5}" dt="2026-04-27T08:36:10.867" v="1233"/>
          <ac:spMkLst>
            <pc:docMk/>
            <pc:sldMk cId="2944442690" sldId="274"/>
            <ac:spMk id="6" creationId="{F78A58D8-351E-499A-FD48-EC4C4EE849FE}"/>
          </ac:spMkLst>
        </pc:spChg>
        <pc:picChg chg="add mod ord">
          <ac:chgData name="sanu mathew" userId="ec8c2f12682202a6" providerId="LiveId" clId="{05ADEA0A-BB2B-4313-8B38-3B2BF9CE5AE5}" dt="2026-04-27T08:34:11.191" v="1218" actId="339"/>
          <ac:picMkLst>
            <pc:docMk/>
            <pc:sldMk cId="2944442690" sldId="274"/>
            <ac:picMk id="5" creationId="{34F042DE-A375-0C8F-3450-32A7042F6A83}"/>
          </ac:picMkLst>
        </pc:picChg>
      </pc:sldChg>
      <pc:sldChg chg="addSp delSp modSp new mod">
        <pc:chgData name="sanu mathew" userId="ec8c2f12682202a6" providerId="LiveId" clId="{05ADEA0A-BB2B-4313-8B38-3B2BF9CE5AE5}" dt="2026-04-27T08:38:12.244" v="1280"/>
        <pc:sldMkLst>
          <pc:docMk/>
          <pc:sldMk cId="1195723941" sldId="275"/>
        </pc:sldMkLst>
        <pc:spChg chg="mod">
          <ac:chgData name="sanu mathew" userId="ec8c2f12682202a6" providerId="LiveId" clId="{05ADEA0A-BB2B-4313-8B38-3B2BF9CE5AE5}" dt="2026-04-27T08:36:41.800" v="1259" actId="20577"/>
          <ac:spMkLst>
            <pc:docMk/>
            <pc:sldMk cId="1195723941" sldId="275"/>
            <ac:spMk id="2" creationId="{D087D2C9-4A62-A16B-A714-F681DE822105}"/>
          </ac:spMkLst>
        </pc:spChg>
        <pc:spChg chg="del mod">
          <ac:chgData name="sanu mathew" userId="ec8c2f12682202a6" providerId="LiveId" clId="{05ADEA0A-BB2B-4313-8B38-3B2BF9CE5AE5}" dt="2026-04-27T08:36:56.799" v="1263" actId="931"/>
          <ac:spMkLst>
            <pc:docMk/>
            <pc:sldMk cId="1195723941" sldId="275"/>
            <ac:spMk id="3" creationId="{7B5F3C1B-30D4-1183-352C-B58C7E24BF93}"/>
          </ac:spMkLst>
        </pc:spChg>
        <pc:spChg chg="add mod">
          <ac:chgData name="sanu mathew" userId="ec8c2f12682202a6" providerId="LiveId" clId="{05ADEA0A-BB2B-4313-8B38-3B2BF9CE5AE5}" dt="2026-04-27T08:38:12.244" v="1280"/>
          <ac:spMkLst>
            <pc:docMk/>
            <pc:sldMk cId="1195723941" sldId="275"/>
            <ac:spMk id="6" creationId="{2C6989A1-D684-D399-B0A3-0FC8A78DD390}"/>
          </ac:spMkLst>
        </pc:spChg>
        <pc:spChg chg="add">
          <ac:chgData name="sanu mathew" userId="ec8c2f12682202a6" providerId="LiveId" clId="{05ADEA0A-BB2B-4313-8B38-3B2BF9CE5AE5}" dt="2026-04-27T08:37:49.493" v="1273"/>
          <ac:spMkLst>
            <pc:docMk/>
            <pc:sldMk cId="1195723941" sldId="275"/>
            <ac:spMk id="7" creationId="{86508923-1B78-17B8-7E60-1D665ED49918}"/>
          </ac:spMkLst>
        </pc:spChg>
        <pc:spChg chg="add">
          <ac:chgData name="sanu mathew" userId="ec8c2f12682202a6" providerId="LiveId" clId="{05ADEA0A-BB2B-4313-8B38-3B2BF9CE5AE5}" dt="2026-04-27T08:37:53.103" v="1274"/>
          <ac:spMkLst>
            <pc:docMk/>
            <pc:sldMk cId="1195723941" sldId="275"/>
            <ac:spMk id="8" creationId="{CA2F325F-FBB5-66BB-D63F-C51991E8840D}"/>
          </ac:spMkLst>
        </pc:spChg>
        <pc:picChg chg="add mod ord">
          <ac:chgData name="sanu mathew" userId="ec8c2f12682202a6" providerId="LiveId" clId="{05ADEA0A-BB2B-4313-8B38-3B2BF9CE5AE5}" dt="2026-04-27T08:37:07.175" v="1265" actId="339"/>
          <ac:picMkLst>
            <pc:docMk/>
            <pc:sldMk cId="1195723941" sldId="275"/>
            <ac:picMk id="5" creationId="{439D4531-32CE-6425-3AE9-9546461C1786}"/>
          </ac:picMkLst>
        </pc:picChg>
      </pc:sldChg>
      <pc:sldChg chg="addSp delSp modSp new mod">
        <pc:chgData name="sanu mathew" userId="ec8c2f12682202a6" providerId="LiveId" clId="{05ADEA0A-BB2B-4313-8B38-3B2BF9CE5AE5}" dt="2026-04-27T08:43:26.983" v="1367" actId="20577"/>
        <pc:sldMkLst>
          <pc:docMk/>
          <pc:sldMk cId="2655734803" sldId="276"/>
        </pc:sldMkLst>
        <pc:spChg chg="mod">
          <ac:chgData name="sanu mathew" userId="ec8c2f12682202a6" providerId="LiveId" clId="{05ADEA0A-BB2B-4313-8B38-3B2BF9CE5AE5}" dt="2026-04-27T08:39:05.312" v="1305" actId="20577"/>
          <ac:spMkLst>
            <pc:docMk/>
            <pc:sldMk cId="2655734803" sldId="276"/>
            <ac:spMk id="2" creationId="{A736292A-42B3-B344-98CE-E328DAB3475E}"/>
          </ac:spMkLst>
        </pc:spChg>
        <pc:spChg chg="del mod">
          <ac:chgData name="sanu mathew" userId="ec8c2f12682202a6" providerId="LiveId" clId="{05ADEA0A-BB2B-4313-8B38-3B2BF9CE5AE5}" dt="2026-04-27T08:39:16.563" v="1308" actId="931"/>
          <ac:spMkLst>
            <pc:docMk/>
            <pc:sldMk cId="2655734803" sldId="276"/>
            <ac:spMk id="3" creationId="{87BFAB7D-F4C5-5347-42E1-BB47D4180119}"/>
          </ac:spMkLst>
        </pc:spChg>
        <pc:spChg chg="add mod">
          <ac:chgData name="sanu mathew" userId="ec8c2f12682202a6" providerId="LiveId" clId="{05ADEA0A-BB2B-4313-8B38-3B2BF9CE5AE5}" dt="2026-04-27T08:43:26.983" v="1367" actId="20577"/>
          <ac:spMkLst>
            <pc:docMk/>
            <pc:sldMk cId="2655734803" sldId="276"/>
            <ac:spMk id="6" creationId="{3C682BDE-D70B-07F1-4177-E3DA01E116DC}"/>
          </ac:spMkLst>
        </pc:spChg>
        <pc:spChg chg="add">
          <ac:chgData name="sanu mathew" userId="ec8c2f12682202a6" providerId="LiveId" clId="{05ADEA0A-BB2B-4313-8B38-3B2BF9CE5AE5}" dt="2026-04-27T08:40:11.192" v="1319"/>
          <ac:spMkLst>
            <pc:docMk/>
            <pc:sldMk cId="2655734803" sldId="276"/>
            <ac:spMk id="7" creationId="{D1678613-31EF-7F7B-C33C-7CD3A0E45090}"/>
          </ac:spMkLst>
        </pc:spChg>
        <pc:picChg chg="add mod ord">
          <ac:chgData name="sanu mathew" userId="ec8c2f12682202a6" providerId="LiveId" clId="{05ADEA0A-BB2B-4313-8B38-3B2BF9CE5AE5}" dt="2026-04-27T08:39:22.920" v="1310" actId="339"/>
          <ac:picMkLst>
            <pc:docMk/>
            <pc:sldMk cId="2655734803" sldId="276"/>
            <ac:picMk id="5" creationId="{3F64B963-ECAE-07B7-9B75-EA1F8BB4DAD8}"/>
          </ac:picMkLst>
        </pc:picChg>
      </pc:sldChg>
      <pc:sldChg chg="addSp delSp modSp new mod">
        <pc:chgData name="sanu mathew" userId="ec8c2f12682202a6" providerId="LiveId" clId="{05ADEA0A-BB2B-4313-8B38-3B2BF9CE5AE5}" dt="2026-04-27T08:43:13.224" v="1365" actId="20577"/>
        <pc:sldMkLst>
          <pc:docMk/>
          <pc:sldMk cId="104870544" sldId="277"/>
        </pc:sldMkLst>
        <pc:spChg chg="mod">
          <ac:chgData name="sanu mathew" userId="ec8c2f12682202a6" providerId="LiveId" clId="{05ADEA0A-BB2B-4313-8B38-3B2BF9CE5AE5}" dt="2026-04-27T08:41:33.070" v="1346" actId="20577"/>
          <ac:spMkLst>
            <pc:docMk/>
            <pc:sldMk cId="104870544" sldId="277"/>
            <ac:spMk id="2" creationId="{51FDB25A-579E-E5E0-8988-EA31EA8E5CFB}"/>
          </ac:spMkLst>
        </pc:spChg>
        <pc:spChg chg="del">
          <ac:chgData name="sanu mathew" userId="ec8c2f12682202a6" providerId="LiveId" clId="{05ADEA0A-BB2B-4313-8B38-3B2BF9CE5AE5}" dt="2026-04-27T08:41:38.595" v="1347" actId="931"/>
          <ac:spMkLst>
            <pc:docMk/>
            <pc:sldMk cId="104870544" sldId="277"/>
            <ac:spMk id="3" creationId="{767E26FD-F502-54E1-F282-192B3C1BBF1B}"/>
          </ac:spMkLst>
        </pc:spChg>
        <pc:spChg chg="add mod">
          <ac:chgData name="sanu mathew" userId="ec8c2f12682202a6" providerId="LiveId" clId="{05ADEA0A-BB2B-4313-8B38-3B2BF9CE5AE5}" dt="2026-04-27T08:43:13.224" v="1365" actId="20577"/>
          <ac:spMkLst>
            <pc:docMk/>
            <pc:sldMk cId="104870544" sldId="277"/>
            <ac:spMk id="6" creationId="{205AFB67-A69B-EF13-6B75-FFBEAFE504AA}"/>
          </ac:spMkLst>
        </pc:spChg>
        <pc:spChg chg="add">
          <ac:chgData name="sanu mathew" userId="ec8c2f12682202a6" providerId="LiveId" clId="{05ADEA0A-BB2B-4313-8B38-3B2BF9CE5AE5}" dt="2026-04-27T08:42:16.889" v="1356"/>
          <ac:spMkLst>
            <pc:docMk/>
            <pc:sldMk cId="104870544" sldId="277"/>
            <ac:spMk id="7" creationId="{9C3EFEBB-11BE-17A9-FCDC-E53FF38D10A3}"/>
          </ac:spMkLst>
        </pc:spChg>
        <pc:picChg chg="add mod ord">
          <ac:chgData name="sanu mathew" userId="ec8c2f12682202a6" providerId="LiveId" clId="{05ADEA0A-BB2B-4313-8B38-3B2BF9CE5AE5}" dt="2026-04-27T08:41:41.579" v="1348" actId="1076"/>
          <ac:picMkLst>
            <pc:docMk/>
            <pc:sldMk cId="104870544" sldId="277"/>
            <ac:picMk id="5" creationId="{20383335-131E-9D76-93E2-B69EB85F8F7C}"/>
          </ac:picMkLst>
        </pc:picChg>
      </pc:sldChg>
      <pc:sldChg chg="addSp delSp modSp new mod">
        <pc:chgData name="sanu mathew" userId="ec8c2f12682202a6" providerId="LiveId" clId="{05ADEA0A-BB2B-4313-8B38-3B2BF9CE5AE5}" dt="2026-04-27T08:45:59.605" v="1422"/>
        <pc:sldMkLst>
          <pc:docMk/>
          <pc:sldMk cId="82436897" sldId="278"/>
        </pc:sldMkLst>
        <pc:spChg chg="mod">
          <ac:chgData name="sanu mathew" userId="ec8c2f12682202a6" providerId="LiveId" clId="{05ADEA0A-BB2B-4313-8B38-3B2BF9CE5AE5}" dt="2026-04-27T08:44:33.372" v="1402" actId="27636"/>
          <ac:spMkLst>
            <pc:docMk/>
            <pc:sldMk cId="82436897" sldId="278"/>
            <ac:spMk id="2" creationId="{AF2D2CBF-E107-80F1-AD5E-29F01CFAC135}"/>
          </ac:spMkLst>
        </pc:spChg>
        <pc:spChg chg="del">
          <ac:chgData name="sanu mathew" userId="ec8c2f12682202a6" providerId="LiveId" clId="{05ADEA0A-BB2B-4313-8B38-3B2BF9CE5AE5}" dt="2026-04-27T08:44:41.543" v="1403" actId="931"/>
          <ac:spMkLst>
            <pc:docMk/>
            <pc:sldMk cId="82436897" sldId="278"/>
            <ac:spMk id="3" creationId="{509746B8-A649-7F80-C2B7-53769CD86175}"/>
          </ac:spMkLst>
        </pc:spChg>
        <pc:spChg chg="add mod">
          <ac:chgData name="sanu mathew" userId="ec8c2f12682202a6" providerId="LiveId" clId="{05ADEA0A-BB2B-4313-8B38-3B2BF9CE5AE5}" dt="2026-04-27T08:45:59.605" v="1422"/>
          <ac:spMkLst>
            <pc:docMk/>
            <pc:sldMk cId="82436897" sldId="278"/>
            <ac:spMk id="6" creationId="{EA9616C5-6DEB-F437-A55B-79DD5B06D7F1}"/>
          </ac:spMkLst>
        </pc:spChg>
        <pc:spChg chg="add">
          <ac:chgData name="sanu mathew" userId="ec8c2f12682202a6" providerId="LiveId" clId="{05ADEA0A-BB2B-4313-8B38-3B2BF9CE5AE5}" dt="2026-04-27T08:45:32.496" v="1414"/>
          <ac:spMkLst>
            <pc:docMk/>
            <pc:sldMk cId="82436897" sldId="278"/>
            <ac:spMk id="7" creationId="{E66E6EA8-197D-72B5-DE63-BB0850F532AC}"/>
          </ac:spMkLst>
        </pc:spChg>
        <pc:picChg chg="add mod ord">
          <ac:chgData name="sanu mathew" userId="ec8c2f12682202a6" providerId="LiveId" clId="{05ADEA0A-BB2B-4313-8B38-3B2BF9CE5AE5}" dt="2026-04-27T08:45:15.051" v="1410" actId="339"/>
          <ac:picMkLst>
            <pc:docMk/>
            <pc:sldMk cId="82436897" sldId="278"/>
            <ac:picMk id="5" creationId="{634C7D95-51E6-F93F-2478-39B187BA81AF}"/>
          </ac:picMkLst>
        </pc:picChg>
      </pc:sldChg>
      <pc:sldChg chg="addSp delSp modSp new mod">
        <pc:chgData name="sanu mathew" userId="ec8c2f12682202a6" providerId="LiveId" clId="{05ADEA0A-BB2B-4313-8B38-3B2BF9CE5AE5}" dt="2026-04-27T08:48:29.924" v="1476"/>
        <pc:sldMkLst>
          <pc:docMk/>
          <pc:sldMk cId="986275044" sldId="279"/>
        </pc:sldMkLst>
        <pc:spChg chg="mod">
          <ac:chgData name="sanu mathew" userId="ec8c2f12682202a6" providerId="LiveId" clId="{05ADEA0A-BB2B-4313-8B38-3B2BF9CE5AE5}" dt="2026-04-27T08:47:01.168" v="1453" actId="20577"/>
          <ac:spMkLst>
            <pc:docMk/>
            <pc:sldMk cId="986275044" sldId="279"/>
            <ac:spMk id="2" creationId="{1CCC4427-C716-684E-4057-7242AF1CF602}"/>
          </ac:spMkLst>
        </pc:spChg>
        <pc:spChg chg="del mod">
          <ac:chgData name="sanu mathew" userId="ec8c2f12682202a6" providerId="LiveId" clId="{05ADEA0A-BB2B-4313-8B38-3B2BF9CE5AE5}" dt="2026-04-27T08:47:17.875" v="1456" actId="931"/>
          <ac:spMkLst>
            <pc:docMk/>
            <pc:sldMk cId="986275044" sldId="279"/>
            <ac:spMk id="3" creationId="{9772AE7D-FE1A-F6FD-D356-AE78B9561BBD}"/>
          </ac:spMkLst>
        </pc:spChg>
        <pc:spChg chg="add mod">
          <ac:chgData name="sanu mathew" userId="ec8c2f12682202a6" providerId="LiveId" clId="{05ADEA0A-BB2B-4313-8B38-3B2BF9CE5AE5}" dt="2026-04-27T08:48:29.924" v="1476"/>
          <ac:spMkLst>
            <pc:docMk/>
            <pc:sldMk cId="986275044" sldId="279"/>
            <ac:spMk id="6" creationId="{F90F2E39-08CD-E6FB-D037-FF5CBBE01FC8}"/>
          </ac:spMkLst>
        </pc:spChg>
        <pc:spChg chg="add">
          <ac:chgData name="sanu mathew" userId="ec8c2f12682202a6" providerId="LiveId" clId="{05ADEA0A-BB2B-4313-8B38-3B2BF9CE5AE5}" dt="2026-04-27T08:48:02.007" v="1468"/>
          <ac:spMkLst>
            <pc:docMk/>
            <pc:sldMk cId="986275044" sldId="279"/>
            <ac:spMk id="7" creationId="{B3D692EF-D09D-687A-678B-9CF49153EF3F}"/>
          </ac:spMkLst>
        </pc:spChg>
        <pc:picChg chg="add mod ord">
          <ac:chgData name="sanu mathew" userId="ec8c2f12682202a6" providerId="LiveId" clId="{05ADEA0A-BB2B-4313-8B38-3B2BF9CE5AE5}" dt="2026-04-27T08:47:27.940" v="1459" actId="339"/>
          <ac:picMkLst>
            <pc:docMk/>
            <pc:sldMk cId="986275044" sldId="279"/>
            <ac:picMk id="5" creationId="{D8A417F1-7D2A-3F92-BC80-F60F19EF634C}"/>
          </ac:picMkLst>
        </pc:picChg>
      </pc:sldChg>
      <pc:sldChg chg="addSp delSp modSp new mod">
        <pc:chgData name="sanu mathew" userId="ec8c2f12682202a6" providerId="LiveId" clId="{05ADEA0A-BB2B-4313-8B38-3B2BF9CE5AE5}" dt="2026-04-27T08:50:39.170" v="1528"/>
        <pc:sldMkLst>
          <pc:docMk/>
          <pc:sldMk cId="1935032323" sldId="280"/>
        </pc:sldMkLst>
        <pc:spChg chg="mod">
          <ac:chgData name="sanu mathew" userId="ec8c2f12682202a6" providerId="LiveId" clId="{05ADEA0A-BB2B-4313-8B38-3B2BF9CE5AE5}" dt="2026-04-27T08:49:16.154" v="1505" actId="20577"/>
          <ac:spMkLst>
            <pc:docMk/>
            <pc:sldMk cId="1935032323" sldId="280"/>
            <ac:spMk id="2" creationId="{6868E529-9D9E-05B9-E22D-DD82DE451940}"/>
          </ac:spMkLst>
        </pc:spChg>
        <pc:spChg chg="del">
          <ac:chgData name="sanu mathew" userId="ec8c2f12682202a6" providerId="LiveId" clId="{05ADEA0A-BB2B-4313-8B38-3B2BF9CE5AE5}" dt="2026-04-27T08:49:20.894" v="1506" actId="931"/>
          <ac:spMkLst>
            <pc:docMk/>
            <pc:sldMk cId="1935032323" sldId="280"/>
            <ac:spMk id="3" creationId="{0CA77C79-B9AE-DC7F-CA86-E444CA70B8FC}"/>
          </ac:spMkLst>
        </pc:spChg>
        <pc:spChg chg="add mod">
          <ac:chgData name="sanu mathew" userId="ec8c2f12682202a6" providerId="LiveId" clId="{05ADEA0A-BB2B-4313-8B38-3B2BF9CE5AE5}" dt="2026-04-27T08:50:39.170" v="1528"/>
          <ac:spMkLst>
            <pc:docMk/>
            <pc:sldMk cId="1935032323" sldId="280"/>
            <ac:spMk id="6" creationId="{28E3A8C8-4F21-432F-01C8-DCDE9F360E40}"/>
          </ac:spMkLst>
        </pc:spChg>
        <pc:spChg chg="add">
          <ac:chgData name="sanu mathew" userId="ec8c2f12682202a6" providerId="LiveId" clId="{05ADEA0A-BB2B-4313-8B38-3B2BF9CE5AE5}" dt="2026-04-27T08:50:11.100" v="1518"/>
          <ac:spMkLst>
            <pc:docMk/>
            <pc:sldMk cId="1935032323" sldId="280"/>
            <ac:spMk id="7" creationId="{016AB0AD-1E63-8165-24FF-D3F0CB2380DC}"/>
          </ac:spMkLst>
        </pc:spChg>
        <pc:picChg chg="add mod ord">
          <ac:chgData name="sanu mathew" userId="ec8c2f12682202a6" providerId="LiveId" clId="{05ADEA0A-BB2B-4313-8B38-3B2BF9CE5AE5}" dt="2026-04-27T08:49:31.627" v="1509" actId="339"/>
          <ac:picMkLst>
            <pc:docMk/>
            <pc:sldMk cId="1935032323" sldId="280"/>
            <ac:picMk id="5" creationId="{2544960B-D02C-88AE-D9FB-EA56E53AD0A8}"/>
          </ac:picMkLst>
        </pc:picChg>
      </pc:sldChg>
      <pc:sldChg chg="addSp delSp modSp new mod">
        <pc:chgData name="sanu mathew" userId="ec8c2f12682202a6" providerId="LiveId" clId="{05ADEA0A-BB2B-4313-8B38-3B2BF9CE5AE5}" dt="2026-04-27T08:55:23.044" v="1577"/>
        <pc:sldMkLst>
          <pc:docMk/>
          <pc:sldMk cId="421076680" sldId="281"/>
        </pc:sldMkLst>
        <pc:spChg chg="mod">
          <ac:chgData name="sanu mathew" userId="ec8c2f12682202a6" providerId="LiveId" clId="{05ADEA0A-BB2B-4313-8B38-3B2BF9CE5AE5}" dt="2026-04-27T08:53:51.059" v="1553" actId="20577"/>
          <ac:spMkLst>
            <pc:docMk/>
            <pc:sldMk cId="421076680" sldId="281"/>
            <ac:spMk id="2" creationId="{CBCBB9E5-DC9E-3FA2-9A19-9302943639C0}"/>
          </ac:spMkLst>
        </pc:spChg>
        <pc:spChg chg="add del mod">
          <ac:chgData name="sanu mathew" userId="ec8c2f12682202a6" providerId="LiveId" clId="{05ADEA0A-BB2B-4313-8B38-3B2BF9CE5AE5}" dt="2026-04-27T08:54:10.868" v="1558" actId="931"/>
          <ac:spMkLst>
            <pc:docMk/>
            <pc:sldMk cId="421076680" sldId="281"/>
            <ac:spMk id="3" creationId="{5DA5846E-60E7-23BA-9537-FA405E6E52EF}"/>
          </ac:spMkLst>
        </pc:spChg>
        <pc:spChg chg="add mod">
          <ac:chgData name="sanu mathew" userId="ec8c2f12682202a6" providerId="LiveId" clId="{05ADEA0A-BB2B-4313-8B38-3B2BF9CE5AE5}" dt="2026-04-27T08:55:23.044" v="1577"/>
          <ac:spMkLst>
            <pc:docMk/>
            <pc:sldMk cId="421076680" sldId="281"/>
            <ac:spMk id="8" creationId="{E518C347-7D34-FFFE-9044-287ACCC4F754}"/>
          </ac:spMkLst>
        </pc:spChg>
        <pc:spChg chg="add">
          <ac:chgData name="sanu mathew" userId="ec8c2f12682202a6" providerId="LiveId" clId="{05ADEA0A-BB2B-4313-8B38-3B2BF9CE5AE5}" dt="2026-04-27T08:54:56.013" v="1569"/>
          <ac:spMkLst>
            <pc:docMk/>
            <pc:sldMk cId="421076680" sldId="281"/>
            <ac:spMk id="9" creationId="{B95FC0A5-928C-8F19-E5C6-7EAF8B5CC96D}"/>
          </ac:spMkLst>
        </pc:spChg>
        <pc:picChg chg="add del mod ord">
          <ac:chgData name="sanu mathew" userId="ec8c2f12682202a6" providerId="LiveId" clId="{05ADEA0A-BB2B-4313-8B38-3B2BF9CE5AE5}" dt="2026-04-27T08:54:06.396" v="1557" actId="931"/>
          <ac:picMkLst>
            <pc:docMk/>
            <pc:sldMk cId="421076680" sldId="281"/>
            <ac:picMk id="5" creationId="{623958C8-0F05-F663-7BB2-B0512636E585}"/>
          </ac:picMkLst>
        </pc:picChg>
        <pc:picChg chg="add mod ord">
          <ac:chgData name="sanu mathew" userId="ec8c2f12682202a6" providerId="LiveId" clId="{05ADEA0A-BB2B-4313-8B38-3B2BF9CE5AE5}" dt="2026-04-27T08:54:18.900" v="1560" actId="339"/>
          <ac:picMkLst>
            <pc:docMk/>
            <pc:sldMk cId="421076680" sldId="281"/>
            <ac:picMk id="7" creationId="{CE65628B-B8B0-8BD5-DDDD-156C5C1BFC27}"/>
          </ac:picMkLst>
        </pc:picChg>
      </pc:sldChg>
      <pc:sldChg chg="addSp delSp modSp new mod">
        <pc:chgData name="sanu mathew" userId="ec8c2f12682202a6" providerId="LiveId" clId="{05ADEA0A-BB2B-4313-8B38-3B2BF9CE5AE5}" dt="2026-04-27T08:57:51.078" v="1612"/>
        <pc:sldMkLst>
          <pc:docMk/>
          <pc:sldMk cId="3425104029" sldId="282"/>
        </pc:sldMkLst>
        <pc:spChg chg="mod">
          <ac:chgData name="sanu mathew" userId="ec8c2f12682202a6" providerId="LiveId" clId="{05ADEA0A-BB2B-4313-8B38-3B2BF9CE5AE5}" dt="2026-04-27T08:56:24.612" v="1584" actId="20577"/>
          <ac:spMkLst>
            <pc:docMk/>
            <pc:sldMk cId="3425104029" sldId="282"/>
            <ac:spMk id="2" creationId="{1412468D-EAEE-1EA1-4E86-F050FE62D9E4}"/>
          </ac:spMkLst>
        </pc:spChg>
        <pc:spChg chg="add del mod">
          <ac:chgData name="sanu mathew" userId="ec8c2f12682202a6" providerId="LiveId" clId="{05ADEA0A-BB2B-4313-8B38-3B2BF9CE5AE5}" dt="2026-04-27T08:56:40.441" v="1589" actId="931"/>
          <ac:spMkLst>
            <pc:docMk/>
            <pc:sldMk cId="3425104029" sldId="282"/>
            <ac:spMk id="3" creationId="{31DEF5B7-E9F6-0813-9665-C165FE857587}"/>
          </ac:spMkLst>
        </pc:spChg>
        <pc:spChg chg="add mod">
          <ac:chgData name="sanu mathew" userId="ec8c2f12682202a6" providerId="LiveId" clId="{05ADEA0A-BB2B-4313-8B38-3B2BF9CE5AE5}" dt="2026-04-27T08:57:51.078" v="1612"/>
          <ac:spMkLst>
            <pc:docMk/>
            <pc:sldMk cId="3425104029" sldId="282"/>
            <ac:spMk id="8" creationId="{BF95599D-A824-36B7-36A4-2C313CDA61A5}"/>
          </ac:spMkLst>
        </pc:spChg>
        <pc:spChg chg="add">
          <ac:chgData name="sanu mathew" userId="ec8c2f12682202a6" providerId="LiveId" clId="{05ADEA0A-BB2B-4313-8B38-3B2BF9CE5AE5}" dt="2026-04-27T08:57:18.822" v="1601"/>
          <ac:spMkLst>
            <pc:docMk/>
            <pc:sldMk cId="3425104029" sldId="282"/>
            <ac:spMk id="9" creationId="{F3A8BE1A-1657-D0C9-43C3-632D347B4186}"/>
          </ac:spMkLst>
        </pc:spChg>
        <pc:picChg chg="add del mod ord">
          <ac:chgData name="sanu mathew" userId="ec8c2f12682202a6" providerId="LiveId" clId="{05ADEA0A-BB2B-4313-8B38-3B2BF9CE5AE5}" dt="2026-04-27T08:56:36.261" v="1588" actId="931"/>
          <ac:picMkLst>
            <pc:docMk/>
            <pc:sldMk cId="3425104029" sldId="282"/>
            <ac:picMk id="5" creationId="{F0B4CD0D-EEBA-0C9B-232A-5E177180902B}"/>
          </ac:picMkLst>
        </pc:picChg>
        <pc:picChg chg="add mod ord">
          <ac:chgData name="sanu mathew" userId="ec8c2f12682202a6" providerId="LiveId" clId="{05ADEA0A-BB2B-4313-8B38-3B2BF9CE5AE5}" dt="2026-04-27T08:57:30.377" v="1604" actId="1076"/>
          <ac:picMkLst>
            <pc:docMk/>
            <pc:sldMk cId="3425104029" sldId="282"/>
            <ac:picMk id="7" creationId="{2C3C256A-6BFA-591E-C4B5-DB69DAF1C9DA}"/>
          </ac:picMkLst>
        </pc:picChg>
      </pc:sldChg>
      <pc:sldChg chg="addSp delSp modSp new mod">
        <pc:chgData name="sanu mathew" userId="ec8c2f12682202a6" providerId="LiveId" clId="{05ADEA0A-BB2B-4313-8B38-3B2BF9CE5AE5}" dt="2026-04-27T08:59:56.277" v="1642"/>
        <pc:sldMkLst>
          <pc:docMk/>
          <pc:sldMk cId="3205102312" sldId="283"/>
        </pc:sldMkLst>
        <pc:spChg chg="mod">
          <ac:chgData name="sanu mathew" userId="ec8c2f12682202a6" providerId="LiveId" clId="{05ADEA0A-BB2B-4313-8B38-3B2BF9CE5AE5}" dt="2026-04-27T08:58:30.931" v="1617" actId="27636"/>
          <ac:spMkLst>
            <pc:docMk/>
            <pc:sldMk cId="3205102312" sldId="283"/>
            <ac:spMk id="2" creationId="{315F7BCF-CB16-2A79-0E5F-40A02AFAC1C8}"/>
          </ac:spMkLst>
        </pc:spChg>
        <pc:spChg chg="del mod">
          <ac:chgData name="sanu mathew" userId="ec8c2f12682202a6" providerId="LiveId" clId="{05ADEA0A-BB2B-4313-8B38-3B2BF9CE5AE5}" dt="2026-04-27T08:58:41.929" v="1620" actId="931"/>
          <ac:spMkLst>
            <pc:docMk/>
            <pc:sldMk cId="3205102312" sldId="283"/>
            <ac:spMk id="3" creationId="{C8E38B0A-A455-3922-A1B1-784BEA8D9158}"/>
          </ac:spMkLst>
        </pc:spChg>
        <pc:spChg chg="add mod">
          <ac:chgData name="sanu mathew" userId="ec8c2f12682202a6" providerId="LiveId" clId="{05ADEA0A-BB2B-4313-8B38-3B2BF9CE5AE5}" dt="2026-04-27T08:59:56.277" v="1642"/>
          <ac:spMkLst>
            <pc:docMk/>
            <pc:sldMk cId="3205102312" sldId="283"/>
            <ac:spMk id="6" creationId="{8227CE8A-C1EB-CE25-4D33-99CC3AA45261}"/>
          </ac:spMkLst>
        </pc:spChg>
        <pc:spChg chg="add">
          <ac:chgData name="sanu mathew" userId="ec8c2f12682202a6" providerId="LiveId" clId="{05ADEA0A-BB2B-4313-8B38-3B2BF9CE5AE5}" dt="2026-04-27T08:59:29.086" v="1634"/>
          <ac:spMkLst>
            <pc:docMk/>
            <pc:sldMk cId="3205102312" sldId="283"/>
            <ac:spMk id="7" creationId="{63600BE0-B854-C6D5-593A-4003C7F63AA4}"/>
          </ac:spMkLst>
        </pc:spChg>
        <pc:picChg chg="add mod ord">
          <ac:chgData name="sanu mathew" userId="ec8c2f12682202a6" providerId="LiveId" clId="{05ADEA0A-BB2B-4313-8B38-3B2BF9CE5AE5}" dt="2026-04-27T08:58:57.943" v="1625" actId="339"/>
          <ac:picMkLst>
            <pc:docMk/>
            <pc:sldMk cId="3205102312" sldId="283"/>
            <ac:picMk id="5" creationId="{8F1A85D4-1D37-1003-DC55-A43237FE4A27}"/>
          </ac:picMkLst>
        </pc:picChg>
      </pc:sldChg>
      <pc:sldChg chg="addSp delSp modSp new mod">
        <pc:chgData name="sanu mathew" userId="ec8c2f12682202a6" providerId="LiveId" clId="{05ADEA0A-BB2B-4313-8B38-3B2BF9CE5AE5}" dt="2026-04-27T09:02:11.124" v="1666" actId="1076"/>
        <pc:sldMkLst>
          <pc:docMk/>
          <pc:sldMk cId="1056908043" sldId="284"/>
        </pc:sldMkLst>
        <pc:spChg chg="mod">
          <ac:chgData name="sanu mathew" userId="ec8c2f12682202a6" providerId="LiveId" clId="{05ADEA0A-BB2B-4313-8B38-3B2BF9CE5AE5}" dt="2026-04-27T09:01:09.024" v="1647" actId="20577"/>
          <ac:spMkLst>
            <pc:docMk/>
            <pc:sldMk cId="1056908043" sldId="284"/>
            <ac:spMk id="2" creationId="{3E9914BF-F9E0-5422-4EFE-C46D79FCF2DF}"/>
          </ac:spMkLst>
        </pc:spChg>
        <pc:spChg chg="del">
          <ac:chgData name="sanu mathew" userId="ec8c2f12682202a6" providerId="LiveId" clId="{05ADEA0A-BB2B-4313-8B38-3B2BF9CE5AE5}" dt="2026-04-27T09:01:14.245" v="1648" actId="931"/>
          <ac:spMkLst>
            <pc:docMk/>
            <pc:sldMk cId="1056908043" sldId="284"/>
            <ac:spMk id="3" creationId="{E5C8D0F4-5501-EAC9-55F6-DCD717BFC1CD}"/>
          </ac:spMkLst>
        </pc:spChg>
        <pc:spChg chg="add mod">
          <ac:chgData name="sanu mathew" userId="ec8c2f12682202a6" providerId="LiveId" clId="{05ADEA0A-BB2B-4313-8B38-3B2BF9CE5AE5}" dt="2026-04-27T09:02:07.755" v="1665"/>
          <ac:spMkLst>
            <pc:docMk/>
            <pc:sldMk cId="1056908043" sldId="284"/>
            <ac:spMk id="6" creationId="{4AB0D2C7-1B87-10A2-EC3E-1D55E9359E75}"/>
          </ac:spMkLst>
        </pc:spChg>
        <pc:picChg chg="add mod ord">
          <ac:chgData name="sanu mathew" userId="ec8c2f12682202a6" providerId="LiveId" clId="{05ADEA0A-BB2B-4313-8B38-3B2BF9CE5AE5}" dt="2026-04-27T09:02:11.124" v="1666" actId="1076"/>
          <ac:picMkLst>
            <pc:docMk/>
            <pc:sldMk cId="1056908043" sldId="284"/>
            <ac:picMk id="5" creationId="{253705E2-D1AE-3902-3E20-C79E73CA3422}"/>
          </ac:picMkLst>
        </pc:picChg>
      </pc:sldChg>
      <pc:sldChg chg="addSp delSp modSp new mod">
        <pc:chgData name="sanu mathew" userId="ec8c2f12682202a6" providerId="LiveId" clId="{05ADEA0A-BB2B-4313-8B38-3B2BF9CE5AE5}" dt="2026-04-27T09:04:10.977" v="1724"/>
        <pc:sldMkLst>
          <pc:docMk/>
          <pc:sldMk cId="31807478" sldId="285"/>
        </pc:sldMkLst>
        <pc:spChg chg="mod">
          <ac:chgData name="sanu mathew" userId="ec8c2f12682202a6" providerId="LiveId" clId="{05ADEA0A-BB2B-4313-8B38-3B2BF9CE5AE5}" dt="2026-04-27T09:02:55.441" v="1701" actId="20577"/>
          <ac:spMkLst>
            <pc:docMk/>
            <pc:sldMk cId="31807478" sldId="285"/>
            <ac:spMk id="2" creationId="{D22AE630-1419-B83B-F905-DF7580FC8A2C}"/>
          </ac:spMkLst>
        </pc:spChg>
        <pc:spChg chg="del">
          <ac:chgData name="sanu mathew" userId="ec8c2f12682202a6" providerId="LiveId" clId="{05ADEA0A-BB2B-4313-8B38-3B2BF9CE5AE5}" dt="2026-04-27T09:02:59.571" v="1702" actId="931"/>
          <ac:spMkLst>
            <pc:docMk/>
            <pc:sldMk cId="31807478" sldId="285"/>
            <ac:spMk id="3" creationId="{10344354-C560-F5E2-FB92-8098D00DC761}"/>
          </ac:spMkLst>
        </pc:spChg>
        <pc:spChg chg="add del mod">
          <ac:chgData name="sanu mathew" userId="ec8c2f12682202a6" providerId="LiveId" clId="{05ADEA0A-BB2B-4313-8B38-3B2BF9CE5AE5}" dt="2026-04-27T09:03:11.695" v="1708"/>
          <ac:spMkLst>
            <pc:docMk/>
            <pc:sldMk cId="31807478" sldId="285"/>
            <ac:spMk id="6" creationId="{4F15AFFE-90BD-4B31-CF43-08A920ECB82F}"/>
          </ac:spMkLst>
        </pc:spChg>
        <pc:spChg chg="add mod">
          <ac:chgData name="sanu mathew" userId="ec8c2f12682202a6" providerId="LiveId" clId="{05ADEA0A-BB2B-4313-8B38-3B2BF9CE5AE5}" dt="2026-04-27T09:04:10.977" v="1724"/>
          <ac:spMkLst>
            <pc:docMk/>
            <pc:sldMk cId="31807478" sldId="285"/>
            <ac:spMk id="7" creationId="{E2A1B7EE-B2CC-2005-F827-27774B59D0ED}"/>
          </ac:spMkLst>
        </pc:spChg>
        <pc:picChg chg="add mod ord">
          <ac:chgData name="sanu mathew" userId="ec8c2f12682202a6" providerId="LiveId" clId="{05ADEA0A-BB2B-4313-8B38-3B2BF9CE5AE5}" dt="2026-04-27T09:03:10.852" v="1706" actId="1076"/>
          <ac:picMkLst>
            <pc:docMk/>
            <pc:sldMk cId="31807478" sldId="285"/>
            <ac:picMk id="5" creationId="{69AEE3BA-7186-3DE0-FF3F-360A453554EF}"/>
          </ac:picMkLst>
        </pc:picChg>
      </pc:sldChg>
      <pc:sldChg chg="modSp new mod">
        <pc:chgData name="sanu mathew" userId="ec8c2f12682202a6" providerId="LiveId" clId="{05ADEA0A-BB2B-4313-8B38-3B2BF9CE5AE5}" dt="2026-04-27T09:07:48.104" v="1792" actId="27636"/>
        <pc:sldMkLst>
          <pc:docMk/>
          <pc:sldMk cId="1578669993" sldId="286"/>
        </pc:sldMkLst>
        <pc:spChg chg="mod">
          <ac:chgData name="sanu mathew" userId="ec8c2f12682202a6" providerId="LiveId" clId="{05ADEA0A-BB2B-4313-8B38-3B2BF9CE5AE5}" dt="2026-04-27T09:07:02.020" v="1781" actId="14100"/>
          <ac:spMkLst>
            <pc:docMk/>
            <pc:sldMk cId="1578669993" sldId="286"/>
            <ac:spMk id="2" creationId="{CF9EEE5B-EBD4-71C0-7830-AEDACB0A43FB}"/>
          </ac:spMkLst>
        </pc:spChg>
        <pc:spChg chg="mod">
          <ac:chgData name="sanu mathew" userId="ec8c2f12682202a6" providerId="LiveId" clId="{05ADEA0A-BB2B-4313-8B38-3B2BF9CE5AE5}" dt="2026-04-27T09:07:48.104" v="1792" actId="27636"/>
          <ac:spMkLst>
            <pc:docMk/>
            <pc:sldMk cId="1578669993" sldId="286"/>
            <ac:spMk id="3" creationId="{8C8CB219-22B4-84E7-4FB2-16E8CE7FBCEC}"/>
          </ac:spMkLst>
        </pc:spChg>
      </pc:sldChg>
      <pc:sldChg chg="modSp new mod">
        <pc:chgData name="sanu mathew" userId="ec8c2f12682202a6" providerId="LiveId" clId="{05ADEA0A-BB2B-4313-8B38-3B2BF9CE5AE5}" dt="2026-04-27T09:09:56.201" v="1821" actId="27636"/>
        <pc:sldMkLst>
          <pc:docMk/>
          <pc:sldMk cId="432648743" sldId="287"/>
        </pc:sldMkLst>
        <pc:spChg chg="mod">
          <ac:chgData name="sanu mathew" userId="ec8c2f12682202a6" providerId="LiveId" clId="{05ADEA0A-BB2B-4313-8B38-3B2BF9CE5AE5}" dt="2026-04-27T09:09:27.973" v="1813" actId="1076"/>
          <ac:spMkLst>
            <pc:docMk/>
            <pc:sldMk cId="432648743" sldId="287"/>
            <ac:spMk id="2" creationId="{F71EC4A6-1CD0-D5AF-B6E0-B66338AC6A77}"/>
          </ac:spMkLst>
        </pc:spChg>
        <pc:spChg chg="mod">
          <ac:chgData name="sanu mathew" userId="ec8c2f12682202a6" providerId="LiveId" clId="{05ADEA0A-BB2B-4313-8B38-3B2BF9CE5AE5}" dt="2026-04-27T09:09:56.201" v="1821" actId="27636"/>
          <ac:spMkLst>
            <pc:docMk/>
            <pc:sldMk cId="432648743" sldId="287"/>
            <ac:spMk id="3" creationId="{A3122551-C12D-7E4E-21AF-8F0F31544F6F}"/>
          </ac:spMkLst>
        </pc:spChg>
      </pc:sldChg>
      <pc:sldChg chg="delSp modSp new mod">
        <pc:chgData name="sanu mathew" userId="ec8c2f12682202a6" providerId="LiveId" clId="{05ADEA0A-BB2B-4313-8B38-3B2BF9CE5AE5}" dt="2026-04-27T09:11:36.331" v="1837" actId="27636"/>
        <pc:sldMkLst>
          <pc:docMk/>
          <pc:sldMk cId="4191128802" sldId="288"/>
        </pc:sldMkLst>
        <pc:spChg chg="del">
          <ac:chgData name="sanu mathew" userId="ec8c2f12682202a6" providerId="LiveId" clId="{05ADEA0A-BB2B-4313-8B38-3B2BF9CE5AE5}" dt="2026-04-27T09:10:27.495" v="1823" actId="21"/>
          <ac:spMkLst>
            <pc:docMk/>
            <pc:sldMk cId="4191128802" sldId="288"/>
            <ac:spMk id="2" creationId="{CC19F8F6-45C0-6D8E-A5A9-43F50273FD61}"/>
          </ac:spMkLst>
        </pc:spChg>
        <pc:spChg chg="mod">
          <ac:chgData name="sanu mathew" userId="ec8c2f12682202a6" providerId="LiveId" clId="{05ADEA0A-BB2B-4313-8B38-3B2BF9CE5AE5}" dt="2026-04-27T09:11:36.331" v="1837" actId="27636"/>
          <ac:spMkLst>
            <pc:docMk/>
            <pc:sldMk cId="4191128802" sldId="288"/>
            <ac:spMk id="3" creationId="{6B394B26-3C24-D5D8-2A9A-F51073645D7E}"/>
          </ac:spMkLst>
        </pc:spChg>
      </pc:sldChg>
      <pc:sldChg chg="modSp new mod">
        <pc:chgData name="sanu mathew" userId="ec8c2f12682202a6" providerId="LiveId" clId="{05ADEA0A-BB2B-4313-8B38-3B2BF9CE5AE5}" dt="2026-04-27T09:14:46.471" v="1876"/>
        <pc:sldMkLst>
          <pc:docMk/>
          <pc:sldMk cId="397426402" sldId="289"/>
        </pc:sldMkLst>
        <pc:spChg chg="mod">
          <ac:chgData name="sanu mathew" userId="ec8c2f12682202a6" providerId="LiveId" clId="{05ADEA0A-BB2B-4313-8B38-3B2BF9CE5AE5}" dt="2026-04-27T09:14:11.431" v="1870" actId="20577"/>
          <ac:spMkLst>
            <pc:docMk/>
            <pc:sldMk cId="397426402" sldId="289"/>
            <ac:spMk id="2" creationId="{3A561E77-37C8-F795-D875-121D5DC22C66}"/>
          </ac:spMkLst>
        </pc:spChg>
        <pc:spChg chg="mod">
          <ac:chgData name="sanu mathew" userId="ec8c2f12682202a6" providerId="LiveId" clId="{05ADEA0A-BB2B-4313-8B38-3B2BF9CE5AE5}" dt="2026-04-27T09:14:46.471" v="1876"/>
          <ac:spMkLst>
            <pc:docMk/>
            <pc:sldMk cId="397426402" sldId="289"/>
            <ac:spMk id="3" creationId="{54B0E33A-2669-87CA-573B-12C5381535DB}"/>
          </ac:spMkLst>
        </pc:spChg>
      </pc:sldChg>
      <pc:sldChg chg="delSp modSp new mod">
        <pc:chgData name="sanu mathew" userId="ec8c2f12682202a6" providerId="LiveId" clId="{05ADEA0A-BB2B-4313-8B38-3B2BF9CE5AE5}" dt="2026-04-27T09:15:29.449" v="1886"/>
        <pc:sldMkLst>
          <pc:docMk/>
          <pc:sldMk cId="689015803" sldId="290"/>
        </pc:sldMkLst>
        <pc:spChg chg="del">
          <ac:chgData name="sanu mathew" userId="ec8c2f12682202a6" providerId="LiveId" clId="{05ADEA0A-BB2B-4313-8B38-3B2BF9CE5AE5}" dt="2026-04-27T09:14:53.605" v="1878" actId="21"/>
          <ac:spMkLst>
            <pc:docMk/>
            <pc:sldMk cId="689015803" sldId="290"/>
            <ac:spMk id="2" creationId="{B8B30665-C139-DF0B-2D8C-957A790B6672}"/>
          </ac:spMkLst>
        </pc:spChg>
        <pc:spChg chg="mod">
          <ac:chgData name="sanu mathew" userId="ec8c2f12682202a6" providerId="LiveId" clId="{05ADEA0A-BB2B-4313-8B38-3B2BF9CE5AE5}" dt="2026-04-27T09:15:29.449" v="1886"/>
          <ac:spMkLst>
            <pc:docMk/>
            <pc:sldMk cId="689015803" sldId="290"/>
            <ac:spMk id="3" creationId="{24F039A5-9A26-30DA-2554-CDDBA297EF97}"/>
          </ac:spMkLst>
        </pc:spChg>
      </pc:sldChg>
      <pc:sldChg chg="addSp modSp new mod">
        <pc:chgData name="sanu mathew" userId="ec8c2f12682202a6" providerId="LiveId" clId="{05ADEA0A-BB2B-4313-8B38-3B2BF9CE5AE5}" dt="2026-04-27T09:19:12.133" v="1933" actId="27636"/>
        <pc:sldMkLst>
          <pc:docMk/>
          <pc:sldMk cId="2563548238" sldId="291"/>
        </pc:sldMkLst>
        <pc:spChg chg="mod">
          <ac:chgData name="sanu mathew" userId="ec8c2f12682202a6" providerId="LiveId" clId="{05ADEA0A-BB2B-4313-8B38-3B2BF9CE5AE5}" dt="2026-04-27T09:16:33.221" v="1909" actId="20577"/>
          <ac:spMkLst>
            <pc:docMk/>
            <pc:sldMk cId="2563548238" sldId="291"/>
            <ac:spMk id="2" creationId="{1AC7127F-17D2-EF54-E875-EB71D792FA07}"/>
          </ac:spMkLst>
        </pc:spChg>
        <pc:spChg chg="mod">
          <ac:chgData name="sanu mathew" userId="ec8c2f12682202a6" providerId="LiveId" clId="{05ADEA0A-BB2B-4313-8B38-3B2BF9CE5AE5}" dt="2026-04-27T09:19:12.133" v="1933" actId="27636"/>
          <ac:spMkLst>
            <pc:docMk/>
            <pc:sldMk cId="2563548238" sldId="291"/>
            <ac:spMk id="3" creationId="{96F90473-81DD-AF70-71B2-9C0A1C212515}"/>
          </ac:spMkLst>
        </pc:spChg>
        <pc:spChg chg="add">
          <ac:chgData name="sanu mathew" userId="ec8c2f12682202a6" providerId="LiveId" clId="{05ADEA0A-BB2B-4313-8B38-3B2BF9CE5AE5}" dt="2026-04-27T09:16:54.004" v="1913"/>
          <ac:spMkLst>
            <pc:docMk/>
            <pc:sldMk cId="2563548238" sldId="291"/>
            <ac:spMk id="4" creationId="{6E5D7852-B6CB-1704-4221-B2B447CC133B}"/>
          </ac:spMkLst>
        </pc:spChg>
        <pc:spChg chg="add">
          <ac:chgData name="sanu mathew" userId="ec8c2f12682202a6" providerId="LiveId" clId="{05ADEA0A-BB2B-4313-8B38-3B2BF9CE5AE5}" dt="2026-04-27T09:18:30.114" v="1925"/>
          <ac:spMkLst>
            <pc:docMk/>
            <pc:sldMk cId="2563548238" sldId="291"/>
            <ac:spMk id="5" creationId="{11672CBE-D77A-EC3D-FA75-154DECA3EF15}"/>
          </ac:spMkLst>
        </pc:spChg>
      </pc:sldChg>
      <pc:sldChg chg="addSp modSp new mod">
        <pc:chgData name="sanu mathew" userId="ec8c2f12682202a6" providerId="LiveId" clId="{05ADEA0A-BB2B-4313-8B38-3B2BF9CE5AE5}" dt="2026-04-27T09:21:27.742" v="1972" actId="27636"/>
        <pc:sldMkLst>
          <pc:docMk/>
          <pc:sldMk cId="335643280" sldId="292"/>
        </pc:sldMkLst>
        <pc:spChg chg="mod">
          <ac:chgData name="sanu mathew" userId="ec8c2f12682202a6" providerId="LiveId" clId="{05ADEA0A-BB2B-4313-8B38-3B2BF9CE5AE5}" dt="2026-04-27T09:20:37.723" v="1960" actId="27636"/>
          <ac:spMkLst>
            <pc:docMk/>
            <pc:sldMk cId="335643280" sldId="292"/>
            <ac:spMk id="2" creationId="{91C4EF43-11D4-23D2-FE82-5A3E2165EEF6}"/>
          </ac:spMkLst>
        </pc:spChg>
        <pc:spChg chg="mod">
          <ac:chgData name="sanu mathew" userId="ec8c2f12682202a6" providerId="LiveId" clId="{05ADEA0A-BB2B-4313-8B38-3B2BF9CE5AE5}" dt="2026-04-27T09:21:27.742" v="1972" actId="27636"/>
          <ac:spMkLst>
            <pc:docMk/>
            <pc:sldMk cId="335643280" sldId="292"/>
            <ac:spMk id="3" creationId="{77AD0393-EAAA-F7F5-68D7-BF8254A7B144}"/>
          </ac:spMkLst>
        </pc:spChg>
        <pc:spChg chg="add">
          <ac:chgData name="sanu mathew" userId="ec8c2f12682202a6" providerId="LiveId" clId="{05ADEA0A-BB2B-4313-8B38-3B2BF9CE5AE5}" dt="2026-04-27T09:21:02.621" v="1965"/>
          <ac:spMkLst>
            <pc:docMk/>
            <pc:sldMk cId="335643280" sldId="292"/>
            <ac:spMk id="4" creationId="{8D39B5ED-05B9-074F-8A49-4E844579DB2A}"/>
          </ac:spMkLst>
        </pc:spChg>
      </pc:sldChg>
      <pc:sldChg chg="addSp delSp modSp new mod">
        <pc:chgData name="sanu mathew" userId="ec8c2f12682202a6" providerId="LiveId" clId="{05ADEA0A-BB2B-4313-8B38-3B2BF9CE5AE5}" dt="2026-04-27T09:22:48.139" v="1987"/>
        <pc:sldMkLst>
          <pc:docMk/>
          <pc:sldMk cId="2104074269" sldId="293"/>
        </pc:sldMkLst>
        <pc:spChg chg="del">
          <ac:chgData name="sanu mathew" userId="ec8c2f12682202a6" providerId="LiveId" clId="{05ADEA0A-BB2B-4313-8B38-3B2BF9CE5AE5}" dt="2026-04-27T09:21:42.295" v="1974" actId="21"/>
          <ac:spMkLst>
            <pc:docMk/>
            <pc:sldMk cId="2104074269" sldId="293"/>
            <ac:spMk id="2" creationId="{EC511920-66ED-7122-7C44-C05DEC9660C3}"/>
          </ac:spMkLst>
        </pc:spChg>
        <pc:spChg chg="mod">
          <ac:chgData name="sanu mathew" userId="ec8c2f12682202a6" providerId="LiveId" clId="{05ADEA0A-BB2B-4313-8B38-3B2BF9CE5AE5}" dt="2026-04-27T09:22:48.139" v="1987"/>
          <ac:spMkLst>
            <pc:docMk/>
            <pc:sldMk cId="2104074269" sldId="293"/>
            <ac:spMk id="3" creationId="{9F3C6D27-74F4-9891-5E99-53B611D0E3A4}"/>
          </ac:spMkLst>
        </pc:spChg>
        <pc:spChg chg="add">
          <ac:chgData name="sanu mathew" userId="ec8c2f12682202a6" providerId="LiveId" clId="{05ADEA0A-BB2B-4313-8B38-3B2BF9CE5AE5}" dt="2026-04-27T09:22:16.709" v="1981"/>
          <ac:spMkLst>
            <pc:docMk/>
            <pc:sldMk cId="2104074269" sldId="293"/>
            <ac:spMk id="4" creationId="{FBFE0FC7-4C13-98C0-F323-ADD2164A99FD}"/>
          </ac:spMkLst>
        </pc:spChg>
      </pc:sldChg>
      <pc:sldChg chg="modSp new mod">
        <pc:chgData name="sanu mathew" userId="ec8c2f12682202a6" providerId="LiveId" clId="{05ADEA0A-BB2B-4313-8B38-3B2BF9CE5AE5}" dt="2026-04-27T09:25:09.661" v="2020" actId="27636"/>
        <pc:sldMkLst>
          <pc:docMk/>
          <pc:sldMk cId="2070365391" sldId="294"/>
        </pc:sldMkLst>
        <pc:spChg chg="mod">
          <ac:chgData name="sanu mathew" userId="ec8c2f12682202a6" providerId="LiveId" clId="{05ADEA0A-BB2B-4313-8B38-3B2BF9CE5AE5}" dt="2026-04-27T09:24:28.628" v="2014" actId="27636"/>
          <ac:spMkLst>
            <pc:docMk/>
            <pc:sldMk cId="2070365391" sldId="294"/>
            <ac:spMk id="2" creationId="{88C6C11E-B507-FF04-F915-116F49954CF4}"/>
          </ac:spMkLst>
        </pc:spChg>
        <pc:spChg chg="mod">
          <ac:chgData name="sanu mathew" userId="ec8c2f12682202a6" providerId="LiveId" clId="{05ADEA0A-BB2B-4313-8B38-3B2BF9CE5AE5}" dt="2026-04-27T09:25:09.661" v="2020" actId="27636"/>
          <ac:spMkLst>
            <pc:docMk/>
            <pc:sldMk cId="2070365391" sldId="294"/>
            <ac:spMk id="3" creationId="{A4B0CADF-B736-437E-B1BE-B31713743F28}"/>
          </ac:spMkLst>
        </pc:spChg>
      </pc:sldChg>
      <pc:sldChg chg="addSp modSp new mod">
        <pc:chgData name="sanu mathew" userId="ec8c2f12682202a6" providerId="LiveId" clId="{05ADEA0A-BB2B-4313-8B38-3B2BF9CE5AE5}" dt="2026-04-27T09:27:47.005" v="2038"/>
        <pc:sldMkLst>
          <pc:docMk/>
          <pc:sldMk cId="1750645994" sldId="295"/>
        </pc:sldMkLst>
        <pc:spChg chg="mod">
          <ac:chgData name="sanu mathew" userId="ec8c2f12682202a6" providerId="LiveId" clId="{05ADEA0A-BB2B-4313-8B38-3B2BF9CE5AE5}" dt="2026-04-27T09:26:39.612" v="2024" actId="14100"/>
          <ac:spMkLst>
            <pc:docMk/>
            <pc:sldMk cId="1750645994" sldId="295"/>
            <ac:spMk id="2" creationId="{093F9C06-CEC4-2F40-3496-99275966DA4A}"/>
          </ac:spMkLst>
        </pc:spChg>
        <pc:spChg chg="mod">
          <ac:chgData name="sanu mathew" userId="ec8c2f12682202a6" providerId="LiveId" clId="{05ADEA0A-BB2B-4313-8B38-3B2BF9CE5AE5}" dt="2026-04-27T09:27:47.005" v="2038"/>
          <ac:spMkLst>
            <pc:docMk/>
            <pc:sldMk cId="1750645994" sldId="295"/>
            <ac:spMk id="3" creationId="{11A7F880-8B07-7604-9082-65E2FEC012B6}"/>
          </ac:spMkLst>
        </pc:spChg>
        <pc:spChg chg="add">
          <ac:chgData name="sanu mathew" userId="ec8c2f12682202a6" providerId="LiveId" clId="{05ADEA0A-BB2B-4313-8B38-3B2BF9CE5AE5}" dt="2026-04-27T09:27:00.129" v="2029"/>
          <ac:spMkLst>
            <pc:docMk/>
            <pc:sldMk cId="1750645994" sldId="295"/>
            <ac:spMk id="4" creationId="{92DC1D73-0C8D-B8A0-ABC9-892D7E7067EB}"/>
          </ac:spMkLst>
        </pc:spChg>
      </pc:sldChg>
      <pc:sldChg chg="addSp delSp modSp new mod">
        <pc:chgData name="sanu mathew" userId="ec8c2f12682202a6" providerId="LiveId" clId="{05ADEA0A-BB2B-4313-8B38-3B2BF9CE5AE5}" dt="2026-04-27T09:31:10.118" v="2070"/>
        <pc:sldMkLst>
          <pc:docMk/>
          <pc:sldMk cId="3560788031" sldId="296"/>
        </pc:sldMkLst>
        <pc:spChg chg="mod">
          <ac:chgData name="sanu mathew" userId="ec8c2f12682202a6" providerId="LiveId" clId="{05ADEA0A-BB2B-4313-8B38-3B2BF9CE5AE5}" dt="2026-04-27T09:29:18.030" v="2044" actId="20577"/>
          <ac:spMkLst>
            <pc:docMk/>
            <pc:sldMk cId="3560788031" sldId="296"/>
            <ac:spMk id="2" creationId="{604A5294-5B19-0B20-516E-65D02D4048C3}"/>
          </ac:spMkLst>
        </pc:spChg>
        <pc:spChg chg="del mod">
          <ac:chgData name="sanu mathew" userId="ec8c2f12682202a6" providerId="LiveId" clId="{05ADEA0A-BB2B-4313-8B38-3B2BF9CE5AE5}" dt="2026-04-27T09:29:43.260" v="2050" actId="931"/>
          <ac:spMkLst>
            <pc:docMk/>
            <pc:sldMk cId="3560788031" sldId="296"/>
            <ac:spMk id="3" creationId="{CCB22502-0AAC-F915-B92C-8791E341B979}"/>
          </ac:spMkLst>
        </pc:spChg>
        <pc:spChg chg="add mod">
          <ac:chgData name="sanu mathew" userId="ec8c2f12682202a6" providerId="LiveId" clId="{05ADEA0A-BB2B-4313-8B38-3B2BF9CE5AE5}" dt="2026-04-27T09:31:10.118" v="2070"/>
          <ac:spMkLst>
            <pc:docMk/>
            <pc:sldMk cId="3560788031" sldId="296"/>
            <ac:spMk id="6" creationId="{FCB02A94-B920-9ED3-C536-02729D24BAAC}"/>
          </ac:spMkLst>
        </pc:spChg>
        <pc:spChg chg="add">
          <ac:chgData name="sanu mathew" userId="ec8c2f12682202a6" providerId="LiveId" clId="{05ADEA0A-BB2B-4313-8B38-3B2BF9CE5AE5}" dt="2026-04-27T09:30:29.822" v="2061"/>
          <ac:spMkLst>
            <pc:docMk/>
            <pc:sldMk cId="3560788031" sldId="296"/>
            <ac:spMk id="7" creationId="{218BB12B-5DA0-C512-E32F-272635C041DA}"/>
          </ac:spMkLst>
        </pc:spChg>
        <pc:picChg chg="add mod ord">
          <ac:chgData name="sanu mathew" userId="ec8c2f12682202a6" providerId="LiveId" clId="{05ADEA0A-BB2B-4313-8B38-3B2BF9CE5AE5}" dt="2026-04-27T09:29:51.752" v="2052" actId="14100"/>
          <ac:picMkLst>
            <pc:docMk/>
            <pc:sldMk cId="3560788031" sldId="296"/>
            <ac:picMk id="5" creationId="{7FD6E6C0-4CF3-5A81-3988-9A79652BBDE5}"/>
          </ac:picMkLst>
        </pc:picChg>
      </pc:sldChg>
      <pc:sldChg chg="addSp delSp modSp new mod">
        <pc:chgData name="sanu mathew" userId="ec8c2f12682202a6" providerId="LiveId" clId="{05ADEA0A-BB2B-4313-8B38-3B2BF9CE5AE5}" dt="2026-04-27T09:33:08.131" v="2100" actId="6549"/>
        <pc:sldMkLst>
          <pc:docMk/>
          <pc:sldMk cId="1677224448" sldId="297"/>
        </pc:sldMkLst>
        <pc:spChg chg="mod">
          <ac:chgData name="sanu mathew" userId="ec8c2f12682202a6" providerId="LiveId" clId="{05ADEA0A-BB2B-4313-8B38-3B2BF9CE5AE5}" dt="2026-04-27T09:31:57.450" v="2074" actId="27636"/>
          <ac:spMkLst>
            <pc:docMk/>
            <pc:sldMk cId="1677224448" sldId="297"/>
            <ac:spMk id="2" creationId="{FF8CFED3-E37E-3A20-0857-02280D03CA22}"/>
          </ac:spMkLst>
        </pc:spChg>
        <pc:spChg chg="del mod">
          <ac:chgData name="sanu mathew" userId="ec8c2f12682202a6" providerId="LiveId" clId="{05ADEA0A-BB2B-4313-8B38-3B2BF9CE5AE5}" dt="2026-04-27T09:32:08.796" v="2079" actId="931"/>
          <ac:spMkLst>
            <pc:docMk/>
            <pc:sldMk cId="1677224448" sldId="297"/>
            <ac:spMk id="3" creationId="{19C861AA-6682-F3DA-87B5-1DF0533E4FCD}"/>
          </ac:spMkLst>
        </pc:spChg>
        <pc:spChg chg="add mod">
          <ac:chgData name="sanu mathew" userId="ec8c2f12682202a6" providerId="LiveId" clId="{05ADEA0A-BB2B-4313-8B38-3B2BF9CE5AE5}" dt="2026-04-27T09:33:08.131" v="2100" actId="6549"/>
          <ac:spMkLst>
            <pc:docMk/>
            <pc:sldMk cId="1677224448" sldId="297"/>
            <ac:spMk id="6" creationId="{EAB99E77-EEBD-F446-4A5D-CA1DB611A728}"/>
          </ac:spMkLst>
        </pc:spChg>
        <pc:picChg chg="add mod ord">
          <ac:chgData name="sanu mathew" userId="ec8c2f12682202a6" providerId="LiveId" clId="{05ADEA0A-BB2B-4313-8B38-3B2BF9CE5AE5}" dt="2026-04-27T09:32:16.549" v="2082" actId="14100"/>
          <ac:picMkLst>
            <pc:docMk/>
            <pc:sldMk cId="1677224448" sldId="297"/>
            <ac:picMk id="5" creationId="{5134A996-632F-11EE-646D-9A9A0C539DDA}"/>
          </ac:picMkLst>
        </pc:picChg>
      </pc:sldChg>
      <pc:sldChg chg="addSp delSp modSp new mod">
        <pc:chgData name="sanu mathew" userId="ec8c2f12682202a6" providerId="LiveId" clId="{05ADEA0A-BB2B-4313-8B38-3B2BF9CE5AE5}" dt="2026-04-27T09:35:21.877" v="2118"/>
        <pc:sldMkLst>
          <pc:docMk/>
          <pc:sldMk cId="2681782564" sldId="298"/>
        </pc:sldMkLst>
        <pc:spChg chg="mod">
          <ac:chgData name="sanu mathew" userId="ec8c2f12682202a6" providerId="LiveId" clId="{05ADEA0A-BB2B-4313-8B38-3B2BF9CE5AE5}" dt="2026-04-27T09:34:31.844" v="2103" actId="1076"/>
          <ac:spMkLst>
            <pc:docMk/>
            <pc:sldMk cId="2681782564" sldId="298"/>
            <ac:spMk id="2" creationId="{ED2BA9A9-258F-D993-4E99-FB1F76E7C552}"/>
          </ac:spMkLst>
        </pc:spChg>
        <pc:spChg chg="del mod">
          <ac:chgData name="sanu mathew" userId="ec8c2f12682202a6" providerId="LiveId" clId="{05ADEA0A-BB2B-4313-8B38-3B2BF9CE5AE5}" dt="2026-04-27T09:34:41.551" v="2106" actId="931"/>
          <ac:spMkLst>
            <pc:docMk/>
            <pc:sldMk cId="2681782564" sldId="298"/>
            <ac:spMk id="3" creationId="{49BAB645-81C2-9772-0FD4-F82C0A5CE40E}"/>
          </ac:spMkLst>
        </pc:spChg>
        <pc:spChg chg="add mod">
          <ac:chgData name="sanu mathew" userId="ec8c2f12682202a6" providerId="LiveId" clId="{05ADEA0A-BB2B-4313-8B38-3B2BF9CE5AE5}" dt="2026-04-27T09:35:21.877" v="2118"/>
          <ac:spMkLst>
            <pc:docMk/>
            <pc:sldMk cId="2681782564" sldId="298"/>
            <ac:spMk id="6" creationId="{D1D8084F-C133-966D-97CD-D1FB49E67BA3}"/>
          </ac:spMkLst>
        </pc:spChg>
        <pc:picChg chg="add mod ord">
          <ac:chgData name="sanu mathew" userId="ec8c2f12682202a6" providerId="LiveId" clId="{05ADEA0A-BB2B-4313-8B38-3B2BF9CE5AE5}" dt="2026-04-27T09:34:51.098" v="2109" actId="339"/>
          <ac:picMkLst>
            <pc:docMk/>
            <pc:sldMk cId="2681782564" sldId="298"/>
            <ac:picMk id="5" creationId="{DBBDD761-42F7-500C-9F14-0D048DFFBD9A}"/>
          </ac:picMkLst>
        </pc:picChg>
      </pc:sldChg>
      <pc:sldChg chg="modSp new mod">
        <pc:chgData name="sanu mathew" userId="ec8c2f12682202a6" providerId="LiveId" clId="{05ADEA0A-BB2B-4313-8B38-3B2BF9CE5AE5}" dt="2026-04-27T09:37:06.669" v="2153" actId="20577"/>
        <pc:sldMkLst>
          <pc:docMk/>
          <pc:sldMk cId="1460559102" sldId="299"/>
        </pc:sldMkLst>
        <pc:spChg chg="mod">
          <ac:chgData name="sanu mathew" userId="ec8c2f12682202a6" providerId="LiveId" clId="{05ADEA0A-BB2B-4313-8B38-3B2BF9CE5AE5}" dt="2026-04-27T09:36:34.820" v="2144" actId="14100"/>
          <ac:spMkLst>
            <pc:docMk/>
            <pc:sldMk cId="1460559102" sldId="299"/>
            <ac:spMk id="2" creationId="{756BEF8F-1928-5370-C0BF-C5039FBA1D2C}"/>
          </ac:spMkLst>
        </pc:spChg>
        <pc:spChg chg="mod">
          <ac:chgData name="sanu mathew" userId="ec8c2f12682202a6" providerId="LiveId" clId="{05ADEA0A-BB2B-4313-8B38-3B2BF9CE5AE5}" dt="2026-04-27T09:37:06.669" v="2153" actId="20577"/>
          <ac:spMkLst>
            <pc:docMk/>
            <pc:sldMk cId="1460559102" sldId="299"/>
            <ac:spMk id="3" creationId="{EBB00AD4-3A10-0506-EEC9-07FB0F827462}"/>
          </ac:spMkLst>
        </pc:spChg>
      </pc:sldChg>
      <pc:sldChg chg="delSp modSp new mod">
        <pc:chgData name="sanu mathew" userId="ec8c2f12682202a6" providerId="LiveId" clId="{05ADEA0A-BB2B-4313-8B38-3B2BF9CE5AE5}" dt="2026-04-27T09:37:55.979" v="2169" actId="27636"/>
        <pc:sldMkLst>
          <pc:docMk/>
          <pc:sldMk cId="580163375" sldId="300"/>
        </pc:sldMkLst>
        <pc:spChg chg="del">
          <ac:chgData name="sanu mathew" userId="ec8c2f12682202a6" providerId="LiveId" clId="{05ADEA0A-BB2B-4313-8B38-3B2BF9CE5AE5}" dt="2026-04-27T09:37:12.106" v="2155" actId="21"/>
          <ac:spMkLst>
            <pc:docMk/>
            <pc:sldMk cId="580163375" sldId="300"/>
            <ac:spMk id="2" creationId="{37BFE148-491E-74C0-A3F2-08F9546DED13}"/>
          </ac:spMkLst>
        </pc:spChg>
        <pc:spChg chg="mod">
          <ac:chgData name="sanu mathew" userId="ec8c2f12682202a6" providerId="LiveId" clId="{05ADEA0A-BB2B-4313-8B38-3B2BF9CE5AE5}" dt="2026-04-27T09:37:55.979" v="2169" actId="27636"/>
          <ac:spMkLst>
            <pc:docMk/>
            <pc:sldMk cId="580163375" sldId="300"/>
            <ac:spMk id="3" creationId="{1D64F0F7-E9C5-3E90-06FE-529059391656}"/>
          </ac:spMkLst>
        </pc:spChg>
      </pc:sldChg>
      <pc:sldChg chg="addSp modSp new mod">
        <pc:chgData name="sanu mathew" userId="ec8c2f12682202a6" providerId="LiveId" clId="{05ADEA0A-BB2B-4313-8B38-3B2BF9CE5AE5}" dt="2026-04-27T09:39:32.759" v="2230"/>
        <pc:sldMkLst>
          <pc:docMk/>
          <pc:sldMk cId="3315803063" sldId="301"/>
        </pc:sldMkLst>
        <pc:spChg chg="mod">
          <ac:chgData name="sanu mathew" userId="ec8c2f12682202a6" providerId="LiveId" clId="{05ADEA0A-BB2B-4313-8B38-3B2BF9CE5AE5}" dt="2026-04-27T09:38:27.406" v="2206" actId="27636"/>
          <ac:spMkLst>
            <pc:docMk/>
            <pc:sldMk cId="3315803063" sldId="301"/>
            <ac:spMk id="2" creationId="{F105F4C8-7801-A500-F1C3-EC6EA1083FCE}"/>
          </ac:spMkLst>
        </pc:spChg>
        <pc:spChg chg="mod">
          <ac:chgData name="sanu mathew" userId="ec8c2f12682202a6" providerId="LiveId" clId="{05ADEA0A-BB2B-4313-8B38-3B2BF9CE5AE5}" dt="2026-04-27T09:39:32.759" v="2230"/>
          <ac:spMkLst>
            <pc:docMk/>
            <pc:sldMk cId="3315803063" sldId="301"/>
            <ac:spMk id="3" creationId="{3E48CA7A-219D-F077-928B-C6F4E207F4E6}"/>
          </ac:spMkLst>
        </pc:spChg>
        <pc:spChg chg="add">
          <ac:chgData name="sanu mathew" userId="ec8c2f12682202a6" providerId="LiveId" clId="{05ADEA0A-BB2B-4313-8B38-3B2BF9CE5AE5}" dt="2026-04-27T09:38:44.996" v="2212"/>
          <ac:spMkLst>
            <pc:docMk/>
            <pc:sldMk cId="3315803063" sldId="301"/>
            <ac:spMk id="4" creationId="{AB00D92E-DE20-DE42-1A79-AB58121709A3}"/>
          </ac:spMkLst>
        </pc:spChg>
      </pc:sldChg>
      <pc:sldChg chg="modSp new mod">
        <pc:chgData name="sanu mathew" userId="ec8c2f12682202a6" providerId="LiveId" clId="{05ADEA0A-BB2B-4313-8B38-3B2BF9CE5AE5}" dt="2026-04-27T09:56:57.625" v="2470"/>
        <pc:sldMkLst>
          <pc:docMk/>
          <pc:sldMk cId="2059500413" sldId="302"/>
        </pc:sldMkLst>
        <pc:spChg chg="mod">
          <ac:chgData name="sanu mathew" userId="ec8c2f12682202a6" providerId="LiveId" clId="{05ADEA0A-BB2B-4313-8B38-3B2BF9CE5AE5}" dt="2026-04-27T09:52:27.364" v="2370" actId="27636"/>
          <ac:spMkLst>
            <pc:docMk/>
            <pc:sldMk cId="2059500413" sldId="302"/>
            <ac:spMk id="2" creationId="{EF7AA897-D7F7-4ABD-4288-12EFAACD87B2}"/>
          </ac:spMkLst>
        </pc:spChg>
        <pc:spChg chg="mod">
          <ac:chgData name="sanu mathew" userId="ec8c2f12682202a6" providerId="LiveId" clId="{05ADEA0A-BB2B-4313-8B38-3B2BF9CE5AE5}" dt="2026-04-27T09:56:57.625" v="2470"/>
          <ac:spMkLst>
            <pc:docMk/>
            <pc:sldMk cId="2059500413" sldId="302"/>
            <ac:spMk id="3" creationId="{3617222B-9961-3950-1B2F-4562549E9D3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432B38-3BAA-4C68-BE29-0A152464CBF4}"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C760E8-B4DE-4B69-91BF-C9890E73717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229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432B38-3BAA-4C68-BE29-0A152464CBF4}"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8167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432B38-3BAA-4C68-BE29-0A152464CBF4}"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C760E8-B4DE-4B69-91BF-C9890E73717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056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432B38-3BAA-4C68-BE29-0A152464CBF4}"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371285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432B38-3BAA-4C68-BE29-0A152464CBF4}"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1644341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432B38-3BAA-4C68-BE29-0A152464CBF4}" type="datetimeFigureOut">
              <a:rPr lang="en-IN" smtClean="0"/>
              <a:t>27-04-2026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2158966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1432B38-3BAA-4C68-BE29-0A152464CBF4}" type="datetimeFigureOut">
              <a:rPr lang="en-IN" smtClean="0"/>
              <a:t>27-04-2026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290197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1432B38-3BAA-4C68-BE29-0A152464CBF4}" type="datetimeFigureOut">
              <a:rPr lang="en-IN" smtClean="0"/>
              <a:t>27-04-2026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7C760E8-B4DE-4B69-91BF-C9890E737176}" type="slidenum">
              <a:rPr lang="en-IN" smtClean="0"/>
              <a:t>‹#›</a:t>
            </a:fld>
            <a:endParaRPr lang="en-IN"/>
          </a:p>
        </p:txBody>
      </p:sp>
    </p:spTree>
    <p:extLst>
      <p:ext uri="{BB962C8B-B14F-4D97-AF65-F5344CB8AC3E}">
        <p14:creationId xmlns:p14="http://schemas.microsoft.com/office/powerpoint/2010/main" val="1505858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432B38-3BAA-4C68-BE29-0A152464CBF4}"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3052414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432B38-3BAA-4C68-BE29-0A152464CBF4}"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3950865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432B38-3BAA-4C68-BE29-0A152464CBF4}"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C760E8-B4DE-4B69-91BF-C9890E737176}" type="slidenum">
              <a:rPr lang="en-IN" smtClean="0"/>
              <a:t>‹#›</a:t>
            </a:fld>
            <a:endParaRPr lang="en-IN"/>
          </a:p>
        </p:txBody>
      </p:sp>
    </p:spTree>
    <p:extLst>
      <p:ext uri="{BB962C8B-B14F-4D97-AF65-F5344CB8AC3E}">
        <p14:creationId xmlns:p14="http://schemas.microsoft.com/office/powerpoint/2010/main" val="2876268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1432B38-3BAA-4C68-BE29-0A152464CBF4}" type="datetimeFigureOut">
              <a:rPr lang="en-IN" smtClean="0"/>
              <a:t>27-04-2026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7C760E8-B4DE-4B69-91BF-C9890E737176}"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4477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64D0-1019-9D94-FB4A-06E3BFC020CD}"/>
              </a:ext>
            </a:extLst>
          </p:cNvPr>
          <p:cNvSpPr>
            <a:spLocks noGrp="1"/>
          </p:cNvSpPr>
          <p:nvPr>
            <p:ph type="ctrTitle"/>
          </p:nvPr>
        </p:nvSpPr>
        <p:spPr>
          <a:xfrm>
            <a:off x="953730" y="884904"/>
            <a:ext cx="7010400" cy="1573162"/>
          </a:xfrm>
        </p:spPr>
        <p:txBody>
          <a:bodyPr>
            <a:normAutofit fontScale="90000"/>
          </a:bodyPr>
          <a:lstStyle/>
          <a:p>
            <a:r>
              <a:rPr lang="en-IN" dirty="0"/>
              <a:t> Predicting Solar Energy Production</a:t>
            </a:r>
          </a:p>
        </p:txBody>
      </p:sp>
      <p:sp>
        <p:nvSpPr>
          <p:cNvPr id="3" name="Subtitle 2">
            <a:extLst>
              <a:ext uri="{FF2B5EF4-FFF2-40B4-BE49-F238E27FC236}">
                <a16:creationId xmlns:a16="http://schemas.microsoft.com/office/drawing/2014/main" id="{90146C4A-1F86-78F6-284D-6ECD79241094}"/>
              </a:ext>
            </a:extLst>
          </p:cNvPr>
          <p:cNvSpPr>
            <a:spLocks noGrp="1"/>
          </p:cNvSpPr>
          <p:nvPr>
            <p:ph type="subTitle" idx="1"/>
          </p:nvPr>
        </p:nvSpPr>
        <p:spPr/>
        <p:txBody>
          <a:bodyPr/>
          <a:lstStyle/>
          <a:p>
            <a:r>
              <a:rPr lang="en-US" dirty="0"/>
              <a:t>Project Presented by Sanu Mathew</a:t>
            </a:r>
            <a:endParaRPr lang="en-IN" dirty="0"/>
          </a:p>
        </p:txBody>
      </p:sp>
    </p:spTree>
    <p:extLst>
      <p:ext uri="{BB962C8B-B14F-4D97-AF65-F5344CB8AC3E}">
        <p14:creationId xmlns:p14="http://schemas.microsoft.com/office/powerpoint/2010/main" val="1351718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F596-714E-86EE-E7AB-35E9FE86D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7ABC2-5142-1C60-CCBA-9662A9114864}"/>
              </a:ext>
            </a:extLst>
          </p:cNvPr>
          <p:cNvSpPr>
            <a:spLocks noGrp="1"/>
          </p:cNvSpPr>
          <p:nvPr>
            <p:ph type="ctrTitle"/>
          </p:nvPr>
        </p:nvSpPr>
        <p:spPr>
          <a:xfrm>
            <a:off x="1111044" y="0"/>
            <a:ext cx="10599175" cy="953729"/>
          </a:xfrm>
        </p:spPr>
        <p:txBody>
          <a:bodyPr>
            <a:normAutofit fontScale="90000"/>
          </a:bodyPr>
          <a:lstStyle/>
          <a:p>
            <a:r>
              <a:rPr lang="en-IN" dirty="0"/>
              <a:t> Table of Contents</a:t>
            </a:r>
          </a:p>
        </p:txBody>
      </p:sp>
      <p:sp>
        <p:nvSpPr>
          <p:cNvPr id="3" name="Subtitle 2">
            <a:extLst>
              <a:ext uri="{FF2B5EF4-FFF2-40B4-BE49-F238E27FC236}">
                <a16:creationId xmlns:a16="http://schemas.microsoft.com/office/drawing/2014/main" id="{C5648F18-4662-669D-F063-451068BDBF86}"/>
              </a:ext>
            </a:extLst>
          </p:cNvPr>
          <p:cNvSpPr>
            <a:spLocks noGrp="1"/>
          </p:cNvSpPr>
          <p:nvPr>
            <p:ph type="subTitle" idx="1"/>
          </p:nvPr>
        </p:nvSpPr>
        <p:spPr>
          <a:xfrm>
            <a:off x="801329" y="796413"/>
            <a:ext cx="10599175" cy="5574890"/>
          </a:xfrm>
        </p:spPr>
        <p:txBody>
          <a:bodyPr/>
          <a:lstStyle/>
          <a:p>
            <a:pPr marL="342900" indent="-342900">
              <a:buFont typeface="Arial" panose="020B0604020202020204" pitchFamily="34" charset="0"/>
              <a:buChar char="•"/>
            </a:pPr>
            <a:r>
              <a:rPr lang="en-US" dirty="0"/>
              <a:t>Problem statement </a:t>
            </a:r>
          </a:p>
          <a:p>
            <a:pPr marL="342900" indent="-342900">
              <a:buFont typeface="Arial" panose="020B0604020202020204" pitchFamily="34" charset="0"/>
              <a:buChar char="•"/>
            </a:pPr>
            <a:r>
              <a:rPr lang="en-US" dirty="0"/>
              <a:t>data understanding</a:t>
            </a:r>
          </a:p>
          <a:p>
            <a:pPr marL="342900" indent="-342900">
              <a:buFont typeface="Arial" panose="020B0604020202020204" pitchFamily="34" charset="0"/>
              <a:buChar char="•"/>
            </a:pPr>
            <a:r>
              <a:rPr lang="en-IN" dirty="0"/>
              <a:t>Data Cleaning &amp; Preprocessing</a:t>
            </a:r>
          </a:p>
          <a:p>
            <a:pPr marL="342900" indent="-342900">
              <a:buFont typeface="Arial" panose="020B0604020202020204" pitchFamily="34" charset="0"/>
              <a:buChar char="•"/>
            </a:pPr>
            <a:r>
              <a:rPr lang="en-IN" dirty="0"/>
              <a:t>Feature Engineering</a:t>
            </a:r>
          </a:p>
          <a:p>
            <a:pPr marL="342900" indent="-342900">
              <a:buFont typeface="Arial" panose="020B0604020202020204" pitchFamily="34" charset="0"/>
              <a:buChar char="•"/>
            </a:pPr>
            <a:r>
              <a:rPr lang="en-IN" dirty="0"/>
              <a:t>Exploratory Data Analysis (EDA)</a:t>
            </a:r>
          </a:p>
          <a:p>
            <a:pPr marL="342900" indent="-342900">
              <a:buFont typeface="Arial" panose="020B0604020202020204" pitchFamily="34" charset="0"/>
              <a:buChar char="•"/>
            </a:pPr>
            <a:r>
              <a:rPr lang="en-IN" dirty="0"/>
              <a:t>Model Selection</a:t>
            </a:r>
          </a:p>
          <a:p>
            <a:pPr marL="342900" indent="-342900">
              <a:buFont typeface="Arial" panose="020B0604020202020204" pitchFamily="34" charset="0"/>
              <a:buChar char="•"/>
            </a:pPr>
            <a:r>
              <a:rPr lang="en-IN" dirty="0"/>
              <a:t>Training &amp; Validation</a:t>
            </a:r>
          </a:p>
          <a:p>
            <a:pPr marL="342900" indent="-342900">
              <a:buFont typeface="Arial" panose="020B0604020202020204" pitchFamily="34" charset="0"/>
              <a:buChar char="•"/>
            </a:pPr>
            <a:r>
              <a:rPr lang="en-IN" dirty="0"/>
              <a:t>Hyperparameter Tuning</a:t>
            </a:r>
          </a:p>
          <a:p>
            <a:pPr marL="342900" indent="-342900">
              <a:buFont typeface="Arial" panose="020B0604020202020204" pitchFamily="34" charset="0"/>
              <a:buChar char="•"/>
            </a:pPr>
            <a:r>
              <a:rPr lang="en-IN" dirty="0"/>
              <a:t>Model Evaluation</a:t>
            </a:r>
          </a:p>
          <a:p>
            <a:pPr marL="342900" indent="-342900">
              <a:buFont typeface="Arial" panose="020B0604020202020204" pitchFamily="34" charset="0"/>
              <a:buChar char="•"/>
            </a:pPr>
            <a:r>
              <a:rPr lang="en-IN" dirty="0"/>
              <a:t>Conclusion with business insights</a:t>
            </a:r>
          </a:p>
          <a:p>
            <a:pPr marL="342900" indent="-342900">
              <a:buFont typeface="Arial" panose="020B0604020202020204" pitchFamily="34" charset="0"/>
              <a:buChar char="•"/>
            </a:pPr>
            <a:r>
              <a:rPr lang="en-IN" dirty="0"/>
              <a:t>Recommendations for future work</a:t>
            </a:r>
          </a:p>
        </p:txBody>
      </p:sp>
    </p:spTree>
    <p:extLst>
      <p:ext uri="{BB962C8B-B14F-4D97-AF65-F5344CB8AC3E}">
        <p14:creationId xmlns:p14="http://schemas.microsoft.com/office/powerpoint/2010/main" val="2061883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B476-DE8F-CFE8-1D1B-ED84528AB64C}"/>
              </a:ext>
            </a:extLst>
          </p:cNvPr>
          <p:cNvSpPr>
            <a:spLocks noGrp="1"/>
          </p:cNvSpPr>
          <p:nvPr>
            <p:ph type="title"/>
          </p:nvPr>
        </p:nvSpPr>
        <p:spPr/>
        <p:txBody>
          <a:bodyPr/>
          <a:lstStyle/>
          <a:p>
            <a:r>
              <a:rPr lang="en-US" dirty="0"/>
              <a:t>Problem Statement:</a:t>
            </a:r>
            <a:r>
              <a:rPr lang="en-IN" dirty="0"/>
              <a:t>Solar Energy Generation Prediction</a:t>
            </a:r>
          </a:p>
        </p:txBody>
      </p:sp>
      <p:sp>
        <p:nvSpPr>
          <p:cNvPr id="3" name="Content Placeholder 2">
            <a:extLst>
              <a:ext uri="{FF2B5EF4-FFF2-40B4-BE49-F238E27FC236}">
                <a16:creationId xmlns:a16="http://schemas.microsoft.com/office/drawing/2014/main" id="{EEB03A49-3E96-040B-AC38-6563848C8BA1}"/>
              </a:ext>
            </a:extLst>
          </p:cNvPr>
          <p:cNvSpPr>
            <a:spLocks noGrp="1"/>
          </p:cNvSpPr>
          <p:nvPr>
            <p:ph idx="1"/>
          </p:nvPr>
        </p:nvSpPr>
        <p:spPr>
          <a:xfrm>
            <a:off x="1097279" y="1845733"/>
            <a:ext cx="10160655" cy="4427247"/>
          </a:xfrm>
        </p:spPr>
        <p:txBody>
          <a:bodyPr>
            <a:normAutofit/>
          </a:bodyPr>
          <a:lstStyle/>
          <a:p>
            <a:r>
              <a:rPr lang="en-US" dirty="0"/>
              <a:t>With the global shift toward renewable energy, solar power has emerged as a key sustainable solution. However, one of the major challenges in solar energy adoption is the </a:t>
            </a:r>
            <a:r>
              <a:rPr lang="en-US" b="1" dirty="0"/>
              <a:t>uncertainty in energy generation</a:t>
            </a:r>
            <a:r>
              <a:rPr lang="en-US" dirty="0"/>
              <a:t> due to its dependence on dynamic environmental and operational factors.</a:t>
            </a:r>
          </a:p>
          <a:p>
            <a:r>
              <a:rPr lang="en-US" dirty="0"/>
              <a:t>Solar energy output is influenced by multiple variables such as:</a:t>
            </a:r>
          </a:p>
          <a:p>
            <a:pPr marL="457200" indent="-457200">
              <a:buFont typeface="+mj-lt"/>
              <a:buAutoNum type="arabicPeriod"/>
            </a:pPr>
            <a:r>
              <a:rPr lang="en-US" dirty="0"/>
              <a:t>Solar irradiance </a:t>
            </a:r>
          </a:p>
          <a:p>
            <a:pPr marL="457200" indent="-457200">
              <a:buFont typeface="+mj-lt"/>
              <a:buAutoNum type="arabicPeriod"/>
            </a:pPr>
            <a:r>
              <a:rPr lang="en-US" dirty="0"/>
              <a:t>Temperature and weather conditions </a:t>
            </a:r>
          </a:p>
          <a:p>
            <a:pPr marL="457200" indent="-457200">
              <a:buFont typeface="+mj-lt"/>
              <a:buAutoNum type="arabicPeriod"/>
            </a:pPr>
            <a:r>
              <a:rPr lang="en-US" dirty="0"/>
              <a:t>Geographic location </a:t>
            </a:r>
          </a:p>
          <a:p>
            <a:pPr marL="457200" indent="-457200">
              <a:buFont typeface="+mj-lt"/>
              <a:buAutoNum type="arabicPeriod"/>
            </a:pPr>
            <a:r>
              <a:rPr lang="en-US" dirty="0"/>
              <a:t>Seasonal variations </a:t>
            </a:r>
          </a:p>
          <a:p>
            <a:pPr marL="457200" indent="-457200">
              <a:buFont typeface="+mj-lt"/>
              <a:buAutoNum type="arabicPeriod"/>
            </a:pPr>
            <a:r>
              <a:rPr lang="en-US" dirty="0"/>
              <a:t>Panel efficiency and installation factors </a:t>
            </a:r>
          </a:p>
          <a:p>
            <a:r>
              <a:rPr lang="en-US" dirty="0"/>
              <a:t>Because of this variability, accurately predicting solar energy generation becomes difficult using traditional estimation methods.</a:t>
            </a:r>
          </a:p>
          <a:p>
            <a:endParaRPr lang="en-IN" dirty="0"/>
          </a:p>
        </p:txBody>
      </p:sp>
    </p:spTree>
    <p:extLst>
      <p:ext uri="{BB962C8B-B14F-4D97-AF65-F5344CB8AC3E}">
        <p14:creationId xmlns:p14="http://schemas.microsoft.com/office/powerpoint/2010/main" val="2460872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F370F-B7D9-FF90-3186-F8E6C746605B}"/>
              </a:ext>
            </a:extLst>
          </p:cNvPr>
          <p:cNvSpPr>
            <a:spLocks noGrp="1"/>
          </p:cNvSpPr>
          <p:nvPr>
            <p:ph idx="1"/>
          </p:nvPr>
        </p:nvSpPr>
        <p:spPr>
          <a:xfrm>
            <a:off x="481781" y="117987"/>
            <a:ext cx="11444748" cy="6213987"/>
          </a:xfrm>
        </p:spPr>
        <p:txBody>
          <a:bodyPr/>
          <a:lstStyle/>
          <a:p>
            <a:r>
              <a:rPr lang="en-US" b="1" dirty="0"/>
              <a:t>Problem</a:t>
            </a:r>
          </a:p>
          <a:p>
            <a:r>
              <a:rPr lang="en-US" dirty="0"/>
              <a:t>Currently, solar energy production is often estimated using:</a:t>
            </a:r>
          </a:p>
          <a:p>
            <a:pPr marL="457200" indent="-457200">
              <a:buFont typeface="+mj-lt"/>
              <a:buAutoNum type="arabicPeriod"/>
            </a:pPr>
            <a:r>
              <a:rPr lang="en-US" dirty="0"/>
              <a:t>Historical averages </a:t>
            </a:r>
          </a:p>
          <a:p>
            <a:pPr marL="457200" indent="-457200">
              <a:buFont typeface="+mj-lt"/>
              <a:buAutoNum type="arabicPeriod"/>
            </a:pPr>
            <a:r>
              <a:rPr lang="en-US" dirty="0"/>
              <a:t>Static models </a:t>
            </a:r>
          </a:p>
          <a:p>
            <a:pPr marL="457200" indent="-457200">
              <a:buFont typeface="+mj-lt"/>
              <a:buAutoNum type="arabicPeriod"/>
            </a:pPr>
            <a:r>
              <a:rPr lang="en-US" dirty="0"/>
              <a:t>Generic assumptions </a:t>
            </a:r>
          </a:p>
          <a:p>
            <a:r>
              <a:rPr lang="en-US" dirty="0"/>
              <a:t>These approaches fail to capture real-world variability, leading to:</a:t>
            </a:r>
          </a:p>
          <a:p>
            <a:pPr marL="457200" indent="-457200">
              <a:buFont typeface="+mj-lt"/>
              <a:buAutoNum type="arabicPeriod"/>
            </a:pPr>
            <a:r>
              <a:rPr lang="en-US" dirty="0"/>
              <a:t>Inaccurate energy forecasts </a:t>
            </a:r>
          </a:p>
          <a:p>
            <a:pPr marL="457200" indent="-457200">
              <a:buFont typeface="+mj-lt"/>
              <a:buAutoNum type="arabicPeriod"/>
            </a:pPr>
            <a:r>
              <a:rPr lang="en-US" dirty="0"/>
              <a:t>Poor planning and scheduling </a:t>
            </a:r>
          </a:p>
          <a:p>
            <a:pPr marL="457200" indent="-457200">
              <a:buFont typeface="+mj-lt"/>
              <a:buAutoNum type="arabicPeriod"/>
            </a:pPr>
            <a:r>
              <a:rPr lang="en-US" dirty="0"/>
              <a:t>Suboptimal system design </a:t>
            </a:r>
          </a:p>
          <a:p>
            <a:pPr marL="457200" indent="-457200">
              <a:buFont typeface="+mj-lt"/>
              <a:buAutoNum type="arabicPeriod"/>
            </a:pPr>
            <a:r>
              <a:rPr lang="en-US" dirty="0"/>
              <a:t>Financial uncertainty in ROI calculations </a:t>
            </a:r>
          </a:p>
          <a:p>
            <a:pPr marL="457200" indent="-457200">
              <a:buFont typeface="+mj-lt"/>
              <a:buAutoNum type="arabicPeriod"/>
            </a:pPr>
            <a:r>
              <a:rPr lang="en-US" dirty="0"/>
              <a:t>Inefficient energy distribution and grid management</a:t>
            </a:r>
          </a:p>
          <a:p>
            <a:endParaRPr lang="en-IN" dirty="0"/>
          </a:p>
        </p:txBody>
      </p:sp>
    </p:spTree>
    <p:extLst>
      <p:ext uri="{BB962C8B-B14F-4D97-AF65-F5344CB8AC3E}">
        <p14:creationId xmlns:p14="http://schemas.microsoft.com/office/powerpoint/2010/main" val="457833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51A44-A1A2-2AB5-C109-3EEB4D9F1468}"/>
              </a:ext>
            </a:extLst>
          </p:cNvPr>
          <p:cNvSpPr>
            <a:spLocks noGrp="1"/>
          </p:cNvSpPr>
          <p:nvPr>
            <p:ph idx="1"/>
          </p:nvPr>
        </p:nvSpPr>
        <p:spPr>
          <a:xfrm>
            <a:off x="206477" y="0"/>
            <a:ext cx="11484078" cy="6331974"/>
          </a:xfrm>
        </p:spPr>
        <p:txBody>
          <a:bodyPr/>
          <a:lstStyle/>
          <a:p>
            <a:r>
              <a:rPr lang="en-US" dirty="0"/>
              <a:t>The objective of this project is to develop a </a:t>
            </a:r>
            <a:r>
              <a:rPr lang="en-US" b="1" dirty="0"/>
              <a:t>machine learning-based predictive model</a:t>
            </a:r>
            <a:r>
              <a:rPr lang="en-US" dirty="0"/>
              <a:t> that can accurately estimate solar energy generation based on historical and environmental data.</a:t>
            </a:r>
          </a:p>
          <a:p>
            <a:r>
              <a:rPr lang="en-US" dirty="0"/>
              <a:t>The system will:</a:t>
            </a:r>
          </a:p>
          <a:p>
            <a:pPr marL="457200" indent="-457200">
              <a:buFont typeface="+mj-lt"/>
              <a:buAutoNum type="arabicPeriod"/>
            </a:pPr>
            <a:r>
              <a:rPr lang="en-US" dirty="0"/>
              <a:t>Analyze patterns in solar production data </a:t>
            </a:r>
          </a:p>
          <a:p>
            <a:pPr marL="457200" indent="-457200">
              <a:buFont typeface="+mj-lt"/>
              <a:buAutoNum type="arabicPeriod"/>
            </a:pPr>
            <a:r>
              <a:rPr lang="en-US" dirty="0"/>
              <a:t>Learn relationships between weather, time, and energy output </a:t>
            </a:r>
          </a:p>
          <a:p>
            <a:pPr marL="457200" indent="-457200">
              <a:buFont typeface="+mj-lt"/>
              <a:buAutoNum type="arabicPeriod"/>
            </a:pPr>
            <a:r>
              <a:rPr lang="en-US" dirty="0"/>
              <a:t>Provide reliable predictions for future energy generation</a:t>
            </a:r>
          </a:p>
          <a:p>
            <a:r>
              <a:rPr lang="en-US" b="1" dirty="0"/>
              <a:t>Key Challenges</a:t>
            </a:r>
          </a:p>
          <a:p>
            <a:r>
              <a:rPr lang="en-US" dirty="0"/>
              <a:t>Data Quality Issues </a:t>
            </a:r>
          </a:p>
          <a:p>
            <a:pPr lvl="1"/>
            <a:r>
              <a:rPr lang="en-US" dirty="0"/>
              <a:t>Missing values, noise, and inconsistencies in real-world datasets </a:t>
            </a:r>
          </a:p>
          <a:p>
            <a:r>
              <a:rPr lang="en-US" dirty="0"/>
              <a:t>Non-Linear Relationships </a:t>
            </a:r>
          </a:p>
          <a:p>
            <a:pPr lvl="1"/>
            <a:r>
              <a:rPr lang="en-US" dirty="0"/>
              <a:t>Complex interactions between irradiance, temperature, and output </a:t>
            </a:r>
          </a:p>
          <a:p>
            <a:r>
              <a:rPr lang="en-US" dirty="0"/>
              <a:t>Temporal Dependency </a:t>
            </a:r>
          </a:p>
          <a:p>
            <a:pPr lvl="1"/>
            <a:r>
              <a:rPr lang="en-US" dirty="0"/>
              <a:t>Seasonal and daily variations significantly impact production </a:t>
            </a:r>
          </a:p>
          <a:p>
            <a:r>
              <a:rPr lang="en-US" dirty="0"/>
              <a:t>Feature Engineering Complexity </a:t>
            </a:r>
          </a:p>
          <a:p>
            <a:pPr lvl="1"/>
            <a:r>
              <a:rPr lang="en-US" dirty="0"/>
              <a:t>Need for domain-specific features like efficiency and lag variables</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2645611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80259-DF19-E423-7E83-A955CBD5BBFE}"/>
              </a:ext>
            </a:extLst>
          </p:cNvPr>
          <p:cNvSpPr>
            <a:spLocks noGrp="1"/>
          </p:cNvSpPr>
          <p:nvPr>
            <p:ph idx="1"/>
          </p:nvPr>
        </p:nvSpPr>
        <p:spPr>
          <a:xfrm>
            <a:off x="580103" y="88490"/>
            <a:ext cx="11169445" cy="6223820"/>
          </a:xfrm>
        </p:spPr>
        <p:txBody>
          <a:bodyPr>
            <a:normAutofit fontScale="85000" lnSpcReduction="20000"/>
          </a:bodyPr>
          <a:lstStyle/>
          <a:p>
            <a:r>
              <a:rPr lang="en-US" b="1" dirty="0"/>
              <a:t>Proposed Approach</a:t>
            </a:r>
          </a:p>
          <a:p>
            <a:r>
              <a:rPr lang="en-US" dirty="0"/>
              <a:t>To address these challenges, the project will implement a </a:t>
            </a:r>
            <a:r>
              <a:rPr lang="en-US" b="1" dirty="0"/>
              <a:t>machine learning pipeline</a:t>
            </a:r>
            <a:r>
              <a:rPr lang="en-US" dirty="0"/>
              <a:t> consisting of:</a:t>
            </a:r>
          </a:p>
          <a:p>
            <a:r>
              <a:rPr lang="en-US" b="1" dirty="0"/>
              <a:t>Data Cleaning &amp; Preprocessing</a:t>
            </a:r>
            <a:br>
              <a:rPr lang="en-US" dirty="0"/>
            </a:br>
            <a:r>
              <a:rPr lang="en-US" dirty="0"/>
              <a:t>Handling missing values, outliers, and inconsistencies </a:t>
            </a:r>
          </a:p>
          <a:p>
            <a:r>
              <a:rPr lang="en-US" b="1" dirty="0"/>
              <a:t>Exploratory Data Analysis (EDA)</a:t>
            </a:r>
            <a:br>
              <a:rPr lang="en-US" dirty="0"/>
            </a:br>
            <a:r>
              <a:rPr lang="en-US" dirty="0"/>
              <a:t>Identifying trends, correlations, and seasonal patterns </a:t>
            </a:r>
          </a:p>
          <a:p>
            <a:r>
              <a:rPr lang="en-US" b="1" dirty="0"/>
              <a:t>Feature Engineering</a:t>
            </a:r>
            <a:br>
              <a:rPr lang="en-US" dirty="0"/>
            </a:br>
            <a:r>
              <a:rPr lang="en-US" dirty="0"/>
              <a:t>Creating meaningful features such as: </a:t>
            </a:r>
          </a:p>
          <a:p>
            <a:pPr lvl="1"/>
            <a:r>
              <a:rPr lang="en-US" dirty="0"/>
              <a:t>Time-based features (month, seasonality) </a:t>
            </a:r>
          </a:p>
          <a:p>
            <a:pPr lvl="1"/>
            <a:r>
              <a:rPr lang="en-US" dirty="0"/>
              <a:t>Solar efficiency indicators </a:t>
            </a:r>
          </a:p>
          <a:p>
            <a:pPr lvl="1"/>
            <a:r>
              <a:rPr lang="en-US" dirty="0"/>
              <a:t>Lag and rolling features </a:t>
            </a:r>
          </a:p>
          <a:p>
            <a:r>
              <a:rPr lang="en-US" b="1" dirty="0"/>
              <a:t>Model Development</a:t>
            </a:r>
            <a:br>
              <a:rPr lang="en-US" dirty="0"/>
            </a:br>
            <a:r>
              <a:rPr lang="en-US" dirty="0"/>
              <a:t>Training regression models like Random Forest and </a:t>
            </a:r>
            <a:r>
              <a:rPr lang="en-US" dirty="0" err="1"/>
              <a:t>XGBoost</a:t>
            </a:r>
            <a:r>
              <a:rPr lang="en-US" dirty="0"/>
              <a:t> </a:t>
            </a:r>
          </a:p>
          <a:p>
            <a:r>
              <a:rPr lang="en-US" b="1" dirty="0"/>
              <a:t>Evaluation</a:t>
            </a:r>
            <a:br>
              <a:rPr lang="en-US" dirty="0"/>
            </a:br>
            <a:r>
              <a:rPr lang="en-US" dirty="0"/>
              <a:t>Measuring performance using MAE and RMSE</a:t>
            </a:r>
          </a:p>
          <a:p>
            <a:r>
              <a:rPr lang="en-US" b="1" dirty="0"/>
              <a:t>Expected Outcome</a:t>
            </a:r>
          </a:p>
          <a:p>
            <a:r>
              <a:rPr lang="en-US" dirty="0"/>
              <a:t>The developed model will:</a:t>
            </a:r>
          </a:p>
          <a:p>
            <a:pPr marL="457200" indent="-457200">
              <a:buFont typeface="+mj-lt"/>
              <a:buAutoNum type="arabicPeriod"/>
            </a:pPr>
            <a:r>
              <a:rPr lang="en-US" dirty="0"/>
              <a:t>Provide accurate solar energy predictions </a:t>
            </a:r>
          </a:p>
          <a:p>
            <a:pPr marL="457200" indent="-457200">
              <a:buFont typeface="+mj-lt"/>
              <a:buAutoNum type="arabicPeriod"/>
            </a:pPr>
            <a:r>
              <a:rPr lang="en-US" dirty="0"/>
              <a:t>Improve planning and decision-making </a:t>
            </a:r>
          </a:p>
          <a:p>
            <a:pPr marL="457200" indent="-457200">
              <a:buFont typeface="+mj-lt"/>
              <a:buAutoNum type="arabicPeriod"/>
            </a:pPr>
            <a:r>
              <a:rPr lang="en-US" dirty="0"/>
              <a:t>Help optimize system design and installation </a:t>
            </a:r>
          </a:p>
          <a:p>
            <a:pPr marL="457200" indent="-457200">
              <a:buFont typeface="+mj-lt"/>
              <a:buAutoNum type="arabicPeriod"/>
            </a:pPr>
            <a:r>
              <a:rPr lang="en-US" dirty="0"/>
              <a:t>Reduce financial risks and uncertainty</a:t>
            </a:r>
          </a:p>
          <a:p>
            <a:endParaRPr lang="en-US" dirty="0"/>
          </a:p>
          <a:p>
            <a:endParaRPr lang="en-IN" dirty="0"/>
          </a:p>
        </p:txBody>
      </p:sp>
    </p:spTree>
    <p:extLst>
      <p:ext uri="{BB962C8B-B14F-4D97-AF65-F5344CB8AC3E}">
        <p14:creationId xmlns:p14="http://schemas.microsoft.com/office/powerpoint/2010/main" val="2908807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1B8A-3E6A-19E9-D6A9-22E4BABA46B3}"/>
              </a:ext>
            </a:extLst>
          </p:cNvPr>
          <p:cNvSpPr>
            <a:spLocks noGrp="1"/>
          </p:cNvSpPr>
          <p:nvPr>
            <p:ph type="title"/>
          </p:nvPr>
        </p:nvSpPr>
        <p:spPr>
          <a:xfrm>
            <a:off x="1097280" y="286603"/>
            <a:ext cx="9973843" cy="490145"/>
          </a:xfrm>
        </p:spPr>
        <p:txBody>
          <a:bodyPr>
            <a:normAutofit fontScale="90000"/>
          </a:bodyPr>
          <a:lstStyle/>
          <a:p>
            <a:r>
              <a:rPr lang="en-US" dirty="0"/>
              <a:t>Dataset Understanding</a:t>
            </a:r>
            <a:endParaRPr lang="en-IN" dirty="0"/>
          </a:p>
        </p:txBody>
      </p:sp>
      <p:sp>
        <p:nvSpPr>
          <p:cNvPr id="3" name="Content Placeholder 2">
            <a:extLst>
              <a:ext uri="{FF2B5EF4-FFF2-40B4-BE49-F238E27FC236}">
                <a16:creationId xmlns:a16="http://schemas.microsoft.com/office/drawing/2014/main" id="{273C3B42-754A-D1C7-9349-76E8D5FB83A1}"/>
              </a:ext>
            </a:extLst>
          </p:cNvPr>
          <p:cNvSpPr>
            <a:spLocks noGrp="1"/>
          </p:cNvSpPr>
          <p:nvPr>
            <p:ph idx="1"/>
          </p:nvPr>
        </p:nvSpPr>
        <p:spPr>
          <a:xfrm>
            <a:off x="900635" y="882171"/>
            <a:ext cx="11025894" cy="5400641"/>
          </a:xfrm>
        </p:spPr>
        <p:txBody>
          <a:bodyPr/>
          <a:lstStyle/>
          <a:p>
            <a:r>
              <a:rPr lang="en-US" b="1" dirty="0"/>
              <a:t>Overview</a:t>
            </a:r>
          </a:p>
          <a:p>
            <a:r>
              <a:rPr lang="en-US" dirty="0"/>
              <a:t>The dataset used in this project contains detailed records of solar photovoltaic (PV) installations, including system specifications, geographic information, utility data, and estimated energy production. Each row represents an individual solar project or installation, providing insights into factors that influence solar energy generation.</a:t>
            </a:r>
          </a:p>
          <a:p>
            <a:r>
              <a:rPr lang="en-US" dirty="0"/>
              <a:t>The dataset consists of </a:t>
            </a:r>
            <a:r>
              <a:rPr lang="en-US" b="1" dirty="0"/>
              <a:t>188,452 records</a:t>
            </a:r>
            <a:r>
              <a:rPr lang="en-US" dirty="0"/>
              <a:t>, making it a large-scale, real-world dataset suitable for building robust machine learning models for solar energy prediction.</a:t>
            </a:r>
          </a:p>
          <a:p>
            <a:r>
              <a:rPr lang="en-US" b="1" dirty="0"/>
              <a:t>Dataset Structure</a:t>
            </a:r>
          </a:p>
          <a:p>
            <a:r>
              <a:rPr lang="en-US" b="1" dirty="0"/>
              <a:t>Total Records:</a:t>
            </a:r>
            <a:r>
              <a:rPr lang="en-US" dirty="0"/>
              <a:t> 188,452 </a:t>
            </a:r>
          </a:p>
          <a:p>
            <a:r>
              <a:rPr lang="en-US" b="1" dirty="0"/>
              <a:t>Total Features:</a:t>
            </a:r>
            <a:r>
              <a:rPr lang="en-US" dirty="0"/>
              <a:t> 17 </a:t>
            </a:r>
          </a:p>
          <a:p>
            <a:r>
              <a:rPr lang="en-US" b="1" dirty="0"/>
              <a:t>Data Types:</a:t>
            </a:r>
            <a:r>
              <a:rPr lang="en-US" dirty="0"/>
              <a:t> </a:t>
            </a:r>
          </a:p>
          <a:p>
            <a:pPr lvl="1"/>
            <a:r>
              <a:rPr lang="en-US" dirty="0"/>
              <a:t>Numerical: System sizes, energy production </a:t>
            </a:r>
          </a:p>
          <a:p>
            <a:pPr lvl="1"/>
            <a:r>
              <a:rPr lang="en-US" dirty="0"/>
              <a:t>Categorical: Utility, developer, location </a:t>
            </a:r>
          </a:p>
          <a:p>
            <a:pPr lvl="1"/>
            <a:r>
              <a:rPr lang="en-US" dirty="0"/>
              <a:t>Date: Installation and reporting dates</a:t>
            </a:r>
          </a:p>
          <a:p>
            <a:endParaRPr lang="en-IN" dirty="0"/>
          </a:p>
        </p:txBody>
      </p:sp>
    </p:spTree>
    <p:extLst>
      <p:ext uri="{BB962C8B-B14F-4D97-AF65-F5344CB8AC3E}">
        <p14:creationId xmlns:p14="http://schemas.microsoft.com/office/powerpoint/2010/main" val="105793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D8D2B6-E53B-59D0-2C30-8ED9D092BB85}"/>
              </a:ext>
            </a:extLst>
          </p:cNvPr>
          <p:cNvSpPr>
            <a:spLocks noGrp="1"/>
          </p:cNvSpPr>
          <p:nvPr>
            <p:ph idx="1"/>
          </p:nvPr>
        </p:nvSpPr>
        <p:spPr>
          <a:xfrm>
            <a:off x="851472" y="184082"/>
            <a:ext cx="10966901" cy="6138060"/>
          </a:xfrm>
        </p:spPr>
        <p:txBody>
          <a:bodyPr>
            <a:normAutofit fontScale="25000" lnSpcReduction="20000"/>
          </a:bodyPr>
          <a:lstStyle/>
          <a:p>
            <a:r>
              <a:rPr lang="en-US" sz="5600" b="1" dirty="0"/>
              <a:t>Feature Description</a:t>
            </a:r>
          </a:p>
          <a:p>
            <a:r>
              <a:rPr lang="en-US" sz="5600" b="1" dirty="0"/>
              <a:t> 1. Temporal Features</a:t>
            </a:r>
          </a:p>
          <a:p>
            <a:r>
              <a:rPr lang="en-US" sz="5600" b="1" dirty="0"/>
              <a:t>Data Through Date</a:t>
            </a:r>
            <a:br>
              <a:rPr lang="en-US" sz="5600" dirty="0"/>
            </a:br>
            <a:r>
              <a:rPr lang="en-US" sz="5600" dirty="0"/>
              <a:t>Indicates the last update or reporting date of the dataset </a:t>
            </a:r>
          </a:p>
          <a:p>
            <a:r>
              <a:rPr lang="en-US" sz="5600" b="1" dirty="0"/>
              <a:t>Interconnection Date</a:t>
            </a:r>
            <a:br>
              <a:rPr lang="en-US" sz="5600" dirty="0"/>
            </a:br>
            <a:r>
              <a:rPr lang="en-US" sz="5600" dirty="0"/>
              <a:t>Represents the date when the solar system was connected to the grid </a:t>
            </a:r>
          </a:p>
          <a:p>
            <a:r>
              <a:rPr lang="en-US" sz="5600" dirty="0"/>
              <a:t>These features help capture </a:t>
            </a:r>
            <a:r>
              <a:rPr lang="en-US" sz="5600" b="1" dirty="0"/>
              <a:t>time-based trends and adoption patterns</a:t>
            </a:r>
            <a:r>
              <a:rPr lang="en-US" sz="5600" dirty="0"/>
              <a:t>.</a:t>
            </a:r>
          </a:p>
          <a:p>
            <a:r>
              <a:rPr lang="en-US" sz="5600" b="1" dirty="0"/>
              <a:t>2. Project Identification</a:t>
            </a:r>
          </a:p>
          <a:p>
            <a:r>
              <a:rPr lang="en-US" sz="5600" b="1" dirty="0"/>
              <a:t>Project ID</a:t>
            </a:r>
            <a:br>
              <a:rPr lang="en-US" sz="5600" dirty="0"/>
            </a:br>
            <a:r>
              <a:rPr lang="en-US" sz="5600" dirty="0"/>
              <a:t>Unique identifier for each solar installation </a:t>
            </a:r>
          </a:p>
          <a:p>
            <a:r>
              <a:rPr lang="en-US" sz="5600" b="1" dirty="0"/>
              <a:t>Number of Projects</a:t>
            </a:r>
            <a:br>
              <a:rPr lang="en-US" sz="5600" dirty="0"/>
            </a:br>
            <a:r>
              <a:rPr lang="en-US" sz="5600" dirty="0"/>
              <a:t>Indicates grouped or aggregated project counts</a:t>
            </a:r>
          </a:p>
          <a:p>
            <a:r>
              <a:rPr lang="en-US" sz="5600" b="1" dirty="0"/>
              <a:t>3. Utility &amp; Grid Information</a:t>
            </a:r>
          </a:p>
          <a:p>
            <a:r>
              <a:rPr lang="en-US" sz="5600" b="1" dirty="0"/>
              <a:t>Utility</a:t>
            </a:r>
            <a:br>
              <a:rPr lang="en-US" sz="5600" dirty="0"/>
            </a:br>
            <a:r>
              <a:rPr lang="en-US" sz="5600" dirty="0"/>
              <a:t>Name of the electricity provider </a:t>
            </a:r>
          </a:p>
          <a:p>
            <a:r>
              <a:rPr lang="en-US" sz="5600" b="1" dirty="0"/>
              <a:t>Division</a:t>
            </a:r>
            <a:r>
              <a:rPr lang="en-US" sz="5600" dirty="0"/>
              <a:t> </a:t>
            </a:r>
            <a:r>
              <a:rPr lang="en-US" sz="5600" i="1" dirty="0"/>
              <a:t>(partially missing)</a:t>
            </a:r>
            <a:br>
              <a:rPr lang="en-US" sz="5600" dirty="0"/>
            </a:br>
            <a:r>
              <a:rPr lang="en-US" sz="5600" dirty="0"/>
              <a:t>Subdivision of the utility </a:t>
            </a:r>
          </a:p>
          <a:p>
            <a:r>
              <a:rPr lang="en-US" sz="5600" b="1" dirty="0"/>
              <a:t>Substation</a:t>
            </a:r>
            <a:r>
              <a:rPr lang="en-US" sz="5600" dirty="0"/>
              <a:t> </a:t>
            </a:r>
            <a:r>
              <a:rPr lang="en-US" sz="5600" i="1" dirty="0"/>
              <a:t>(partially missing)</a:t>
            </a:r>
            <a:br>
              <a:rPr lang="en-US" sz="5600" dirty="0"/>
            </a:br>
            <a:r>
              <a:rPr lang="en-US" sz="5600" dirty="0"/>
              <a:t>Grid connection point </a:t>
            </a:r>
          </a:p>
          <a:p>
            <a:r>
              <a:rPr lang="en-US" sz="5600" b="1" dirty="0"/>
              <a:t>Circuit ID</a:t>
            </a:r>
            <a:br>
              <a:rPr lang="en-US" sz="5600" dirty="0"/>
            </a:br>
            <a:r>
              <a:rPr lang="en-US" sz="5600" dirty="0"/>
              <a:t>Identifier for the electrical circuit </a:t>
            </a:r>
          </a:p>
          <a:p>
            <a:r>
              <a:rPr lang="en-US" sz="5600" b="1" dirty="0"/>
              <a:t>Metering Method</a:t>
            </a:r>
            <a:br>
              <a:rPr lang="en-US" sz="5600" dirty="0"/>
            </a:br>
            <a:r>
              <a:rPr lang="en-US" sz="5600" dirty="0"/>
              <a:t>Type of metering used (e.g., net metering) </a:t>
            </a:r>
          </a:p>
          <a:p>
            <a:r>
              <a:rPr lang="en-US" sz="5600" dirty="0"/>
              <a:t>These features provide insights into </a:t>
            </a:r>
            <a:r>
              <a:rPr lang="en-US" sz="5600" b="1" dirty="0"/>
              <a:t>grid infrastructure and operational setup</a:t>
            </a:r>
            <a:r>
              <a:rPr lang="en-US" sz="5600" dirty="0"/>
              <a:t>.</a:t>
            </a:r>
          </a:p>
          <a:p>
            <a:endParaRPr lang="en-IN" dirty="0"/>
          </a:p>
        </p:txBody>
      </p:sp>
    </p:spTree>
    <p:extLst>
      <p:ext uri="{BB962C8B-B14F-4D97-AF65-F5344CB8AC3E}">
        <p14:creationId xmlns:p14="http://schemas.microsoft.com/office/powerpoint/2010/main" val="2154153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92C9BD-A11E-4A33-517A-689D839261E7}"/>
              </a:ext>
            </a:extLst>
          </p:cNvPr>
          <p:cNvSpPr>
            <a:spLocks noGrp="1"/>
          </p:cNvSpPr>
          <p:nvPr>
            <p:ph idx="1"/>
          </p:nvPr>
        </p:nvSpPr>
        <p:spPr>
          <a:xfrm>
            <a:off x="654828" y="144753"/>
            <a:ext cx="11065224" cy="6147892"/>
          </a:xfrm>
        </p:spPr>
        <p:txBody>
          <a:bodyPr/>
          <a:lstStyle/>
          <a:p>
            <a:r>
              <a:rPr lang="en-IN" b="1" dirty="0"/>
              <a:t>4. Location-Based Features</a:t>
            </a:r>
          </a:p>
          <a:p>
            <a:r>
              <a:rPr lang="en-IN" dirty="0"/>
              <a:t>City/Town, County, </a:t>
            </a:r>
            <a:r>
              <a:rPr lang="en-IN" dirty="0" err="1"/>
              <a:t>Zipcode</a:t>
            </a:r>
            <a:r>
              <a:rPr lang="en-IN" dirty="0"/>
              <a:t> -</a:t>
            </a:r>
            <a:r>
              <a:rPr lang="en-US" dirty="0"/>
              <a:t>These features help capture </a:t>
            </a:r>
            <a:r>
              <a:rPr lang="en-US" b="1" dirty="0"/>
              <a:t>geographical variation</a:t>
            </a:r>
            <a:r>
              <a:rPr lang="en-US" dirty="0"/>
              <a:t>, which is crucial for solar energy prediction due to differences in sunlight exposure and climate.</a:t>
            </a:r>
          </a:p>
          <a:p>
            <a:r>
              <a:rPr lang="en-IN" b="1" dirty="0"/>
              <a:t>5. Developer Information</a:t>
            </a:r>
          </a:p>
          <a:p>
            <a:r>
              <a:rPr lang="en-US" dirty="0"/>
              <a:t>Indicates the company responsible for installation-This feature can reflect </a:t>
            </a:r>
            <a:r>
              <a:rPr lang="en-US" b="1" dirty="0"/>
              <a:t>quality, efficiency, and installation practices</a:t>
            </a:r>
            <a:r>
              <a:rPr lang="en-US" dirty="0"/>
              <a:t>.</a:t>
            </a:r>
          </a:p>
          <a:p>
            <a:r>
              <a:rPr lang="en-IN" b="1" dirty="0"/>
              <a:t>6. System Specifications</a:t>
            </a:r>
          </a:p>
          <a:p>
            <a:r>
              <a:rPr lang="en-US" dirty="0"/>
              <a:t>Estimated PV System Size (</a:t>
            </a:r>
            <a:r>
              <a:rPr lang="en-US" dirty="0" err="1"/>
              <a:t>kWdc</a:t>
            </a:r>
            <a:r>
              <a:rPr lang="en-US" dirty="0"/>
              <a:t>) &amp; </a:t>
            </a:r>
            <a:r>
              <a:rPr lang="en-IN" dirty="0"/>
              <a:t>PV System Size (</a:t>
            </a:r>
            <a:r>
              <a:rPr lang="en-IN" dirty="0" err="1"/>
              <a:t>kWac</a:t>
            </a:r>
            <a:r>
              <a:rPr lang="en-IN" dirty="0"/>
              <a:t>)-</a:t>
            </a:r>
            <a:r>
              <a:rPr lang="en-US" dirty="0"/>
              <a:t>These are critical features as they directly influence energy production.</a:t>
            </a:r>
          </a:p>
          <a:p>
            <a:r>
              <a:rPr lang="en-IN" dirty="0"/>
              <a:t>7. </a:t>
            </a:r>
            <a:r>
              <a:rPr lang="en-IN" b="1" dirty="0"/>
              <a:t>Energy Output (Target Variable)</a:t>
            </a:r>
          </a:p>
          <a:p>
            <a:r>
              <a:rPr lang="en-US" dirty="0"/>
              <a:t>Estimated Annual PV Energy Production (kWh)-Represents the expected yearly energy generation</a:t>
            </a:r>
          </a:p>
          <a:p>
            <a:r>
              <a:rPr lang="en-US" dirty="0"/>
              <a:t>This is the </a:t>
            </a:r>
            <a:r>
              <a:rPr lang="en-US" b="1" dirty="0"/>
              <a:t>target variable</a:t>
            </a:r>
            <a:r>
              <a:rPr lang="en-US" dirty="0"/>
              <a:t> used for prediction in the machine learning model.</a:t>
            </a:r>
          </a:p>
          <a:p>
            <a:r>
              <a:rPr lang="en-IN" b="1" dirty="0"/>
              <a:t>8. Energy Storage Feature</a:t>
            </a:r>
            <a:br>
              <a:rPr lang="en-US" dirty="0"/>
            </a:br>
            <a:r>
              <a:rPr lang="en-IN" dirty="0"/>
              <a:t>Energy Storage System Size (</a:t>
            </a:r>
            <a:r>
              <a:rPr lang="en-IN" dirty="0" err="1"/>
              <a:t>kWac</a:t>
            </a:r>
            <a:r>
              <a:rPr lang="en-IN" dirty="0"/>
              <a:t>)-</a:t>
            </a:r>
            <a:r>
              <a:rPr lang="en-US" dirty="0"/>
              <a:t>Indicates battery/storage capacity where available</a:t>
            </a:r>
          </a:p>
          <a:p>
            <a:endParaRPr lang="en-IN" b="1" dirty="0"/>
          </a:p>
        </p:txBody>
      </p:sp>
    </p:spTree>
    <p:extLst>
      <p:ext uri="{BB962C8B-B14F-4D97-AF65-F5344CB8AC3E}">
        <p14:creationId xmlns:p14="http://schemas.microsoft.com/office/powerpoint/2010/main" val="4080453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1A83C-41DF-9D97-A665-A5EFEFE3AECD}"/>
              </a:ext>
            </a:extLst>
          </p:cNvPr>
          <p:cNvSpPr>
            <a:spLocks noGrp="1"/>
          </p:cNvSpPr>
          <p:nvPr>
            <p:ph idx="1"/>
          </p:nvPr>
        </p:nvSpPr>
        <p:spPr>
          <a:xfrm>
            <a:off x="285135" y="108155"/>
            <a:ext cx="11572568" cy="6213987"/>
          </a:xfrm>
        </p:spPr>
        <p:txBody>
          <a:bodyPr/>
          <a:lstStyle/>
          <a:p>
            <a:r>
              <a:rPr lang="en-IN" b="1" dirty="0"/>
              <a:t>Data Quality Observations:</a:t>
            </a:r>
          </a:p>
          <a:p>
            <a:r>
              <a:rPr lang="en-US" b="1" dirty="0"/>
              <a:t>Missing Values Present In:</a:t>
            </a:r>
            <a:r>
              <a:rPr lang="en-US" dirty="0"/>
              <a:t> </a:t>
            </a:r>
          </a:p>
          <a:p>
            <a:pPr lvl="1"/>
            <a:r>
              <a:rPr lang="en-US" dirty="0"/>
              <a:t>Division </a:t>
            </a:r>
          </a:p>
          <a:p>
            <a:pPr lvl="1"/>
            <a:r>
              <a:rPr lang="en-US" dirty="0"/>
              <a:t>Substation </a:t>
            </a:r>
          </a:p>
          <a:p>
            <a:pPr lvl="1"/>
            <a:r>
              <a:rPr lang="en-US" dirty="0"/>
              <a:t>Developer </a:t>
            </a:r>
          </a:p>
          <a:p>
            <a:pPr lvl="1"/>
            <a:r>
              <a:rPr lang="en-US" dirty="0"/>
              <a:t>City/Town </a:t>
            </a:r>
          </a:p>
          <a:p>
            <a:pPr lvl="1"/>
            <a:r>
              <a:rPr lang="en-US" dirty="0"/>
              <a:t>Zip Code </a:t>
            </a:r>
          </a:p>
          <a:p>
            <a:pPr lvl="1"/>
            <a:r>
              <a:rPr lang="en-US" dirty="0"/>
              <a:t>Energy Storage System Size (majority missing) </a:t>
            </a:r>
          </a:p>
          <a:p>
            <a:r>
              <a:rPr lang="en-US" b="1" dirty="0"/>
              <a:t>High Sparsity:</a:t>
            </a:r>
            <a:r>
              <a:rPr lang="en-US" dirty="0"/>
              <a:t> </a:t>
            </a:r>
          </a:p>
          <a:p>
            <a:pPr lvl="1"/>
            <a:r>
              <a:rPr lang="en-US" dirty="0"/>
              <a:t>Energy storage data is available for only a small subset (~3,500 records) </a:t>
            </a:r>
          </a:p>
          <a:p>
            <a:r>
              <a:rPr lang="en-US" b="1" dirty="0"/>
              <a:t>Data Type Issues:</a:t>
            </a:r>
            <a:r>
              <a:rPr lang="en-US" dirty="0"/>
              <a:t> </a:t>
            </a:r>
          </a:p>
          <a:p>
            <a:pPr lvl="1"/>
            <a:r>
              <a:rPr lang="en-US" dirty="0"/>
              <a:t>Date columns stored as objects need conversion to datetime </a:t>
            </a:r>
          </a:p>
          <a:p>
            <a:endParaRPr lang="en-IN" b="1" dirty="0"/>
          </a:p>
        </p:txBody>
      </p:sp>
    </p:spTree>
    <p:extLst>
      <p:ext uri="{BB962C8B-B14F-4D97-AF65-F5344CB8AC3E}">
        <p14:creationId xmlns:p14="http://schemas.microsoft.com/office/powerpoint/2010/main" val="1295211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405B5-2C6A-8AFF-B06A-592F58CEBF8D}"/>
              </a:ext>
            </a:extLst>
          </p:cNvPr>
          <p:cNvSpPr>
            <a:spLocks noGrp="1"/>
          </p:cNvSpPr>
          <p:nvPr>
            <p:ph type="title"/>
          </p:nvPr>
        </p:nvSpPr>
        <p:spPr>
          <a:xfrm>
            <a:off x="1066800" y="70293"/>
            <a:ext cx="9925665" cy="608133"/>
          </a:xfrm>
        </p:spPr>
        <p:txBody>
          <a:bodyPr>
            <a:normAutofit fontScale="90000"/>
          </a:bodyPr>
          <a:lstStyle/>
          <a:p>
            <a:r>
              <a:rPr lang="en-IN" dirty="0"/>
              <a:t>Data Cleaning &amp; Preprocessing:</a:t>
            </a:r>
          </a:p>
        </p:txBody>
      </p:sp>
      <p:sp>
        <p:nvSpPr>
          <p:cNvPr id="3" name="Content Placeholder 2">
            <a:extLst>
              <a:ext uri="{FF2B5EF4-FFF2-40B4-BE49-F238E27FC236}">
                <a16:creationId xmlns:a16="http://schemas.microsoft.com/office/drawing/2014/main" id="{B7E39A54-A8D8-E4F9-6FF2-388ADD9E8214}"/>
              </a:ext>
            </a:extLst>
          </p:cNvPr>
          <p:cNvSpPr>
            <a:spLocks noGrp="1"/>
          </p:cNvSpPr>
          <p:nvPr>
            <p:ph idx="1"/>
          </p:nvPr>
        </p:nvSpPr>
        <p:spPr>
          <a:xfrm>
            <a:off x="1000432" y="872340"/>
            <a:ext cx="10798278" cy="5361311"/>
          </a:xfrm>
        </p:spPr>
        <p:txBody>
          <a:bodyPr/>
          <a:lstStyle/>
          <a:p>
            <a:r>
              <a:rPr lang="en-US" dirty="0"/>
              <a:t>The data cleaning and preprocessing phase plays a critical role in ensuring that the dataset is </a:t>
            </a:r>
            <a:r>
              <a:rPr lang="en-US" b="1" dirty="0"/>
              <a:t>accurate, consistent, and suitable for machine learning modeling</a:t>
            </a:r>
            <a:r>
              <a:rPr lang="en-US" dirty="0"/>
              <a:t>. Given the large size of the dataset (188K+ records) and the presence of missing values, categorical inconsistencies, and date fields, a structured preprocessing pipeline was implemented.</a:t>
            </a:r>
          </a:p>
          <a:p>
            <a:r>
              <a:rPr lang="en-US" dirty="0"/>
              <a:t>Before applying transformations, the dataset was analyzed to identify:</a:t>
            </a:r>
          </a:p>
          <a:p>
            <a:r>
              <a:rPr lang="en-US" dirty="0"/>
              <a:t>Missing values across multiple columns </a:t>
            </a:r>
          </a:p>
          <a:p>
            <a:r>
              <a:rPr lang="en-US" dirty="0"/>
              <a:t>Duplicate records </a:t>
            </a:r>
          </a:p>
          <a:p>
            <a:r>
              <a:rPr lang="en-US" dirty="0"/>
              <a:t>Incorrect data types (especially date fields) </a:t>
            </a:r>
          </a:p>
          <a:p>
            <a:r>
              <a:rPr lang="en-US" dirty="0"/>
              <a:t>Sparse features with limited usability</a:t>
            </a:r>
          </a:p>
          <a:p>
            <a:r>
              <a:rPr lang="en-IN" b="1" dirty="0"/>
              <a:t>Data Cleaning Steps done in this project:</a:t>
            </a:r>
          </a:p>
          <a:p>
            <a:r>
              <a:rPr lang="en-IN" b="1" dirty="0"/>
              <a:t>1. Handling Missing Values</a:t>
            </a:r>
          </a:p>
          <a:p>
            <a:r>
              <a:rPr lang="en-US" dirty="0"/>
              <a:t>The dataset contained missing values in several columns such as: Division, Substation, Developer, City/Town, Zip Code, Energy Storage System Size</a:t>
            </a:r>
          </a:p>
          <a:p>
            <a:endParaRPr lang="en-IN" b="1" dirty="0"/>
          </a:p>
        </p:txBody>
      </p:sp>
    </p:spTree>
    <p:extLst>
      <p:ext uri="{BB962C8B-B14F-4D97-AF65-F5344CB8AC3E}">
        <p14:creationId xmlns:p14="http://schemas.microsoft.com/office/powerpoint/2010/main" val="3990924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187CB-9C80-8892-E150-48760C6C9238}"/>
              </a:ext>
            </a:extLst>
          </p:cNvPr>
          <p:cNvSpPr>
            <a:spLocks noGrp="1"/>
          </p:cNvSpPr>
          <p:nvPr>
            <p:ph idx="1"/>
          </p:nvPr>
        </p:nvSpPr>
        <p:spPr>
          <a:xfrm>
            <a:off x="235974" y="117987"/>
            <a:ext cx="11651226" cy="6145161"/>
          </a:xfrm>
        </p:spPr>
        <p:txBody>
          <a:bodyPr/>
          <a:lstStyle/>
          <a:p>
            <a:r>
              <a:rPr lang="en-US" b="1" dirty="0"/>
              <a:t>Categorical features</a:t>
            </a:r>
            <a:r>
              <a:rPr lang="en-US" dirty="0"/>
              <a:t> (e.g., Developer, City/Town): Filled using mode or labeled as "Unknown“</a:t>
            </a:r>
          </a:p>
          <a:p>
            <a:r>
              <a:rPr lang="en-US" b="1" dirty="0"/>
              <a:t>Numerical features</a:t>
            </a:r>
            <a:r>
              <a:rPr lang="en-US" dirty="0"/>
              <a:t> (e.g., Zip, storage size):</a:t>
            </a:r>
            <a:r>
              <a:rPr lang="en-IN" dirty="0"/>
              <a:t>Filled using median values</a:t>
            </a:r>
          </a:p>
          <a:p>
            <a:r>
              <a:rPr lang="en-US" b="1" dirty="0"/>
              <a:t>Highly sparse column (Energy Storage System Size):</a:t>
            </a:r>
            <a:r>
              <a:rPr lang="en-US" dirty="0"/>
              <a:t>Evaluated for relevance; either imputed cautiously or excluded due to excessive missing data</a:t>
            </a:r>
          </a:p>
          <a:p>
            <a:r>
              <a:rPr lang="en-IN" b="1" dirty="0"/>
              <a:t>2.  Removing Duplicates</a:t>
            </a:r>
          </a:p>
          <a:p>
            <a:r>
              <a:rPr lang="en-US" dirty="0"/>
              <a:t>Duplicate records were identified and removed to avoid bias and over-representation in model training.</a:t>
            </a:r>
          </a:p>
          <a:p>
            <a:r>
              <a:rPr lang="en-US" b="1" dirty="0"/>
              <a:t>3. Standardizing Categorical Variables</a:t>
            </a:r>
          </a:p>
          <a:p>
            <a:r>
              <a:rPr lang="en-IN" dirty="0"/>
              <a:t>Categorical columns such as: Utility, Developer &amp; City/Town were cleaned by </a:t>
            </a:r>
          </a:p>
          <a:p>
            <a:r>
              <a:rPr lang="en-IN" dirty="0"/>
              <a:t>Converting text to lowercase, Removing leading/trailing spaces &amp; Ensuring consistent naming</a:t>
            </a:r>
          </a:p>
          <a:p>
            <a:r>
              <a:rPr lang="en-IN" b="1" dirty="0"/>
              <a:t>4. Date Conversion &amp; Feature Extraction</a:t>
            </a:r>
          </a:p>
          <a:p>
            <a:r>
              <a:rPr lang="en-IN" dirty="0"/>
              <a:t>Data Through Date &amp; Interconnection Date </a:t>
            </a:r>
            <a:r>
              <a:rPr lang="en-US" dirty="0"/>
              <a:t>were converted from object type to datetime format.</a:t>
            </a:r>
          </a:p>
          <a:p>
            <a:r>
              <a:rPr lang="en-US" dirty="0"/>
              <a:t>From these, new features were derived: </a:t>
            </a:r>
            <a:r>
              <a:rPr lang="en-IN" dirty="0"/>
              <a:t>Year, Month, Day &amp; Day of Week </a:t>
            </a:r>
            <a:r>
              <a:rPr lang="en-US" dirty="0"/>
              <a:t>These features help capture temporal patterns in solar adoption and energy trends.</a:t>
            </a:r>
          </a:p>
        </p:txBody>
      </p:sp>
    </p:spTree>
    <p:extLst>
      <p:ext uri="{BB962C8B-B14F-4D97-AF65-F5344CB8AC3E}">
        <p14:creationId xmlns:p14="http://schemas.microsoft.com/office/powerpoint/2010/main" val="2112377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02A4DC-7A9C-37EE-C457-E9DE03184C61}"/>
              </a:ext>
            </a:extLst>
          </p:cNvPr>
          <p:cNvSpPr>
            <a:spLocks noGrp="1"/>
          </p:cNvSpPr>
          <p:nvPr>
            <p:ph idx="1"/>
          </p:nvPr>
        </p:nvSpPr>
        <p:spPr>
          <a:xfrm>
            <a:off x="245806" y="117987"/>
            <a:ext cx="11641394" cy="6125497"/>
          </a:xfrm>
        </p:spPr>
        <p:txBody>
          <a:bodyPr>
            <a:normAutofit lnSpcReduction="10000"/>
          </a:bodyPr>
          <a:lstStyle/>
          <a:p>
            <a:r>
              <a:rPr lang="en-IN" b="1" dirty="0"/>
              <a:t>5. Outlier Detection &amp; Handling</a:t>
            </a:r>
          </a:p>
          <a:p>
            <a:r>
              <a:rPr lang="en-US" dirty="0"/>
              <a:t>Outliers were analyzed using statistical techniques such as the </a:t>
            </a:r>
            <a:r>
              <a:rPr lang="en-US" b="1" dirty="0"/>
              <a:t>Interquartile Range (IQR)</a:t>
            </a:r>
            <a:r>
              <a:rPr lang="en-US" dirty="0"/>
              <a:t> method.</a:t>
            </a:r>
          </a:p>
          <a:p>
            <a:r>
              <a:rPr lang="en-US" dirty="0"/>
              <a:t>Extreme values in system size and energy production were reviewed</a:t>
            </a:r>
          </a:p>
          <a:p>
            <a:r>
              <a:rPr lang="en-US" dirty="0"/>
              <a:t>Only unrealistic or erroneous outliers were removed</a:t>
            </a:r>
          </a:p>
          <a:p>
            <a:r>
              <a:rPr lang="en-US" dirty="0"/>
              <a:t>Legitimate high-production values were retained to preserve real-world behavior </a:t>
            </a:r>
          </a:p>
          <a:p>
            <a:r>
              <a:rPr lang="en-IN" b="1" dirty="0"/>
              <a:t>6. Feature Encoding</a:t>
            </a:r>
          </a:p>
          <a:p>
            <a:r>
              <a:rPr lang="en-US" dirty="0"/>
              <a:t>Categorical variables were transformed into numerical format using:</a:t>
            </a:r>
          </a:p>
          <a:p>
            <a:r>
              <a:rPr lang="en-US" b="1" dirty="0"/>
              <a:t>One-Hot Encoding</a:t>
            </a:r>
            <a:r>
              <a:rPr lang="en-US" dirty="0"/>
              <a:t> for nominal categories</a:t>
            </a:r>
          </a:p>
          <a:p>
            <a:r>
              <a:rPr lang="en-IN" dirty="0"/>
              <a:t>Label encoding where appropriate</a:t>
            </a:r>
          </a:p>
          <a:p>
            <a:r>
              <a:rPr lang="en-IN" b="1" dirty="0"/>
              <a:t>7. Feature Scaling</a:t>
            </a:r>
          </a:p>
          <a:p>
            <a:r>
              <a:rPr lang="en-IN" dirty="0"/>
              <a:t>Numerical features such as: </a:t>
            </a:r>
            <a:r>
              <a:rPr lang="pl-PL" dirty="0"/>
              <a:t>PV system size (kWdc/kWac)</a:t>
            </a:r>
            <a:r>
              <a:rPr lang="en-US" dirty="0"/>
              <a:t> &amp; </a:t>
            </a:r>
            <a:r>
              <a:rPr lang="en-IN" dirty="0"/>
              <a:t>Energy-related variables</a:t>
            </a:r>
            <a:r>
              <a:rPr lang="en-US" dirty="0"/>
              <a:t>were standardized using scaling techniques to improve model performance</a:t>
            </a:r>
          </a:p>
          <a:p>
            <a:r>
              <a:rPr lang="en-US" b="1" dirty="0"/>
              <a:t>8. Feature Selection / Dropping Irrelevant Columns</a:t>
            </a:r>
          </a:p>
          <a:p>
            <a:r>
              <a:rPr lang="en-US" dirty="0"/>
              <a:t>Certain columns were removed due to:</a:t>
            </a:r>
            <a:r>
              <a:rPr lang="en-IN" dirty="0"/>
              <a:t>High missing values, Low predictive importance &amp; Redundancy like </a:t>
            </a:r>
            <a:r>
              <a:rPr lang="en-US" dirty="0"/>
              <a:t>Project ID (identifier, no predictive value)</a:t>
            </a:r>
            <a:endParaRPr lang="en-IN" b="1" dirty="0"/>
          </a:p>
        </p:txBody>
      </p:sp>
    </p:spTree>
    <p:extLst>
      <p:ext uri="{BB962C8B-B14F-4D97-AF65-F5344CB8AC3E}">
        <p14:creationId xmlns:p14="http://schemas.microsoft.com/office/powerpoint/2010/main" val="4265118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CB188-21F7-24B9-9DBD-B0E740918469}"/>
              </a:ext>
            </a:extLst>
          </p:cNvPr>
          <p:cNvSpPr>
            <a:spLocks noGrp="1"/>
          </p:cNvSpPr>
          <p:nvPr>
            <p:ph type="title"/>
          </p:nvPr>
        </p:nvSpPr>
        <p:spPr>
          <a:xfrm>
            <a:off x="698090" y="78659"/>
            <a:ext cx="8986684" cy="540773"/>
          </a:xfrm>
        </p:spPr>
        <p:txBody>
          <a:bodyPr>
            <a:normAutofit fontScale="90000"/>
          </a:bodyPr>
          <a:lstStyle/>
          <a:p>
            <a:r>
              <a:rPr lang="en-US" dirty="0"/>
              <a:t>		Feature Engineering</a:t>
            </a:r>
            <a:endParaRPr lang="en-IN" dirty="0"/>
          </a:p>
        </p:txBody>
      </p:sp>
      <p:sp>
        <p:nvSpPr>
          <p:cNvPr id="3" name="Content Placeholder 2">
            <a:extLst>
              <a:ext uri="{FF2B5EF4-FFF2-40B4-BE49-F238E27FC236}">
                <a16:creationId xmlns:a16="http://schemas.microsoft.com/office/drawing/2014/main" id="{A60506D2-7609-AA8F-53CB-8855B8DBAB21}"/>
              </a:ext>
            </a:extLst>
          </p:cNvPr>
          <p:cNvSpPr>
            <a:spLocks noGrp="1"/>
          </p:cNvSpPr>
          <p:nvPr>
            <p:ph idx="1"/>
          </p:nvPr>
        </p:nvSpPr>
        <p:spPr>
          <a:xfrm>
            <a:off x="540773" y="717755"/>
            <a:ext cx="11139949" cy="5584722"/>
          </a:xfrm>
        </p:spPr>
        <p:txBody>
          <a:bodyPr/>
          <a:lstStyle/>
          <a:p>
            <a:r>
              <a:rPr lang="en-US" dirty="0"/>
              <a:t>Feature engineering was applied to transform raw solar installation data into more informative and model-friendly features. The focus was on capturing system efficiency, temporal patterns, data normalization, and reducing noise/complexity to improve predictive performance. </a:t>
            </a:r>
          </a:p>
          <a:p>
            <a:r>
              <a:rPr lang="en-IN" b="1" dirty="0"/>
              <a:t>1. Energy Efficiency Feature</a:t>
            </a:r>
          </a:p>
          <a:p>
            <a:r>
              <a:rPr lang="en-US" b="1" dirty="0"/>
              <a:t>Feature Created: </a:t>
            </a:r>
            <a:r>
              <a:rPr lang="en-US" dirty="0" err="1"/>
              <a:t>energy_per_kw</a:t>
            </a:r>
            <a:r>
              <a:rPr lang="en-US" dirty="0"/>
              <a:t> = </a:t>
            </a:r>
            <a:r>
              <a:rPr lang="en-US" dirty="0" err="1"/>
              <a:t>annual_energy</a:t>
            </a:r>
            <a:r>
              <a:rPr lang="en-US" dirty="0"/>
              <a:t> / </a:t>
            </a:r>
            <a:r>
              <a:rPr lang="en-US" dirty="0" err="1"/>
              <a:t>capacity_kw</a:t>
            </a:r>
            <a:endParaRPr lang="en-US" dirty="0"/>
          </a:p>
          <a:p>
            <a:r>
              <a:rPr lang="en-US" dirty="0"/>
              <a:t>Raw energy (</a:t>
            </a:r>
            <a:r>
              <a:rPr lang="en-US" dirty="0" err="1"/>
              <a:t>annual_energy</a:t>
            </a:r>
            <a:r>
              <a:rPr lang="en-US" dirty="0"/>
              <a:t>) scales with system size (</a:t>
            </a:r>
            <a:r>
              <a:rPr lang="en-US" dirty="0" err="1"/>
              <a:t>capacity_kw</a:t>
            </a:r>
            <a:r>
              <a:rPr lang="en-US" dirty="0"/>
              <a:t>). Larger systems naturally produce more energy, which can bias the model. By normalizing energy with capacity, we measure </a:t>
            </a:r>
            <a:r>
              <a:rPr lang="en-US" b="1" dirty="0"/>
              <a:t>efficiency rather than scale</a:t>
            </a:r>
            <a:r>
              <a:rPr lang="en-US" dirty="0"/>
              <a:t>.</a:t>
            </a:r>
          </a:p>
          <a:p>
            <a:r>
              <a:rPr lang="en-US" b="1" dirty="0"/>
              <a:t>2. Temporal Features from Interconnection Date</a:t>
            </a:r>
          </a:p>
          <a:p>
            <a:r>
              <a:rPr lang="en-US" b="1" dirty="0"/>
              <a:t>Features Created:</a:t>
            </a:r>
            <a:endParaRPr lang="en-US" dirty="0"/>
          </a:p>
          <a:p>
            <a:r>
              <a:rPr lang="en-US" b="1" dirty="0"/>
              <a:t>year</a:t>
            </a:r>
            <a:r>
              <a:rPr lang="en-US" dirty="0"/>
              <a:t> = Interconnection </a:t>
            </a:r>
            <a:r>
              <a:rPr lang="en-US" dirty="0" err="1"/>
              <a:t>Date.year</a:t>
            </a:r>
            <a:r>
              <a:rPr lang="en-US" dirty="0"/>
              <a:t> captures </a:t>
            </a:r>
            <a:r>
              <a:rPr lang="en-US" b="1" dirty="0"/>
              <a:t>long-term trends and adoption growth</a:t>
            </a:r>
            <a:endParaRPr lang="en-US" dirty="0"/>
          </a:p>
          <a:p>
            <a:r>
              <a:rPr lang="en-US" b="1" dirty="0"/>
              <a:t>month</a:t>
            </a:r>
            <a:r>
              <a:rPr lang="en-US" dirty="0"/>
              <a:t> = Interconnection </a:t>
            </a:r>
            <a:r>
              <a:rPr lang="en-US" dirty="0" err="1"/>
              <a:t>Date.month</a:t>
            </a:r>
            <a:r>
              <a:rPr lang="en-US" dirty="0"/>
              <a:t> captures </a:t>
            </a:r>
            <a:r>
              <a:rPr lang="en-US" b="1" dirty="0"/>
              <a:t>seasonality effects</a:t>
            </a:r>
            <a:r>
              <a:rPr lang="en-US" dirty="0"/>
              <a:t> (e.g., higher production in summer)</a:t>
            </a:r>
          </a:p>
          <a:p>
            <a:r>
              <a:rPr lang="en-US" dirty="0"/>
              <a:t>3.</a:t>
            </a:r>
            <a:r>
              <a:rPr lang="en-US" b="1" dirty="0"/>
              <a:t> Outlier Handling Using IQR (on Efficiency)</a:t>
            </a:r>
          </a:p>
          <a:p>
            <a:r>
              <a:rPr lang="en-IN" b="1" dirty="0" err="1"/>
              <a:t>energy_per_kw</a:t>
            </a:r>
            <a:r>
              <a:rPr lang="en-IN" b="1" dirty="0"/>
              <a:t> </a:t>
            </a:r>
            <a:r>
              <a:rPr lang="en-IN" dirty="0"/>
              <a:t>- </a:t>
            </a:r>
            <a:r>
              <a:rPr lang="en-US" dirty="0"/>
              <a:t>Extreme values in efficiency may indicate: </a:t>
            </a:r>
            <a:r>
              <a:rPr lang="en-IN" dirty="0"/>
              <a:t>Data entry errors or unusual system behaviour</a:t>
            </a:r>
            <a:endParaRPr lang="en-IN" b="1" dirty="0"/>
          </a:p>
        </p:txBody>
      </p:sp>
    </p:spTree>
    <p:extLst>
      <p:ext uri="{BB962C8B-B14F-4D97-AF65-F5344CB8AC3E}">
        <p14:creationId xmlns:p14="http://schemas.microsoft.com/office/powerpoint/2010/main" val="2686424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E942E9-789D-3326-161D-002E734ED70C}"/>
              </a:ext>
            </a:extLst>
          </p:cNvPr>
          <p:cNvSpPr>
            <a:spLocks noGrp="1"/>
          </p:cNvSpPr>
          <p:nvPr>
            <p:ph idx="1"/>
          </p:nvPr>
        </p:nvSpPr>
        <p:spPr>
          <a:xfrm>
            <a:off x="674688" y="134938"/>
            <a:ext cx="11064875" cy="6176962"/>
          </a:xfrm>
        </p:spPr>
        <p:txBody>
          <a:bodyPr>
            <a:normAutofit lnSpcReduction="10000"/>
          </a:bodyPr>
          <a:lstStyle/>
          <a:p>
            <a:r>
              <a:rPr lang="en-US" b="1" dirty="0"/>
              <a:t>Method:</a:t>
            </a:r>
            <a:endParaRPr lang="en-US" dirty="0"/>
          </a:p>
          <a:p>
            <a:r>
              <a:rPr lang="en-US" dirty="0"/>
              <a:t>Calculated: </a:t>
            </a:r>
          </a:p>
          <a:p>
            <a:pPr lvl="1"/>
            <a:r>
              <a:rPr lang="en-US" dirty="0"/>
              <a:t>Q1 (25th percentile) </a:t>
            </a:r>
          </a:p>
          <a:p>
            <a:pPr lvl="1"/>
            <a:r>
              <a:rPr lang="en-US" dirty="0"/>
              <a:t>Q3 (75th percentile) </a:t>
            </a:r>
          </a:p>
          <a:p>
            <a:pPr lvl="1"/>
            <a:r>
              <a:rPr lang="en-US" dirty="0"/>
              <a:t>IQR = Q3 − Q1 </a:t>
            </a:r>
          </a:p>
          <a:p>
            <a:r>
              <a:rPr lang="en-US" dirty="0"/>
              <a:t>Defined bounds: </a:t>
            </a:r>
          </a:p>
          <a:p>
            <a:pPr lvl="1"/>
            <a:r>
              <a:rPr lang="en-US" dirty="0"/>
              <a:t>Lower = Q1 − 1.5 × IQR </a:t>
            </a:r>
          </a:p>
          <a:p>
            <a:pPr lvl="1"/>
            <a:r>
              <a:rPr lang="en-US" dirty="0"/>
              <a:t>Upper = Q3 + 1.5 × IQR </a:t>
            </a:r>
          </a:p>
          <a:p>
            <a:r>
              <a:rPr lang="en-US" dirty="0"/>
              <a:t>Removed values outside this range</a:t>
            </a:r>
          </a:p>
          <a:p>
            <a:r>
              <a:rPr lang="en-US" dirty="0"/>
              <a:t>Eliminates noise and unrealistic values, Improves model stability and generalization &amp; Ensures learning from valid system performance patterns</a:t>
            </a:r>
          </a:p>
          <a:p>
            <a:r>
              <a:rPr lang="en-IN" b="1" dirty="0"/>
              <a:t>4. Log Transformation of Target Variable</a:t>
            </a:r>
          </a:p>
          <a:p>
            <a:r>
              <a:rPr lang="en-IN" b="1" dirty="0" err="1"/>
              <a:t>log_energy</a:t>
            </a:r>
            <a:r>
              <a:rPr lang="en-IN" b="1" dirty="0"/>
              <a:t> = log1p(</a:t>
            </a:r>
            <a:r>
              <a:rPr lang="en-IN" b="1" dirty="0" err="1"/>
              <a:t>annual_energy</a:t>
            </a:r>
            <a:r>
              <a:rPr lang="en-IN" b="1" dirty="0"/>
              <a:t>) </a:t>
            </a:r>
            <a:r>
              <a:rPr lang="en-US" dirty="0"/>
              <a:t>Energy data is typically </a:t>
            </a:r>
            <a:r>
              <a:rPr lang="en-US" b="1" dirty="0"/>
              <a:t>right-skewed</a:t>
            </a:r>
            <a:r>
              <a:rPr lang="en-US" dirty="0"/>
              <a:t> (many small systems, few very large ones), Log transformation reduces skewness and compresses extreme values. </a:t>
            </a:r>
            <a:r>
              <a:rPr lang="en-IN" dirty="0"/>
              <a:t>Makes distribution more </a:t>
            </a:r>
            <a:r>
              <a:rPr lang="en-IN" b="1" dirty="0"/>
              <a:t>normal-like. </a:t>
            </a:r>
            <a:r>
              <a:rPr lang="en-IN" dirty="0"/>
              <a:t>Improves model performance for regression algorithms </a:t>
            </a:r>
          </a:p>
          <a:p>
            <a:r>
              <a:rPr lang="en-US" b="1" dirty="0"/>
              <a:t>5. Reducing Cardinality in Developer Feature</a:t>
            </a:r>
          </a:p>
          <a:p>
            <a:r>
              <a:rPr lang="en-US" dirty="0"/>
              <a:t>The developer column contains many unique categories, Kept </a:t>
            </a:r>
            <a:r>
              <a:rPr lang="en-US" b="1" dirty="0"/>
              <a:t>top 50 most frequent developers </a:t>
            </a:r>
            <a:r>
              <a:rPr lang="en-US" dirty="0"/>
              <a:t>&amp; </a:t>
            </a:r>
            <a:r>
              <a:rPr lang="en-IN" dirty="0"/>
              <a:t>Grouped remaining into "other"</a:t>
            </a:r>
          </a:p>
        </p:txBody>
      </p:sp>
    </p:spTree>
    <p:extLst>
      <p:ext uri="{BB962C8B-B14F-4D97-AF65-F5344CB8AC3E}">
        <p14:creationId xmlns:p14="http://schemas.microsoft.com/office/powerpoint/2010/main" val="2530815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42BF-F072-588F-ABE4-D0B53DC352E2}"/>
              </a:ext>
            </a:extLst>
          </p:cNvPr>
          <p:cNvSpPr>
            <a:spLocks noGrp="1"/>
          </p:cNvSpPr>
          <p:nvPr>
            <p:ph type="title"/>
          </p:nvPr>
        </p:nvSpPr>
        <p:spPr>
          <a:xfrm>
            <a:off x="757084" y="1"/>
            <a:ext cx="9950245" cy="619431"/>
          </a:xfrm>
        </p:spPr>
        <p:txBody>
          <a:bodyPr>
            <a:normAutofit fontScale="90000"/>
          </a:bodyPr>
          <a:lstStyle/>
          <a:p>
            <a:r>
              <a:rPr lang="en-IN" dirty="0"/>
              <a:t>		Exploratory Data Analysis</a:t>
            </a:r>
          </a:p>
        </p:txBody>
      </p:sp>
      <p:sp>
        <p:nvSpPr>
          <p:cNvPr id="3" name="Content Placeholder 2">
            <a:extLst>
              <a:ext uri="{FF2B5EF4-FFF2-40B4-BE49-F238E27FC236}">
                <a16:creationId xmlns:a16="http://schemas.microsoft.com/office/drawing/2014/main" id="{0CF4C2BA-E3DB-2578-A144-ECA9057AE657}"/>
              </a:ext>
            </a:extLst>
          </p:cNvPr>
          <p:cNvSpPr>
            <a:spLocks noGrp="1"/>
          </p:cNvSpPr>
          <p:nvPr>
            <p:ph idx="1"/>
          </p:nvPr>
        </p:nvSpPr>
        <p:spPr>
          <a:xfrm>
            <a:off x="688257" y="471947"/>
            <a:ext cx="11071123" cy="5889523"/>
          </a:xfrm>
        </p:spPr>
        <p:txBody>
          <a:bodyPr/>
          <a:lstStyle/>
          <a:p>
            <a:r>
              <a:rPr lang="en-US" dirty="0"/>
              <a:t>Exploratory Data Analysis (EDA) was conducted to understand the structure, patterns, and relationships within the solar energy dataset. This step is essential for identifying </a:t>
            </a:r>
            <a:r>
              <a:rPr lang="en-US" b="1" dirty="0"/>
              <a:t>data quality issues, feature distributions, correlations, and underlying trends</a:t>
            </a:r>
            <a:r>
              <a:rPr lang="en-US" dirty="0"/>
              <a:t> before building machine learning models</a:t>
            </a:r>
          </a:p>
          <a:p>
            <a:r>
              <a:rPr lang="en-US" dirty="0"/>
              <a:t>EDA guided key decisions in </a:t>
            </a:r>
            <a:r>
              <a:rPr lang="en-US" b="1" dirty="0"/>
              <a:t>data cleaning, preprocessing, and feature engineering</a:t>
            </a:r>
            <a:r>
              <a:rPr lang="en-US" dirty="0"/>
              <a:t>.</a:t>
            </a:r>
          </a:p>
          <a:p>
            <a:r>
              <a:rPr lang="en-US" b="1" dirty="0"/>
              <a:t>Objectives of EDA</a:t>
            </a:r>
          </a:p>
          <a:p>
            <a:pPr marL="457200" indent="-457200">
              <a:buFont typeface="+mj-lt"/>
              <a:buAutoNum type="arabicPeriod"/>
            </a:pPr>
            <a:r>
              <a:rPr lang="en-US" dirty="0"/>
              <a:t>Understand dataset structure and feature types </a:t>
            </a:r>
          </a:p>
          <a:p>
            <a:pPr marL="457200" indent="-457200">
              <a:buFont typeface="+mj-lt"/>
              <a:buAutoNum type="arabicPeriod"/>
            </a:pPr>
            <a:r>
              <a:rPr lang="en-US" dirty="0"/>
              <a:t>Identify missing values and inconsistencies </a:t>
            </a:r>
          </a:p>
          <a:p>
            <a:pPr marL="457200" indent="-457200">
              <a:buFont typeface="+mj-lt"/>
              <a:buAutoNum type="arabicPeriod"/>
            </a:pPr>
            <a:r>
              <a:rPr lang="en-US" dirty="0"/>
              <a:t>Analyze distribution of key variables </a:t>
            </a:r>
          </a:p>
          <a:p>
            <a:pPr marL="457200" indent="-457200">
              <a:buFont typeface="+mj-lt"/>
              <a:buAutoNum type="arabicPeriod"/>
            </a:pPr>
            <a:r>
              <a:rPr lang="en-US" dirty="0"/>
              <a:t>Detect outliers and anomalies </a:t>
            </a:r>
          </a:p>
          <a:p>
            <a:pPr marL="457200" indent="-457200">
              <a:buFont typeface="+mj-lt"/>
              <a:buAutoNum type="arabicPeriod"/>
            </a:pPr>
            <a:r>
              <a:rPr lang="en-US" dirty="0"/>
              <a:t>Explore relationships between features and target variable </a:t>
            </a:r>
          </a:p>
          <a:p>
            <a:pPr marL="457200" indent="-457200">
              <a:buFont typeface="+mj-lt"/>
              <a:buAutoNum type="arabicPeriod"/>
            </a:pPr>
            <a:r>
              <a:rPr lang="en-US" dirty="0"/>
              <a:t>Uncover temporal and geographical patterns</a:t>
            </a:r>
          </a:p>
          <a:p>
            <a:pPr marL="0" indent="0">
              <a:buNone/>
            </a:pPr>
            <a:r>
              <a:rPr lang="en-IN" b="1" dirty="0"/>
              <a:t>1. Dataset Overview</a:t>
            </a:r>
            <a:endParaRPr lang="en-US" b="1" dirty="0"/>
          </a:p>
          <a:p>
            <a:r>
              <a:rPr lang="en-IN" dirty="0"/>
              <a:t>Total records: </a:t>
            </a:r>
            <a:r>
              <a:rPr lang="en-IN" b="1" dirty="0"/>
              <a:t>188,000+ observations, </a:t>
            </a:r>
            <a:r>
              <a:rPr lang="en-US" dirty="0"/>
              <a:t>Mix of </a:t>
            </a:r>
            <a:r>
              <a:rPr lang="en-US" b="1" dirty="0"/>
              <a:t>numerical, categorical, and date features. </a:t>
            </a:r>
            <a:r>
              <a:rPr lang="en-US" dirty="0"/>
              <a:t>Target variable: </a:t>
            </a:r>
            <a:r>
              <a:rPr lang="en-US" b="1" dirty="0"/>
              <a:t>Estimated Annual PV Energy Production (kWh)</a:t>
            </a:r>
            <a:endParaRPr lang="en-US" dirty="0"/>
          </a:p>
          <a:p>
            <a:endParaRPr lang="en-IN" dirty="0"/>
          </a:p>
        </p:txBody>
      </p:sp>
    </p:spTree>
    <p:extLst>
      <p:ext uri="{BB962C8B-B14F-4D97-AF65-F5344CB8AC3E}">
        <p14:creationId xmlns:p14="http://schemas.microsoft.com/office/powerpoint/2010/main" val="2233857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B2F92-9922-6A9A-6EB7-32ACEA9B8E5A}"/>
              </a:ext>
            </a:extLst>
          </p:cNvPr>
          <p:cNvSpPr>
            <a:spLocks noGrp="1"/>
          </p:cNvSpPr>
          <p:nvPr>
            <p:ph idx="1"/>
          </p:nvPr>
        </p:nvSpPr>
        <p:spPr>
          <a:xfrm>
            <a:off x="468016" y="36598"/>
            <a:ext cx="11330694" cy="6295375"/>
          </a:xfrm>
        </p:spPr>
        <p:txBody>
          <a:bodyPr>
            <a:normAutofit lnSpcReduction="10000"/>
          </a:bodyPr>
          <a:lstStyle/>
          <a:p>
            <a:r>
              <a:rPr lang="en-IN" dirty="0"/>
              <a:t>Initial checks included: Data types and structure, Missing value analysis &amp; Duplicate detection</a:t>
            </a:r>
          </a:p>
          <a:p>
            <a:r>
              <a:rPr lang="en-IN" b="1" dirty="0"/>
              <a:t>2. Target Variable Analysis</a:t>
            </a:r>
          </a:p>
          <a:p>
            <a:r>
              <a:rPr lang="en-US" dirty="0"/>
              <a:t>The target variable (</a:t>
            </a:r>
            <a:r>
              <a:rPr lang="en-US" b="1" dirty="0"/>
              <a:t>annual energy production</a:t>
            </a:r>
            <a:r>
              <a:rPr lang="en-US" dirty="0"/>
              <a:t>) showed a </a:t>
            </a:r>
            <a:r>
              <a:rPr lang="en-US" b="1" dirty="0"/>
              <a:t>right-skewed distribution.</a:t>
            </a:r>
          </a:p>
          <a:p>
            <a:r>
              <a:rPr lang="en-US" dirty="0"/>
              <a:t>Majority of installations produced moderate energy, while a few large systems produced significantly higher values.</a:t>
            </a:r>
          </a:p>
          <a:p>
            <a:r>
              <a:rPr lang="en-US" dirty="0"/>
              <a:t>Log transformation (</a:t>
            </a:r>
            <a:r>
              <a:rPr lang="en-US" dirty="0" err="1"/>
              <a:t>log_energy</a:t>
            </a:r>
            <a:r>
              <a:rPr lang="en-US" dirty="0"/>
              <a:t>) was applied to normalize the distribution and improve model performance</a:t>
            </a:r>
          </a:p>
          <a:p>
            <a:r>
              <a:rPr lang="en-IN" b="1" dirty="0"/>
              <a:t>3. Feature Distribution Analysis</a:t>
            </a:r>
          </a:p>
          <a:p>
            <a:r>
              <a:rPr lang="en-IN" b="1" dirty="0"/>
              <a:t>Numerical Features: </a:t>
            </a:r>
            <a:r>
              <a:rPr lang="en-US" b="1" dirty="0"/>
              <a:t>PV system size (</a:t>
            </a:r>
            <a:r>
              <a:rPr lang="en-US" b="1" dirty="0" err="1"/>
              <a:t>kWdc</a:t>
            </a:r>
            <a:r>
              <a:rPr lang="en-US" b="1" dirty="0"/>
              <a:t>/</a:t>
            </a:r>
            <a:r>
              <a:rPr lang="en-US" b="1" dirty="0" err="1"/>
              <a:t>kWac</a:t>
            </a:r>
            <a:r>
              <a:rPr lang="en-US" b="1" dirty="0"/>
              <a:t>)</a:t>
            </a:r>
            <a:r>
              <a:rPr lang="en-US" dirty="0"/>
              <a:t> showed wide variation. Strong positive trend observed between </a:t>
            </a:r>
            <a:r>
              <a:rPr lang="en-US" b="1" dirty="0"/>
              <a:t>system size and energy output</a:t>
            </a:r>
          </a:p>
          <a:p>
            <a:r>
              <a:rPr lang="en-IN" b="1" dirty="0"/>
              <a:t>Categorical Features: </a:t>
            </a:r>
            <a:r>
              <a:rPr lang="en-US" dirty="0"/>
              <a:t>High cardinality in features like </a:t>
            </a:r>
            <a:r>
              <a:rPr lang="en-US" b="1" dirty="0"/>
              <a:t>developer and utility, </a:t>
            </a:r>
            <a:r>
              <a:rPr lang="en-US" dirty="0"/>
              <a:t>Some categories dominated the dataset</a:t>
            </a:r>
          </a:p>
          <a:p>
            <a:r>
              <a:rPr lang="en-US" dirty="0"/>
              <a:t>Cardinality reduction (top developers) was applied, One-hot encoding used for categorical variables </a:t>
            </a:r>
          </a:p>
          <a:p>
            <a:r>
              <a:rPr lang="en-IN" b="1" dirty="0"/>
              <a:t>4. Correlation Analysis</a:t>
            </a:r>
          </a:p>
          <a:p>
            <a:r>
              <a:rPr lang="en-IN" dirty="0"/>
              <a:t>Strong positive correlation between: </a:t>
            </a:r>
            <a:r>
              <a:rPr lang="en-US" b="1" dirty="0"/>
              <a:t>System size (</a:t>
            </a:r>
            <a:r>
              <a:rPr lang="en-US" b="1" dirty="0" err="1"/>
              <a:t>kWac</a:t>
            </a:r>
            <a:r>
              <a:rPr lang="en-US" b="1" dirty="0"/>
              <a:t>/</a:t>
            </a:r>
            <a:r>
              <a:rPr lang="en-US" b="1" dirty="0" err="1"/>
              <a:t>kWdc</a:t>
            </a:r>
            <a:r>
              <a:rPr lang="en-US" b="1" dirty="0"/>
              <a:t>)</a:t>
            </a:r>
            <a:r>
              <a:rPr lang="en-US" dirty="0"/>
              <a:t> and energy production. This led to creation of </a:t>
            </a:r>
            <a:r>
              <a:rPr lang="en-US" b="1" dirty="0"/>
              <a:t>efficiency feature (</a:t>
            </a:r>
            <a:r>
              <a:rPr lang="en-US" b="1" dirty="0" err="1"/>
              <a:t>energy_per_kw</a:t>
            </a:r>
            <a:r>
              <a:rPr lang="en-US" b="1" dirty="0"/>
              <a:t>)</a:t>
            </a:r>
            <a:endParaRPr lang="en-US" dirty="0"/>
          </a:p>
          <a:p>
            <a:r>
              <a:rPr lang="en-IN" dirty="0"/>
              <a:t>Moderate relationships observed with: Location-based features &amp; Utility and developer</a:t>
            </a:r>
            <a:endParaRPr lang="en-IN" b="1" dirty="0"/>
          </a:p>
        </p:txBody>
      </p:sp>
    </p:spTree>
    <p:extLst>
      <p:ext uri="{BB962C8B-B14F-4D97-AF65-F5344CB8AC3E}">
        <p14:creationId xmlns:p14="http://schemas.microsoft.com/office/powerpoint/2010/main" val="3699050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DB715F-FA41-1C0B-C320-F4DFBEE401AE}"/>
              </a:ext>
            </a:extLst>
          </p:cNvPr>
          <p:cNvSpPr>
            <a:spLocks noGrp="1"/>
          </p:cNvSpPr>
          <p:nvPr>
            <p:ph idx="1"/>
          </p:nvPr>
        </p:nvSpPr>
        <p:spPr>
          <a:xfrm>
            <a:off x="694157" y="26766"/>
            <a:ext cx="11301197" cy="6383866"/>
          </a:xfrm>
        </p:spPr>
        <p:txBody>
          <a:bodyPr/>
          <a:lstStyle/>
          <a:p>
            <a:r>
              <a:rPr lang="en-IN" b="1" dirty="0"/>
              <a:t>5. Outlier Detection</a:t>
            </a:r>
          </a:p>
          <a:p>
            <a:r>
              <a:rPr lang="en-IN" dirty="0"/>
              <a:t>Outliers detected in: Energy production &amp; Efficiency (</a:t>
            </a:r>
            <a:r>
              <a:rPr lang="en-IN" dirty="0" err="1"/>
              <a:t>energy_per_kw</a:t>
            </a:r>
            <a:r>
              <a:rPr lang="en-IN" dirty="0"/>
              <a:t>). </a:t>
            </a:r>
            <a:r>
              <a:rPr lang="en-US" dirty="0"/>
              <a:t>Extreme values identified using </a:t>
            </a:r>
            <a:r>
              <a:rPr lang="en-US" b="1" dirty="0"/>
              <a:t>IQR method. </a:t>
            </a:r>
            <a:r>
              <a:rPr lang="en-US" dirty="0"/>
              <a:t>Outliers removed to reduce noise</a:t>
            </a:r>
          </a:p>
          <a:p>
            <a:r>
              <a:rPr lang="en-IN" b="1" dirty="0"/>
              <a:t>6. Temporal Analysis</a:t>
            </a:r>
          </a:p>
          <a:p>
            <a:r>
              <a:rPr lang="en-US" dirty="0"/>
              <a:t>Analysis based on </a:t>
            </a:r>
            <a:r>
              <a:rPr lang="en-US" b="1" dirty="0"/>
              <a:t>Interconnection Date</a:t>
            </a:r>
            <a:r>
              <a:rPr lang="en-US" dirty="0"/>
              <a:t> revealed Growth in solar installations over years &amp; Seasonal patterns in energy generation. Extracted year and month features which improves model understanding.</a:t>
            </a:r>
          </a:p>
          <a:p>
            <a:r>
              <a:rPr lang="en-IN" b="1" dirty="0"/>
              <a:t>7. Geographical Analysis</a:t>
            </a:r>
          </a:p>
          <a:p>
            <a:r>
              <a:rPr lang="en-IN" dirty="0"/>
              <a:t>Variation observed across: Cities, Counties &amp; Zip codes. </a:t>
            </a:r>
            <a:r>
              <a:rPr lang="en-US" dirty="0"/>
              <a:t>Location-based features contribute to prediction</a:t>
            </a:r>
          </a:p>
          <a:p>
            <a:r>
              <a:rPr lang="en-IN" b="1" dirty="0"/>
              <a:t>8. Missing Value Analysis</a:t>
            </a:r>
          </a:p>
          <a:p>
            <a:r>
              <a:rPr lang="en-IN" dirty="0"/>
              <a:t>Missing values found in: Developer, Division, Substation &amp; Zip code</a:t>
            </a:r>
          </a:p>
          <a:p>
            <a:r>
              <a:rPr lang="en-IN" dirty="0"/>
              <a:t>Imputation strategies applied &amp; </a:t>
            </a:r>
            <a:r>
              <a:rPr lang="en-US" dirty="0"/>
              <a:t>Highly sparse columns evaluated for removal</a:t>
            </a:r>
            <a:endParaRPr lang="en-IN" b="1" dirty="0"/>
          </a:p>
          <a:p>
            <a:endParaRPr lang="en-US" b="1" dirty="0"/>
          </a:p>
          <a:p>
            <a:endParaRPr lang="en-US" dirty="0"/>
          </a:p>
          <a:p>
            <a:endParaRPr lang="en-IN" b="1" dirty="0"/>
          </a:p>
        </p:txBody>
      </p:sp>
    </p:spTree>
    <p:extLst>
      <p:ext uri="{BB962C8B-B14F-4D97-AF65-F5344CB8AC3E}">
        <p14:creationId xmlns:p14="http://schemas.microsoft.com/office/powerpoint/2010/main" val="2859032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C44B-E353-8DC5-9312-500B887D52D6}"/>
              </a:ext>
            </a:extLst>
          </p:cNvPr>
          <p:cNvSpPr>
            <a:spLocks noGrp="1"/>
          </p:cNvSpPr>
          <p:nvPr>
            <p:ph type="title"/>
          </p:nvPr>
        </p:nvSpPr>
        <p:spPr>
          <a:xfrm>
            <a:off x="698090" y="1"/>
            <a:ext cx="10225549" cy="668593"/>
          </a:xfrm>
        </p:spPr>
        <p:txBody>
          <a:bodyPr>
            <a:normAutofit fontScale="90000"/>
          </a:bodyPr>
          <a:lstStyle/>
          <a:p>
            <a:r>
              <a:rPr lang="en-IN" dirty="0"/>
              <a:t>			Log Energy Distribution</a:t>
            </a:r>
          </a:p>
        </p:txBody>
      </p:sp>
      <p:pic>
        <p:nvPicPr>
          <p:cNvPr id="5" name="Content Placeholder 4">
            <a:extLst>
              <a:ext uri="{FF2B5EF4-FFF2-40B4-BE49-F238E27FC236}">
                <a16:creationId xmlns:a16="http://schemas.microsoft.com/office/drawing/2014/main" id="{34F042DE-A375-0C8F-3450-32A7042F6A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0704" y="568121"/>
            <a:ext cx="5385827" cy="4160528"/>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F78A58D8-351E-499A-FD48-EC4C4EE849FE}"/>
              </a:ext>
            </a:extLst>
          </p:cNvPr>
          <p:cNvSpPr txBox="1"/>
          <p:nvPr/>
        </p:nvSpPr>
        <p:spPr>
          <a:xfrm>
            <a:off x="175470" y="568121"/>
            <a:ext cx="6549796" cy="6186309"/>
          </a:xfrm>
          <a:prstGeom prst="rect">
            <a:avLst/>
          </a:prstGeom>
          <a:noFill/>
        </p:spPr>
        <p:txBody>
          <a:bodyPr wrap="square" rtlCol="0">
            <a:spAutoFit/>
          </a:bodyPr>
          <a:lstStyle/>
          <a:p>
            <a:r>
              <a:rPr lang="en-US" dirty="0"/>
              <a:t>The histogram shows the distribution of the </a:t>
            </a:r>
            <a:r>
              <a:rPr lang="en-US" b="1" dirty="0"/>
              <a:t>log-transformed annual energy production (</a:t>
            </a:r>
            <a:r>
              <a:rPr lang="en-US" b="1" dirty="0" err="1"/>
              <a:t>log_energy</a:t>
            </a:r>
            <a:r>
              <a:rPr lang="en-US" b="1" dirty="0"/>
              <a:t>)</a:t>
            </a:r>
            <a:r>
              <a:rPr lang="en-US" dirty="0"/>
              <a:t>.</a:t>
            </a:r>
          </a:p>
          <a:p>
            <a:r>
              <a:rPr lang="en-US" dirty="0"/>
              <a:t>After applying the log transformation, the data appears </a:t>
            </a:r>
            <a:r>
              <a:rPr lang="en-US" b="1" dirty="0"/>
              <a:t>approximately normally distributed</a:t>
            </a:r>
            <a:r>
              <a:rPr lang="en-US" dirty="0"/>
              <a:t>, with most values concentrated between </a:t>
            </a:r>
            <a:r>
              <a:rPr lang="en-US" b="1" dirty="0"/>
              <a:t>8 and 10</a:t>
            </a:r>
            <a:r>
              <a:rPr lang="en-US" dirty="0"/>
              <a:t>. </a:t>
            </a:r>
          </a:p>
          <a:p>
            <a:r>
              <a:rPr lang="en-US" dirty="0"/>
              <a:t>The transformation has successfully </a:t>
            </a:r>
            <a:r>
              <a:rPr lang="en-US" b="1" dirty="0"/>
              <a:t>reduced right skewness</a:t>
            </a:r>
            <a:r>
              <a:rPr lang="en-US" dirty="0"/>
              <a:t> present in the original energy values. </a:t>
            </a:r>
          </a:p>
          <a:p>
            <a:r>
              <a:rPr lang="en-US" dirty="0"/>
              <a:t>Extreme high values (outliers) are still visible but are </a:t>
            </a:r>
            <a:r>
              <a:rPr lang="en-US" b="1" dirty="0"/>
              <a:t>compressed</a:t>
            </a:r>
            <a:r>
              <a:rPr lang="en-US" dirty="0"/>
              <a:t>, reducing their impact on the model.</a:t>
            </a:r>
          </a:p>
          <a:p>
            <a:endParaRPr lang="en-US" dirty="0"/>
          </a:p>
          <a:p>
            <a:r>
              <a:rPr lang="en-US" dirty="0"/>
              <a:t>Log transformation makes the target variable more </a:t>
            </a:r>
            <a:r>
              <a:rPr lang="en-US" b="1" dirty="0"/>
              <a:t>stable and model-friendly</a:t>
            </a:r>
            <a:r>
              <a:rPr lang="en-US" dirty="0"/>
              <a:t>, improving the performance of regression algorithms by:</a:t>
            </a:r>
          </a:p>
          <a:p>
            <a:r>
              <a:rPr lang="en-US" dirty="0"/>
              <a:t>Reducing variance </a:t>
            </a:r>
          </a:p>
          <a:p>
            <a:r>
              <a:rPr lang="en-US" dirty="0"/>
              <a:t>Minimizing the influence of extreme values </a:t>
            </a:r>
          </a:p>
          <a:p>
            <a:r>
              <a:rPr lang="en-US" dirty="0"/>
              <a:t>Bringing the distribution closer to normal</a:t>
            </a:r>
          </a:p>
          <a:p>
            <a:endParaRPr lang="en-US" dirty="0"/>
          </a:p>
          <a:p>
            <a:r>
              <a:rPr lang="en-US" dirty="0"/>
              <a:t>The log transformation effectively normalized the energy distribution, making it suitable for accurate and stable machine learning predictions</a:t>
            </a:r>
          </a:p>
          <a:p>
            <a:endParaRPr lang="en-US" dirty="0"/>
          </a:p>
          <a:p>
            <a:endParaRPr lang="en-IN" dirty="0"/>
          </a:p>
        </p:txBody>
      </p:sp>
    </p:spTree>
    <p:extLst>
      <p:ext uri="{BB962C8B-B14F-4D97-AF65-F5344CB8AC3E}">
        <p14:creationId xmlns:p14="http://schemas.microsoft.com/office/powerpoint/2010/main" val="2944442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7D2C9-4A62-A16B-A714-F681DE822105}"/>
              </a:ext>
            </a:extLst>
          </p:cNvPr>
          <p:cNvSpPr>
            <a:spLocks noGrp="1"/>
          </p:cNvSpPr>
          <p:nvPr>
            <p:ph type="title"/>
          </p:nvPr>
        </p:nvSpPr>
        <p:spPr>
          <a:xfrm>
            <a:off x="1028454" y="148953"/>
            <a:ext cx="9521560" cy="509810"/>
          </a:xfrm>
        </p:spPr>
        <p:txBody>
          <a:bodyPr>
            <a:normAutofit fontScale="90000"/>
          </a:bodyPr>
          <a:lstStyle/>
          <a:p>
            <a:r>
              <a:rPr lang="en-IN" dirty="0"/>
              <a:t>			Capacity vs Energy</a:t>
            </a:r>
          </a:p>
        </p:txBody>
      </p:sp>
      <p:pic>
        <p:nvPicPr>
          <p:cNvPr id="5" name="Content Placeholder 4">
            <a:extLst>
              <a:ext uri="{FF2B5EF4-FFF2-40B4-BE49-F238E27FC236}">
                <a16:creationId xmlns:a16="http://schemas.microsoft.com/office/drawing/2014/main" id="{439D4531-32CE-6425-3AE9-9546461C17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07342" y="545179"/>
            <a:ext cx="5184658" cy="4160528"/>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2C6989A1-D684-D399-B0A3-0FC8A78DD390}"/>
              </a:ext>
            </a:extLst>
          </p:cNvPr>
          <p:cNvSpPr txBox="1"/>
          <p:nvPr/>
        </p:nvSpPr>
        <p:spPr>
          <a:xfrm>
            <a:off x="108156" y="658763"/>
            <a:ext cx="6899186" cy="4247317"/>
          </a:xfrm>
          <a:prstGeom prst="rect">
            <a:avLst/>
          </a:prstGeom>
          <a:noFill/>
        </p:spPr>
        <p:txBody>
          <a:bodyPr wrap="square" rtlCol="0">
            <a:spAutoFit/>
          </a:bodyPr>
          <a:lstStyle/>
          <a:p>
            <a:r>
              <a:rPr lang="en-US" dirty="0"/>
              <a:t>The scatter plot shows the relationship between </a:t>
            </a:r>
            <a:r>
              <a:rPr lang="en-US" b="1" dirty="0"/>
              <a:t>system capacity (kW)</a:t>
            </a:r>
            <a:r>
              <a:rPr lang="en-US" dirty="0"/>
              <a:t> and </a:t>
            </a:r>
            <a:r>
              <a:rPr lang="en-US" b="1" dirty="0"/>
              <a:t>annual energy production (kWh)</a:t>
            </a:r>
            <a:r>
              <a:rPr lang="en-US" dirty="0"/>
              <a:t>.</a:t>
            </a:r>
          </a:p>
          <a:p>
            <a:r>
              <a:rPr lang="en-US" dirty="0"/>
              <a:t>There is a </a:t>
            </a:r>
            <a:r>
              <a:rPr lang="en-US" b="1" dirty="0"/>
              <a:t>strong positive linear relationship</a:t>
            </a:r>
            <a:r>
              <a:rPr lang="en-US" dirty="0"/>
              <a:t> between capacity and energy output. </a:t>
            </a:r>
          </a:p>
          <a:p>
            <a:r>
              <a:rPr lang="en-US" dirty="0"/>
              <a:t>As system capacity increases, energy production increases proportionally. </a:t>
            </a:r>
          </a:p>
          <a:p>
            <a:r>
              <a:rPr lang="en-US" dirty="0"/>
              <a:t>The points are closely aligned along a straight line, indicating </a:t>
            </a:r>
            <a:r>
              <a:rPr lang="en-US" b="1" dirty="0"/>
              <a:t>very high correlation</a:t>
            </a:r>
            <a:r>
              <a:rPr lang="en-US" dirty="0"/>
              <a:t> and minimal noise.</a:t>
            </a:r>
          </a:p>
          <a:p>
            <a:endParaRPr lang="en-US" dirty="0"/>
          </a:p>
          <a:p>
            <a:r>
              <a:rPr lang="en-US" b="1" dirty="0"/>
              <a:t>Capacity is the most dominant predictor</a:t>
            </a:r>
            <a:r>
              <a:rPr lang="en-US" dirty="0"/>
              <a:t> of energy generation.</a:t>
            </a:r>
          </a:p>
          <a:p>
            <a:r>
              <a:rPr lang="en-US" dirty="0"/>
              <a:t>This confirms that larger solar systems produce more energy in a consistent and predictable manner.</a:t>
            </a:r>
          </a:p>
          <a:p>
            <a:endParaRPr lang="en-US" dirty="0"/>
          </a:p>
          <a:p>
            <a:r>
              <a:rPr lang="en-US" dirty="0"/>
              <a:t>Solar energy production scales almost linearly with system capacity, making it a key feature for accurate prediction models.</a:t>
            </a:r>
          </a:p>
        </p:txBody>
      </p:sp>
    </p:spTree>
    <p:extLst>
      <p:ext uri="{BB962C8B-B14F-4D97-AF65-F5344CB8AC3E}">
        <p14:creationId xmlns:p14="http://schemas.microsoft.com/office/powerpoint/2010/main" val="1195723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292A-42B3-B344-98CE-E328DAB3475E}"/>
              </a:ext>
            </a:extLst>
          </p:cNvPr>
          <p:cNvSpPr>
            <a:spLocks noGrp="1"/>
          </p:cNvSpPr>
          <p:nvPr>
            <p:ph type="title"/>
          </p:nvPr>
        </p:nvSpPr>
        <p:spPr>
          <a:xfrm>
            <a:off x="1097280" y="286604"/>
            <a:ext cx="9846023" cy="578636"/>
          </a:xfrm>
        </p:spPr>
        <p:txBody>
          <a:bodyPr>
            <a:normAutofit fontScale="90000"/>
          </a:bodyPr>
          <a:lstStyle/>
          <a:p>
            <a:r>
              <a:rPr lang="en-IN" dirty="0"/>
              <a:t>			Correlation Matrix</a:t>
            </a:r>
          </a:p>
        </p:txBody>
      </p:sp>
      <p:pic>
        <p:nvPicPr>
          <p:cNvPr id="5" name="Content Placeholder 4">
            <a:extLst>
              <a:ext uri="{FF2B5EF4-FFF2-40B4-BE49-F238E27FC236}">
                <a16:creationId xmlns:a16="http://schemas.microsoft.com/office/drawing/2014/main" id="{3F64B963-ECAE-07B7-9B75-EA1F8BB4DA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64244" y="725391"/>
            <a:ext cx="4709169" cy="3977648"/>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3C682BDE-D70B-07F1-4177-E3DA01E116DC}"/>
              </a:ext>
            </a:extLst>
          </p:cNvPr>
          <p:cNvSpPr txBox="1"/>
          <p:nvPr/>
        </p:nvSpPr>
        <p:spPr>
          <a:xfrm>
            <a:off x="0" y="725391"/>
            <a:ext cx="7364243" cy="4801314"/>
          </a:xfrm>
          <a:prstGeom prst="rect">
            <a:avLst/>
          </a:prstGeom>
          <a:noFill/>
        </p:spPr>
        <p:txBody>
          <a:bodyPr wrap="square" rtlCol="0">
            <a:spAutoFit/>
          </a:bodyPr>
          <a:lstStyle/>
          <a:p>
            <a:r>
              <a:rPr lang="en-US" dirty="0"/>
              <a:t>The heatmap shows the correlation between </a:t>
            </a:r>
            <a:r>
              <a:rPr lang="en-US" b="1" dirty="0"/>
              <a:t>capacity (kW, </a:t>
            </a:r>
            <a:r>
              <a:rPr lang="en-US" b="1" dirty="0" err="1"/>
              <a:t>kWac</a:t>
            </a:r>
            <a:r>
              <a:rPr lang="en-US" b="1" dirty="0"/>
              <a:t>)</a:t>
            </a:r>
            <a:r>
              <a:rPr lang="en-US" dirty="0"/>
              <a:t> and </a:t>
            </a:r>
            <a:r>
              <a:rPr lang="en-US" b="1" dirty="0"/>
              <a:t>log-transformed energy (</a:t>
            </a:r>
            <a:r>
              <a:rPr lang="en-US" b="1" dirty="0" err="1"/>
              <a:t>log_energy</a:t>
            </a:r>
            <a:r>
              <a:rPr lang="en-US" b="1" dirty="0"/>
              <a:t>)</a:t>
            </a:r>
            <a:r>
              <a:rPr lang="en-US" dirty="0"/>
              <a:t>.</a:t>
            </a:r>
          </a:p>
          <a:p>
            <a:endParaRPr lang="en-US" b="1" dirty="0"/>
          </a:p>
          <a:p>
            <a:endParaRPr lang="en-US" b="1" dirty="0"/>
          </a:p>
          <a:p>
            <a:r>
              <a:rPr lang="en-US" b="1" dirty="0" err="1"/>
              <a:t>capacity_kw</a:t>
            </a:r>
            <a:r>
              <a:rPr lang="en-US" b="1" dirty="0"/>
              <a:t> and </a:t>
            </a:r>
            <a:r>
              <a:rPr lang="en-US" b="1" dirty="0" err="1"/>
              <a:t>capacity_ac</a:t>
            </a:r>
            <a:r>
              <a:rPr lang="en-US" dirty="0"/>
              <a:t> have a </a:t>
            </a:r>
            <a:r>
              <a:rPr lang="en-US" b="1" dirty="0"/>
              <a:t>perfect correlation (~1.0)</a:t>
            </a:r>
            <a:r>
              <a:rPr lang="en-US" dirty="0"/>
              <a:t>, indicating they carry almost identical information. </a:t>
            </a:r>
          </a:p>
          <a:p>
            <a:r>
              <a:rPr lang="en-US" dirty="0"/>
              <a:t>Both capacity features show a </a:t>
            </a:r>
            <a:r>
              <a:rPr lang="en-US" b="1" dirty="0"/>
              <a:t>moderate positive correlation</a:t>
            </a:r>
            <a:r>
              <a:rPr lang="en-US" dirty="0"/>
              <a:t> with </a:t>
            </a:r>
            <a:r>
              <a:rPr lang="en-US" dirty="0" err="1"/>
              <a:t>log_energy</a:t>
            </a:r>
            <a:r>
              <a:rPr lang="en-US" dirty="0"/>
              <a:t> (~0.43–0.46).</a:t>
            </a:r>
          </a:p>
          <a:p>
            <a:endParaRPr lang="en-US" dirty="0"/>
          </a:p>
          <a:p>
            <a:r>
              <a:rPr lang="en-US" dirty="0"/>
              <a:t>The perfect correlation between </a:t>
            </a:r>
            <a:r>
              <a:rPr lang="en-US" dirty="0" err="1"/>
              <a:t>capacity_kw</a:t>
            </a:r>
            <a:r>
              <a:rPr lang="en-US" dirty="0"/>
              <a:t> and </a:t>
            </a:r>
            <a:r>
              <a:rPr lang="en-US" dirty="0" err="1"/>
              <a:t>capacity_ac</a:t>
            </a:r>
            <a:r>
              <a:rPr lang="en-US" dirty="0"/>
              <a:t> indicates </a:t>
            </a:r>
            <a:r>
              <a:rPr lang="en-US" b="1" dirty="0"/>
              <a:t>multicollinearity</a:t>
            </a:r>
            <a:r>
              <a:rPr lang="en-US" dirty="0"/>
              <a:t> → one of them can be removed to avoid redundancy.</a:t>
            </a:r>
          </a:p>
          <a:p>
            <a:r>
              <a:rPr lang="en-US" dirty="0"/>
              <a:t>Capacity is still an important predictor, but after log transformation, its relationship with energy appears </a:t>
            </a:r>
            <a:r>
              <a:rPr lang="en-US" b="1" dirty="0"/>
              <a:t>less extreme and more stable</a:t>
            </a:r>
            <a:r>
              <a:rPr lang="en-US" dirty="0"/>
              <a:t>.</a:t>
            </a:r>
          </a:p>
          <a:p>
            <a:endParaRPr lang="en-US" dirty="0"/>
          </a:p>
          <a:p>
            <a:r>
              <a:rPr lang="en-US" dirty="0"/>
              <a:t>Capacity remains a key driver of energy output, but redundant features should be removed to improve model efficiency and reduce multicollinearity</a:t>
            </a:r>
          </a:p>
          <a:p>
            <a:endParaRPr lang="en-IN" dirty="0"/>
          </a:p>
        </p:txBody>
      </p:sp>
    </p:spTree>
    <p:extLst>
      <p:ext uri="{BB962C8B-B14F-4D97-AF65-F5344CB8AC3E}">
        <p14:creationId xmlns:p14="http://schemas.microsoft.com/office/powerpoint/2010/main" val="2655734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25A-579E-E5E0-8988-EA31EA8E5CFB}"/>
              </a:ext>
            </a:extLst>
          </p:cNvPr>
          <p:cNvSpPr>
            <a:spLocks noGrp="1"/>
          </p:cNvSpPr>
          <p:nvPr>
            <p:ph type="title"/>
          </p:nvPr>
        </p:nvSpPr>
        <p:spPr>
          <a:xfrm>
            <a:off x="920299" y="70294"/>
            <a:ext cx="9295417" cy="568804"/>
          </a:xfrm>
        </p:spPr>
        <p:txBody>
          <a:bodyPr>
            <a:normAutofit fontScale="90000"/>
          </a:bodyPr>
          <a:lstStyle/>
          <a:p>
            <a:r>
              <a:rPr lang="en-IN" dirty="0"/>
              <a:t>			Top Developers</a:t>
            </a:r>
          </a:p>
        </p:txBody>
      </p:sp>
      <p:pic>
        <p:nvPicPr>
          <p:cNvPr id="5" name="Content Placeholder 4">
            <a:extLst>
              <a:ext uri="{FF2B5EF4-FFF2-40B4-BE49-F238E27FC236}">
                <a16:creationId xmlns:a16="http://schemas.microsoft.com/office/drawing/2014/main" id="{20383335-131E-9D76-93E2-B69EB85F8F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99104" y="639098"/>
            <a:ext cx="3633223" cy="4022725"/>
          </a:xfrm>
          <a:prstGeom prst="rect">
            <a:avLst/>
          </a:prstGeom>
        </p:spPr>
      </p:pic>
      <p:sp>
        <p:nvSpPr>
          <p:cNvPr id="6" name="TextBox 5">
            <a:extLst>
              <a:ext uri="{FF2B5EF4-FFF2-40B4-BE49-F238E27FC236}">
                <a16:creationId xmlns:a16="http://schemas.microsoft.com/office/drawing/2014/main" id="{205AFB67-A69B-EF13-6B75-FFBEAFE504AA}"/>
              </a:ext>
            </a:extLst>
          </p:cNvPr>
          <p:cNvSpPr txBox="1"/>
          <p:nvPr/>
        </p:nvSpPr>
        <p:spPr>
          <a:xfrm>
            <a:off x="159673" y="717754"/>
            <a:ext cx="8239431" cy="4247317"/>
          </a:xfrm>
          <a:prstGeom prst="rect">
            <a:avLst/>
          </a:prstGeom>
          <a:noFill/>
        </p:spPr>
        <p:txBody>
          <a:bodyPr wrap="square" rtlCol="0">
            <a:spAutoFit/>
          </a:bodyPr>
          <a:lstStyle/>
          <a:p>
            <a:r>
              <a:rPr lang="en-US" dirty="0"/>
              <a:t>The bar chart shows the distribution of solar installations across different </a:t>
            </a:r>
            <a:r>
              <a:rPr lang="en-US" b="1" dirty="0"/>
              <a:t>developers</a:t>
            </a:r>
            <a:r>
              <a:rPr lang="en-US" dirty="0"/>
              <a:t>.</a:t>
            </a:r>
          </a:p>
          <a:p>
            <a:r>
              <a:rPr lang="en-US" dirty="0"/>
              <a:t>The </a:t>
            </a:r>
            <a:r>
              <a:rPr lang="en-US" b="1" dirty="0"/>
              <a:t>“other” category dominates</a:t>
            </a:r>
            <a:r>
              <a:rPr lang="en-US" dirty="0"/>
              <a:t>, indicating that many developers have relatively small individual contributions. </a:t>
            </a:r>
          </a:p>
          <a:p>
            <a:endParaRPr lang="en-US" dirty="0"/>
          </a:p>
          <a:p>
            <a:r>
              <a:rPr lang="en-US" dirty="0"/>
              <a:t>A few developers such as </a:t>
            </a:r>
            <a:r>
              <a:rPr lang="en-US" b="1" dirty="0"/>
              <a:t>Momentum Solar, Sunrun Inc, and Vivint Solar</a:t>
            </a:r>
            <a:r>
              <a:rPr lang="en-US" dirty="0"/>
              <a:t> have significantly higher project counts compared to others. </a:t>
            </a:r>
          </a:p>
          <a:p>
            <a:r>
              <a:rPr lang="en-US" dirty="0"/>
              <a:t>The distribution is </a:t>
            </a:r>
            <a:r>
              <a:rPr lang="en-US" b="1" dirty="0"/>
              <a:t>highly skewed</a:t>
            </a:r>
            <a:r>
              <a:rPr lang="en-US" dirty="0"/>
              <a:t>, with a long tail of less frequent developers.</a:t>
            </a:r>
          </a:p>
          <a:p>
            <a:endParaRPr lang="en-IN" dirty="0"/>
          </a:p>
          <a:p>
            <a:r>
              <a:rPr lang="en-US" dirty="0"/>
              <a:t>The developer feature has </a:t>
            </a:r>
            <a:r>
              <a:rPr lang="en-US" b="1" dirty="0"/>
              <a:t>high cardinality</a:t>
            </a:r>
            <a:r>
              <a:rPr lang="en-US" dirty="0"/>
              <a:t>, which can increase model complexity</a:t>
            </a:r>
          </a:p>
          <a:p>
            <a:r>
              <a:rPr lang="en-US" dirty="0"/>
              <a:t>Grouping less frequent developers into an “other” category is justified and helps reduce noise.</a:t>
            </a:r>
          </a:p>
          <a:p>
            <a:r>
              <a:rPr lang="en-US" dirty="0"/>
              <a:t>Top developers may capture </a:t>
            </a:r>
            <a:r>
              <a:rPr lang="en-US" b="1" dirty="0"/>
              <a:t>installation quality or operational efficiency patterns</a:t>
            </a:r>
            <a:r>
              <a:rPr lang="en-US" dirty="0"/>
              <a:t>.</a:t>
            </a:r>
          </a:p>
          <a:p>
            <a:endParaRPr lang="en-US" dirty="0"/>
          </a:p>
          <a:p>
            <a:r>
              <a:rPr lang="en-US" dirty="0"/>
              <a:t>The developer distribution is skewed with a few dominant players, making cardinality reduction essential for efficient and stable modeling</a:t>
            </a:r>
            <a:endParaRPr lang="en-IN" dirty="0"/>
          </a:p>
        </p:txBody>
      </p:sp>
    </p:spTree>
    <p:extLst>
      <p:ext uri="{BB962C8B-B14F-4D97-AF65-F5344CB8AC3E}">
        <p14:creationId xmlns:p14="http://schemas.microsoft.com/office/powerpoint/2010/main" val="104870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D2CBF-E107-80F1-AD5E-29F01CFAC135}"/>
              </a:ext>
            </a:extLst>
          </p:cNvPr>
          <p:cNvSpPr>
            <a:spLocks noGrp="1"/>
          </p:cNvSpPr>
          <p:nvPr>
            <p:ph type="title"/>
          </p:nvPr>
        </p:nvSpPr>
        <p:spPr>
          <a:xfrm>
            <a:off x="1097280" y="68827"/>
            <a:ext cx="9914849" cy="629263"/>
          </a:xfrm>
        </p:spPr>
        <p:txBody>
          <a:bodyPr>
            <a:normAutofit fontScale="90000"/>
          </a:bodyPr>
          <a:lstStyle/>
          <a:p>
            <a:r>
              <a:rPr lang="en-IN" dirty="0"/>
              <a:t>Top Developers by Energy(Log)</a:t>
            </a:r>
          </a:p>
        </p:txBody>
      </p:sp>
      <p:pic>
        <p:nvPicPr>
          <p:cNvPr id="5" name="Content Placeholder 4">
            <a:extLst>
              <a:ext uri="{FF2B5EF4-FFF2-40B4-BE49-F238E27FC236}">
                <a16:creationId xmlns:a16="http://schemas.microsoft.com/office/drawing/2014/main" id="{634C7D95-51E6-F93F-2478-39B187BA81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72184" y="607398"/>
            <a:ext cx="3409738" cy="4022725"/>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EA9616C5-6DEB-F437-A55B-79DD5B06D7F1}"/>
              </a:ext>
            </a:extLst>
          </p:cNvPr>
          <p:cNvSpPr txBox="1"/>
          <p:nvPr/>
        </p:nvSpPr>
        <p:spPr>
          <a:xfrm>
            <a:off x="310077" y="766916"/>
            <a:ext cx="8047341" cy="4247317"/>
          </a:xfrm>
          <a:prstGeom prst="rect">
            <a:avLst/>
          </a:prstGeom>
          <a:noFill/>
        </p:spPr>
        <p:txBody>
          <a:bodyPr wrap="square" rtlCol="0">
            <a:spAutoFit/>
          </a:bodyPr>
          <a:lstStyle/>
          <a:p>
            <a:r>
              <a:rPr lang="en-US" dirty="0"/>
              <a:t>The bar chart shows the </a:t>
            </a:r>
            <a:r>
              <a:rPr lang="en-US" b="1" dirty="0"/>
              <a:t>average log-transformed energy production</a:t>
            </a:r>
            <a:r>
              <a:rPr lang="en-US" dirty="0"/>
              <a:t> across top developers.</a:t>
            </a:r>
          </a:p>
          <a:p>
            <a:r>
              <a:rPr lang="en-US" dirty="0"/>
              <a:t>All developers exhibit </a:t>
            </a:r>
            <a:r>
              <a:rPr lang="en-US" b="1" dirty="0"/>
              <a:t>very similar log energy values</a:t>
            </a:r>
            <a:r>
              <a:rPr lang="en-US" dirty="0"/>
              <a:t>, with only minor differences between them. </a:t>
            </a:r>
          </a:p>
          <a:p>
            <a:r>
              <a:rPr lang="en-US" dirty="0"/>
              <a:t>No single developer significantly outperforms others in terms of energy efficiency after normalization.</a:t>
            </a:r>
          </a:p>
          <a:p>
            <a:endParaRPr lang="en-US" dirty="0"/>
          </a:p>
          <a:p>
            <a:r>
              <a:rPr lang="en-US" dirty="0"/>
              <a:t>Developer impact on energy output appears </a:t>
            </a:r>
            <a:r>
              <a:rPr lang="en-US" b="1" dirty="0"/>
              <a:t>limited compared to system capacity</a:t>
            </a:r>
            <a:r>
              <a:rPr lang="en-US" dirty="0"/>
              <a:t>.</a:t>
            </a:r>
          </a:p>
          <a:p>
            <a:r>
              <a:rPr lang="en-US" dirty="0"/>
              <a:t>The similarity suggests that energy production is more influenced by </a:t>
            </a:r>
            <a:r>
              <a:rPr lang="en-US" b="1" dirty="0"/>
              <a:t>system size and external factors</a:t>
            </a:r>
            <a:r>
              <a:rPr lang="en-US" dirty="0"/>
              <a:t> rather than the developer alone.</a:t>
            </a:r>
          </a:p>
          <a:p>
            <a:r>
              <a:rPr lang="en-US" dirty="0"/>
              <a:t>This also validates grouping smaller developers into an </a:t>
            </a:r>
            <a:r>
              <a:rPr lang="en-US" b="1" dirty="0"/>
              <a:t>“other” category</a:t>
            </a:r>
            <a:r>
              <a:rPr lang="en-US" dirty="0"/>
              <a:t> without major loss of information.</a:t>
            </a:r>
          </a:p>
          <a:p>
            <a:endParaRPr lang="en-US" dirty="0"/>
          </a:p>
          <a:p>
            <a:r>
              <a:rPr lang="en-US" dirty="0"/>
              <a:t>Energy production is relatively consistent across developers, indicating that developer choice has a smaller impact compared to core factors like system capacity.</a:t>
            </a:r>
          </a:p>
        </p:txBody>
      </p:sp>
    </p:spTree>
    <p:extLst>
      <p:ext uri="{BB962C8B-B14F-4D97-AF65-F5344CB8AC3E}">
        <p14:creationId xmlns:p14="http://schemas.microsoft.com/office/powerpoint/2010/main" val="82436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4427-C716-684E-4057-7242AF1CF602}"/>
              </a:ext>
            </a:extLst>
          </p:cNvPr>
          <p:cNvSpPr>
            <a:spLocks noGrp="1"/>
          </p:cNvSpPr>
          <p:nvPr>
            <p:ph type="title"/>
          </p:nvPr>
        </p:nvSpPr>
        <p:spPr>
          <a:xfrm>
            <a:off x="757084" y="1"/>
            <a:ext cx="9812593" cy="796412"/>
          </a:xfrm>
        </p:spPr>
        <p:txBody>
          <a:bodyPr/>
          <a:lstStyle/>
          <a:p>
            <a:r>
              <a:rPr lang="en-IN" dirty="0"/>
              <a:t>		Top Counties By Energy</a:t>
            </a:r>
          </a:p>
        </p:txBody>
      </p:sp>
      <p:pic>
        <p:nvPicPr>
          <p:cNvPr id="5" name="Content Placeholder 4">
            <a:extLst>
              <a:ext uri="{FF2B5EF4-FFF2-40B4-BE49-F238E27FC236}">
                <a16:creationId xmlns:a16="http://schemas.microsoft.com/office/drawing/2014/main" id="{D8A417F1-7D2A-3F92-BC80-F60F19EF63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26798" y="721129"/>
            <a:ext cx="4965202" cy="4800610"/>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F90F2E39-08CD-E6FB-D037-FF5CBBE01FC8}"/>
              </a:ext>
            </a:extLst>
          </p:cNvPr>
          <p:cNvSpPr txBox="1"/>
          <p:nvPr/>
        </p:nvSpPr>
        <p:spPr>
          <a:xfrm>
            <a:off x="68826" y="796413"/>
            <a:ext cx="7157972" cy="4801314"/>
          </a:xfrm>
          <a:prstGeom prst="rect">
            <a:avLst/>
          </a:prstGeom>
          <a:noFill/>
        </p:spPr>
        <p:txBody>
          <a:bodyPr wrap="square" rtlCol="0">
            <a:spAutoFit/>
          </a:bodyPr>
          <a:lstStyle/>
          <a:p>
            <a:r>
              <a:rPr lang="en-US" dirty="0"/>
              <a:t>The chart shows the </a:t>
            </a:r>
            <a:r>
              <a:rPr lang="en-US" b="1" dirty="0"/>
              <a:t>average log-transformed energy production across different counties</a:t>
            </a:r>
            <a:r>
              <a:rPr lang="en-US" dirty="0"/>
              <a:t>.</a:t>
            </a:r>
          </a:p>
          <a:p>
            <a:r>
              <a:rPr lang="en-US" dirty="0"/>
              <a:t>Energy values across counties are </a:t>
            </a:r>
            <a:r>
              <a:rPr lang="en-US" b="1" dirty="0"/>
              <a:t>fairly similar</a:t>
            </a:r>
            <a:r>
              <a:rPr lang="en-US" dirty="0"/>
              <a:t>, with only slight variations. </a:t>
            </a:r>
          </a:p>
          <a:p>
            <a:r>
              <a:rPr lang="en-US" b="1" dirty="0"/>
              <a:t>New York County</a:t>
            </a:r>
            <a:r>
              <a:rPr lang="en-US" dirty="0"/>
              <a:t> shows the highest average energy, followed closely by Suffolk and Westchester. </a:t>
            </a:r>
          </a:p>
          <a:p>
            <a:r>
              <a:rPr lang="en-US" dirty="0"/>
              <a:t>Other counties like Queens, Kings, and Putnam exhibit slightly lower but comparable values.</a:t>
            </a:r>
          </a:p>
          <a:p>
            <a:endParaRPr lang="en-US" dirty="0"/>
          </a:p>
          <a:p>
            <a:r>
              <a:rPr lang="en-US" dirty="0"/>
              <a:t>Geographic location (county) has </a:t>
            </a:r>
            <a:r>
              <a:rPr lang="en-US" b="1" dirty="0"/>
              <a:t>some influence</a:t>
            </a:r>
            <a:r>
              <a:rPr lang="en-US" dirty="0"/>
              <a:t>, but differences are not very large.</a:t>
            </a:r>
          </a:p>
          <a:p>
            <a:r>
              <a:rPr lang="en-US" dirty="0"/>
              <a:t>This suggests that while location matters, it is </a:t>
            </a:r>
            <a:r>
              <a:rPr lang="en-US" b="1" dirty="0"/>
              <a:t>not the primary driver</a:t>
            </a:r>
            <a:r>
              <a:rPr lang="en-US" dirty="0"/>
              <a:t> of energy output.</a:t>
            </a:r>
          </a:p>
          <a:p>
            <a:r>
              <a:rPr lang="en-US" dirty="0"/>
              <a:t>Core factors like </a:t>
            </a:r>
            <a:r>
              <a:rPr lang="en-US" b="1" dirty="0"/>
              <a:t>system capacity and efficiency</a:t>
            </a:r>
            <a:r>
              <a:rPr lang="en-US" dirty="0"/>
              <a:t> likely have a stronger impact.</a:t>
            </a:r>
          </a:p>
          <a:p>
            <a:endParaRPr lang="en-US" dirty="0"/>
          </a:p>
          <a:p>
            <a:r>
              <a:rPr lang="en-US" dirty="0"/>
              <a:t>Energy production shows minor variation across counties, indicating that location has a moderate but not dominant effect on solar energy output</a:t>
            </a:r>
          </a:p>
        </p:txBody>
      </p:sp>
    </p:spTree>
    <p:extLst>
      <p:ext uri="{BB962C8B-B14F-4D97-AF65-F5344CB8AC3E}">
        <p14:creationId xmlns:p14="http://schemas.microsoft.com/office/powerpoint/2010/main" val="986275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E529-9D9E-05B9-E22D-DD82DE451940}"/>
              </a:ext>
            </a:extLst>
          </p:cNvPr>
          <p:cNvSpPr>
            <a:spLocks noGrp="1"/>
          </p:cNvSpPr>
          <p:nvPr>
            <p:ph type="title"/>
          </p:nvPr>
        </p:nvSpPr>
        <p:spPr>
          <a:xfrm>
            <a:off x="1097279" y="139120"/>
            <a:ext cx="9521559" cy="686790"/>
          </a:xfrm>
        </p:spPr>
        <p:txBody>
          <a:bodyPr>
            <a:normAutofit fontScale="90000"/>
          </a:bodyPr>
          <a:lstStyle/>
          <a:p>
            <a:r>
              <a:rPr lang="en-IN" dirty="0"/>
              <a:t>			Yearly Energy Trend</a:t>
            </a:r>
          </a:p>
        </p:txBody>
      </p:sp>
      <p:pic>
        <p:nvPicPr>
          <p:cNvPr id="5" name="Content Placeholder 4">
            <a:extLst>
              <a:ext uri="{FF2B5EF4-FFF2-40B4-BE49-F238E27FC236}">
                <a16:creationId xmlns:a16="http://schemas.microsoft.com/office/drawing/2014/main" id="{2544960B-D02C-88AE-D9FB-EA56E53AD0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62208" y="676224"/>
            <a:ext cx="5092504" cy="4022725"/>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28E3A8C8-4F21-432F-01C8-DCDE9F360E40}"/>
              </a:ext>
            </a:extLst>
          </p:cNvPr>
          <p:cNvSpPr txBox="1"/>
          <p:nvPr/>
        </p:nvSpPr>
        <p:spPr>
          <a:xfrm>
            <a:off x="137288" y="825910"/>
            <a:ext cx="6824920" cy="5078313"/>
          </a:xfrm>
          <a:prstGeom prst="rect">
            <a:avLst/>
          </a:prstGeom>
          <a:noFill/>
        </p:spPr>
        <p:txBody>
          <a:bodyPr wrap="square" rtlCol="0">
            <a:spAutoFit/>
          </a:bodyPr>
          <a:lstStyle/>
          <a:p>
            <a:r>
              <a:rPr lang="en-US" dirty="0"/>
              <a:t>The line chart shows the </a:t>
            </a:r>
            <a:r>
              <a:rPr lang="en-US" b="1" dirty="0"/>
              <a:t>trend of log-transformed annual energy production over time (2015–2023)</a:t>
            </a:r>
            <a:r>
              <a:rPr lang="en-US" dirty="0"/>
              <a:t>.</a:t>
            </a:r>
          </a:p>
          <a:p>
            <a:r>
              <a:rPr lang="en-US" dirty="0"/>
              <a:t>Energy production shows a </a:t>
            </a:r>
            <a:r>
              <a:rPr lang="en-US" b="1" dirty="0"/>
              <a:t>slight fluctuation</a:t>
            </a:r>
            <a:r>
              <a:rPr lang="en-US" dirty="0"/>
              <a:t> over the years rather than a strong upward or downward trend. </a:t>
            </a:r>
          </a:p>
          <a:p>
            <a:r>
              <a:rPr lang="en-US" dirty="0"/>
              <a:t>There is a noticeable </a:t>
            </a:r>
            <a:r>
              <a:rPr lang="en-US" b="1" dirty="0"/>
              <a:t>dip around 2020</a:t>
            </a:r>
            <a:r>
              <a:rPr lang="en-US" dirty="0"/>
              <a:t>, followed by a recovery and increase in subsequent years. </a:t>
            </a:r>
          </a:p>
          <a:p>
            <a:r>
              <a:rPr lang="en-US" dirty="0"/>
              <a:t>Post-2020, energy levels stabilize and slightly improve, peaking around 2022.</a:t>
            </a:r>
          </a:p>
          <a:p>
            <a:endParaRPr lang="en-US" dirty="0"/>
          </a:p>
          <a:p>
            <a:r>
              <a:rPr lang="en-US" dirty="0"/>
              <a:t>The dip in 2020 may reflect </a:t>
            </a:r>
            <a:r>
              <a:rPr lang="en-US" b="1" dirty="0"/>
              <a:t>external factors</a:t>
            </a:r>
            <a:r>
              <a:rPr lang="en-US" dirty="0"/>
              <a:t> (e.g., operational disruptions or data variation).</a:t>
            </a:r>
          </a:p>
          <a:p>
            <a:r>
              <a:rPr lang="en-US" dirty="0"/>
              <a:t>Overall, energy production remains </a:t>
            </a:r>
            <a:r>
              <a:rPr lang="en-US" b="1" dirty="0"/>
              <a:t>relatively stable over time</a:t>
            </a:r>
            <a:r>
              <a:rPr lang="en-US" dirty="0"/>
              <a:t>.</a:t>
            </a:r>
          </a:p>
          <a:p>
            <a:r>
              <a:rPr lang="en-US" dirty="0"/>
              <a:t>Year alone is not a strong predictor but helps capture </a:t>
            </a:r>
            <a:r>
              <a:rPr lang="en-US" b="1" dirty="0"/>
              <a:t>temporal variations and trends</a:t>
            </a:r>
            <a:r>
              <a:rPr lang="en-US" dirty="0"/>
              <a:t>.</a:t>
            </a:r>
          </a:p>
          <a:p>
            <a:endParaRPr lang="en-US" dirty="0"/>
          </a:p>
          <a:p>
            <a:r>
              <a:rPr lang="en-US" dirty="0"/>
              <a:t>Solar energy production shows minor year-to-year variation with a temporary dip around 2020, indicating stable long-term performance with slight temporal fluctuations.</a:t>
            </a:r>
          </a:p>
        </p:txBody>
      </p:sp>
    </p:spTree>
    <p:extLst>
      <p:ext uri="{BB962C8B-B14F-4D97-AF65-F5344CB8AC3E}">
        <p14:creationId xmlns:p14="http://schemas.microsoft.com/office/powerpoint/2010/main" val="1935032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B9E5-DC9E-3FA2-9A19-9302943639C0}"/>
              </a:ext>
            </a:extLst>
          </p:cNvPr>
          <p:cNvSpPr>
            <a:spLocks noGrp="1"/>
          </p:cNvSpPr>
          <p:nvPr>
            <p:ph type="title"/>
          </p:nvPr>
        </p:nvSpPr>
        <p:spPr>
          <a:xfrm>
            <a:off x="1097280" y="286603"/>
            <a:ext cx="9560888" cy="549139"/>
          </a:xfrm>
        </p:spPr>
        <p:txBody>
          <a:bodyPr>
            <a:normAutofit fontScale="90000"/>
          </a:bodyPr>
          <a:lstStyle/>
          <a:p>
            <a:r>
              <a:rPr lang="en-IN" dirty="0"/>
              <a:t>		Monthly Energy Trend</a:t>
            </a:r>
          </a:p>
        </p:txBody>
      </p:sp>
      <p:pic>
        <p:nvPicPr>
          <p:cNvPr id="7" name="Content Placeholder 6">
            <a:extLst>
              <a:ext uri="{FF2B5EF4-FFF2-40B4-BE49-F238E27FC236}">
                <a16:creationId xmlns:a16="http://schemas.microsoft.com/office/drawing/2014/main" id="{CE65628B-B8B0-8BD5-DDDD-156C5C1BFC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31621" y="766098"/>
            <a:ext cx="5266954" cy="4160528"/>
          </a:xfrm>
          <a:prstGeom prst="rect">
            <a:avLst/>
          </a:prstGeom>
          <a:scene3d>
            <a:camera prst="orthographicFront"/>
            <a:lightRig rig="threePt" dir="t"/>
          </a:scene3d>
          <a:sp3d>
            <a:bevelT prst="relaxedInset"/>
          </a:sp3d>
        </p:spPr>
      </p:pic>
      <p:sp>
        <p:nvSpPr>
          <p:cNvPr id="8" name="TextBox 7">
            <a:extLst>
              <a:ext uri="{FF2B5EF4-FFF2-40B4-BE49-F238E27FC236}">
                <a16:creationId xmlns:a16="http://schemas.microsoft.com/office/drawing/2014/main" id="{E518C347-7D34-FFFE-9044-287ACCC4F754}"/>
              </a:ext>
            </a:extLst>
          </p:cNvPr>
          <p:cNvSpPr txBox="1"/>
          <p:nvPr/>
        </p:nvSpPr>
        <p:spPr>
          <a:xfrm>
            <a:off x="353961" y="766098"/>
            <a:ext cx="6377659" cy="5078313"/>
          </a:xfrm>
          <a:prstGeom prst="rect">
            <a:avLst/>
          </a:prstGeom>
          <a:noFill/>
        </p:spPr>
        <p:txBody>
          <a:bodyPr wrap="square" rtlCol="0">
            <a:spAutoFit/>
          </a:bodyPr>
          <a:lstStyle/>
          <a:p>
            <a:r>
              <a:rPr lang="en-US" dirty="0"/>
              <a:t>The line chart shows the </a:t>
            </a:r>
            <a:r>
              <a:rPr lang="en-US" b="1" dirty="0"/>
              <a:t>variation of log-transformed energy production across months</a:t>
            </a:r>
            <a:r>
              <a:rPr lang="en-US" dirty="0"/>
              <a:t>.</a:t>
            </a:r>
          </a:p>
          <a:p>
            <a:r>
              <a:rPr lang="en-US" dirty="0"/>
              <a:t>Energy production is </a:t>
            </a:r>
            <a:r>
              <a:rPr lang="en-US" b="1" dirty="0"/>
              <a:t>relatively stable for most months</a:t>
            </a:r>
            <a:r>
              <a:rPr lang="en-US" dirty="0"/>
              <a:t>, with moderate fluctuations. </a:t>
            </a:r>
          </a:p>
          <a:p>
            <a:r>
              <a:rPr lang="en-US" dirty="0"/>
              <a:t>A noticeable </a:t>
            </a:r>
            <a:r>
              <a:rPr lang="en-US" b="1" dirty="0"/>
              <a:t>dip occurs around September–October</a:t>
            </a:r>
            <a:r>
              <a:rPr lang="en-US" dirty="0"/>
              <a:t>, indicating lower energy output during this period. </a:t>
            </a:r>
          </a:p>
          <a:p>
            <a:r>
              <a:rPr lang="en-US" dirty="0"/>
              <a:t>Energy rises again towards the end of the year, with </a:t>
            </a:r>
            <a:r>
              <a:rPr lang="en-US" b="1" dirty="0"/>
              <a:t>December showing the highest value</a:t>
            </a:r>
            <a:r>
              <a:rPr lang="en-US" dirty="0"/>
              <a:t>.</a:t>
            </a:r>
          </a:p>
          <a:p>
            <a:endParaRPr lang="en-US" dirty="0"/>
          </a:p>
          <a:p>
            <a:r>
              <a:rPr lang="en-US" dirty="0"/>
              <a:t>The pattern reflects </a:t>
            </a:r>
            <a:r>
              <a:rPr lang="en-US" b="1" dirty="0"/>
              <a:t>seasonal variation in solar energy production</a:t>
            </a:r>
            <a:r>
              <a:rPr lang="en-US" dirty="0"/>
              <a:t>.</a:t>
            </a:r>
          </a:p>
          <a:p>
            <a:r>
              <a:rPr lang="en-US" dirty="0"/>
              <a:t>Lower values in late months may be due to </a:t>
            </a:r>
            <a:r>
              <a:rPr lang="en-US" b="1" dirty="0"/>
              <a:t>reduced sunlight or weather conditions</a:t>
            </a:r>
            <a:r>
              <a:rPr lang="en-US" dirty="0"/>
              <a:t>.</a:t>
            </a:r>
          </a:p>
          <a:p>
            <a:r>
              <a:rPr lang="en-US" dirty="0"/>
              <a:t>Monthly trends confirm the importance of including </a:t>
            </a:r>
            <a:r>
              <a:rPr lang="en-US" b="1" dirty="0"/>
              <a:t>seasonal features</a:t>
            </a:r>
            <a:r>
              <a:rPr lang="en-US" dirty="0"/>
              <a:t> in the model.</a:t>
            </a:r>
          </a:p>
          <a:p>
            <a:endParaRPr lang="en-US" dirty="0"/>
          </a:p>
          <a:p>
            <a:r>
              <a:rPr lang="en-US" dirty="0"/>
              <a:t>Solar energy production varies across months with a seasonal pattern, making month-based features important for accurate prediction.</a:t>
            </a:r>
          </a:p>
        </p:txBody>
      </p:sp>
    </p:spTree>
    <p:extLst>
      <p:ext uri="{BB962C8B-B14F-4D97-AF65-F5344CB8AC3E}">
        <p14:creationId xmlns:p14="http://schemas.microsoft.com/office/powerpoint/2010/main" val="421076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2468D-EAEE-1EA1-4E86-F050FE62D9E4}"/>
              </a:ext>
            </a:extLst>
          </p:cNvPr>
          <p:cNvSpPr>
            <a:spLocks noGrp="1"/>
          </p:cNvSpPr>
          <p:nvPr>
            <p:ph type="title"/>
          </p:nvPr>
        </p:nvSpPr>
        <p:spPr>
          <a:xfrm>
            <a:off x="894736" y="98324"/>
            <a:ext cx="9360310" cy="688258"/>
          </a:xfrm>
        </p:spPr>
        <p:txBody>
          <a:bodyPr>
            <a:normAutofit fontScale="90000"/>
          </a:bodyPr>
          <a:lstStyle/>
          <a:p>
            <a:r>
              <a:rPr lang="en-IN" dirty="0"/>
              <a:t>		Energy per kW Distribution</a:t>
            </a:r>
          </a:p>
        </p:txBody>
      </p:sp>
      <p:pic>
        <p:nvPicPr>
          <p:cNvPr id="7" name="Content Placeholder 6">
            <a:extLst>
              <a:ext uri="{FF2B5EF4-FFF2-40B4-BE49-F238E27FC236}">
                <a16:creationId xmlns:a16="http://schemas.microsoft.com/office/drawing/2014/main" id="{2C3C256A-6BFA-591E-C4B5-DB69DAF1C9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449" y="786582"/>
            <a:ext cx="5202946" cy="4160528"/>
          </a:xfrm>
          <a:prstGeom prst="rect">
            <a:avLst/>
          </a:prstGeom>
          <a:scene3d>
            <a:camera prst="orthographicFront"/>
            <a:lightRig rig="threePt" dir="t"/>
          </a:scene3d>
          <a:sp3d>
            <a:bevelT prst="relaxedInset"/>
          </a:sp3d>
        </p:spPr>
      </p:pic>
      <p:sp>
        <p:nvSpPr>
          <p:cNvPr id="8" name="TextBox 7">
            <a:extLst>
              <a:ext uri="{FF2B5EF4-FFF2-40B4-BE49-F238E27FC236}">
                <a16:creationId xmlns:a16="http://schemas.microsoft.com/office/drawing/2014/main" id="{BF95599D-A824-36B7-36A4-2C313CDA61A5}"/>
              </a:ext>
            </a:extLst>
          </p:cNvPr>
          <p:cNvSpPr txBox="1"/>
          <p:nvPr/>
        </p:nvSpPr>
        <p:spPr>
          <a:xfrm>
            <a:off x="210605" y="631722"/>
            <a:ext cx="6567844" cy="5632311"/>
          </a:xfrm>
          <a:prstGeom prst="rect">
            <a:avLst/>
          </a:prstGeom>
          <a:noFill/>
        </p:spPr>
        <p:txBody>
          <a:bodyPr wrap="square" rtlCol="0">
            <a:spAutoFit/>
          </a:bodyPr>
          <a:lstStyle/>
          <a:p>
            <a:r>
              <a:rPr lang="en-US" dirty="0"/>
              <a:t>The histogram shows the distribution of </a:t>
            </a:r>
            <a:r>
              <a:rPr lang="en-US" b="1" dirty="0"/>
              <a:t>energy generated per unit capacity (kWh per kW)</a:t>
            </a:r>
            <a:r>
              <a:rPr lang="en-US" dirty="0"/>
              <a:t>, which represents system efficiency.</a:t>
            </a:r>
          </a:p>
          <a:p>
            <a:r>
              <a:rPr lang="en-US" dirty="0"/>
              <a:t>The values are </a:t>
            </a:r>
            <a:r>
              <a:rPr lang="en-US" b="1" dirty="0"/>
              <a:t>tightly clustered around a narrow range (~1173–1174 kWh/kW)</a:t>
            </a:r>
            <a:r>
              <a:rPr lang="en-US" dirty="0"/>
              <a:t>. </a:t>
            </a:r>
          </a:p>
          <a:p>
            <a:r>
              <a:rPr lang="en-US" dirty="0"/>
              <a:t>The distribution appears </a:t>
            </a:r>
            <a:r>
              <a:rPr lang="en-US" b="1" dirty="0"/>
              <a:t>approximately normal</a:t>
            </a:r>
            <a:r>
              <a:rPr lang="en-US" dirty="0"/>
              <a:t>, with very low spread. </a:t>
            </a:r>
          </a:p>
          <a:p>
            <a:r>
              <a:rPr lang="en-US" dirty="0"/>
              <a:t>Only a few minor deviations (outliers) are present.</a:t>
            </a:r>
          </a:p>
          <a:p>
            <a:endParaRPr lang="en-US" dirty="0"/>
          </a:p>
          <a:p>
            <a:r>
              <a:rPr lang="en-US" dirty="0"/>
              <a:t>Solar systems in the dataset have </a:t>
            </a:r>
            <a:r>
              <a:rPr lang="en-US" b="1" dirty="0"/>
              <a:t>highly consistent efficiency</a:t>
            </a:r>
            <a:r>
              <a:rPr lang="en-US" dirty="0"/>
              <a:t> across installations.</a:t>
            </a:r>
          </a:p>
          <a:p>
            <a:r>
              <a:rPr lang="en-US" dirty="0"/>
              <a:t>This indicates standardized performance, likely due to </a:t>
            </a:r>
            <a:r>
              <a:rPr lang="en-US" b="1" dirty="0"/>
              <a:t>similar environmental conditions and system quality</a:t>
            </a:r>
            <a:r>
              <a:rPr lang="en-US" dirty="0"/>
              <a:t>.</a:t>
            </a:r>
          </a:p>
          <a:p>
            <a:r>
              <a:rPr lang="en-US" dirty="0"/>
              <a:t>The low variance suggests that </a:t>
            </a:r>
            <a:r>
              <a:rPr lang="en-US" b="1" dirty="0"/>
              <a:t>capacity drives energy more than efficiency differences</a:t>
            </a:r>
            <a:r>
              <a:rPr lang="en-US" dirty="0"/>
              <a:t>.</a:t>
            </a:r>
          </a:p>
          <a:p>
            <a:endParaRPr lang="en-US" dirty="0"/>
          </a:p>
          <a:p>
            <a:r>
              <a:rPr lang="en-US" dirty="0"/>
              <a:t>Energy per kW is highly consistent across systems, indicating stable efficiency and reinforcing capacity as the primary driver of energy output.</a:t>
            </a:r>
          </a:p>
          <a:p>
            <a:endParaRPr lang="en-US" dirty="0"/>
          </a:p>
          <a:p>
            <a:endParaRPr lang="en-US" dirty="0"/>
          </a:p>
        </p:txBody>
      </p:sp>
    </p:spTree>
    <p:extLst>
      <p:ext uri="{BB962C8B-B14F-4D97-AF65-F5344CB8AC3E}">
        <p14:creationId xmlns:p14="http://schemas.microsoft.com/office/powerpoint/2010/main" val="3425104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F7BCF-CB16-2A79-0E5F-40A02AFAC1C8}"/>
              </a:ext>
            </a:extLst>
          </p:cNvPr>
          <p:cNvSpPr>
            <a:spLocks noGrp="1"/>
          </p:cNvSpPr>
          <p:nvPr>
            <p:ph type="title"/>
          </p:nvPr>
        </p:nvSpPr>
        <p:spPr>
          <a:xfrm>
            <a:off x="1097280" y="286603"/>
            <a:ext cx="9256088" cy="702303"/>
          </a:xfrm>
        </p:spPr>
        <p:txBody>
          <a:bodyPr>
            <a:normAutofit fontScale="90000"/>
          </a:bodyPr>
          <a:lstStyle/>
          <a:p>
            <a:r>
              <a:rPr lang="en-IN" dirty="0"/>
              <a:t>	Top Developers by Efficiency </a:t>
            </a:r>
          </a:p>
        </p:txBody>
      </p:sp>
      <p:pic>
        <p:nvPicPr>
          <p:cNvPr id="5" name="Content Placeholder 4">
            <a:extLst>
              <a:ext uri="{FF2B5EF4-FFF2-40B4-BE49-F238E27FC236}">
                <a16:creationId xmlns:a16="http://schemas.microsoft.com/office/drawing/2014/main" id="{8F1A85D4-1D37-1003-DC55-A43237FE4A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8323" y="836631"/>
            <a:ext cx="4395019" cy="4387171"/>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8227CE8A-C1EB-CE25-4D33-99CC3AA45261}"/>
              </a:ext>
            </a:extLst>
          </p:cNvPr>
          <p:cNvSpPr txBox="1"/>
          <p:nvPr/>
        </p:nvSpPr>
        <p:spPr>
          <a:xfrm>
            <a:off x="235974" y="988906"/>
            <a:ext cx="7482349" cy="4524315"/>
          </a:xfrm>
          <a:prstGeom prst="rect">
            <a:avLst/>
          </a:prstGeom>
          <a:noFill/>
        </p:spPr>
        <p:txBody>
          <a:bodyPr wrap="square" rtlCol="0">
            <a:spAutoFit/>
          </a:bodyPr>
          <a:lstStyle/>
          <a:p>
            <a:r>
              <a:rPr lang="en-US" dirty="0"/>
              <a:t>The chart compares </a:t>
            </a:r>
            <a:r>
              <a:rPr lang="en-US" b="1" dirty="0"/>
              <a:t>average energy per kW (efficiency)</a:t>
            </a:r>
            <a:r>
              <a:rPr lang="en-US" dirty="0"/>
              <a:t> across top developers.</a:t>
            </a:r>
          </a:p>
          <a:p>
            <a:endParaRPr lang="en-US" dirty="0"/>
          </a:p>
          <a:p>
            <a:r>
              <a:rPr lang="en-US" dirty="0"/>
              <a:t>Efficiency values are </a:t>
            </a:r>
            <a:r>
              <a:rPr lang="en-US" b="1" dirty="0"/>
              <a:t>nearly identical across all developers</a:t>
            </a:r>
            <a:r>
              <a:rPr lang="en-US" dirty="0"/>
              <a:t>, clustered tightly around ~1175–1180 kWh/kW. </a:t>
            </a:r>
          </a:p>
          <a:p>
            <a:r>
              <a:rPr lang="en-US" dirty="0"/>
              <a:t>No developer shows a significant advantage or disadvantage in performance.</a:t>
            </a:r>
          </a:p>
          <a:p>
            <a:endParaRPr lang="en-US" dirty="0"/>
          </a:p>
          <a:p>
            <a:r>
              <a:rPr lang="en-US" dirty="0"/>
              <a:t>Developer impact on system efficiency is </a:t>
            </a:r>
            <a:r>
              <a:rPr lang="en-US" b="1" dirty="0"/>
              <a:t>minimal</a:t>
            </a:r>
            <a:r>
              <a:rPr lang="en-US" dirty="0"/>
              <a:t>.</a:t>
            </a:r>
          </a:p>
          <a:p>
            <a:r>
              <a:rPr lang="en-US" dirty="0"/>
              <a:t>Solar systems appear to operate with </a:t>
            </a:r>
            <a:r>
              <a:rPr lang="en-US" b="1" dirty="0"/>
              <a:t>consistent performance standards</a:t>
            </a:r>
            <a:r>
              <a:rPr lang="en-US" dirty="0"/>
              <a:t> regardless of installer.</a:t>
            </a:r>
          </a:p>
          <a:p>
            <a:r>
              <a:rPr lang="en-US" dirty="0"/>
              <a:t>This reinforces that </a:t>
            </a:r>
            <a:r>
              <a:rPr lang="en-US" b="1" dirty="0"/>
              <a:t>capacity and external conditions</a:t>
            </a:r>
            <a:r>
              <a:rPr lang="en-US" dirty="0"/>
              <a:t> play a bigger role than developer differences.</a:t>
            </a:r>
          </a:p>
          <a:p>
            <a:endParaRPr lang="en-US" dirty="0"/>
          </a:p>
          <a:p>
            <a:r>
              <a:rPr lang="en-US" dirty="0"/>
              <a:t>Solar system efficiency is consistent across developers, indicating that developer choice has limited influence on performance compared to core system and environmental factors</a:t>
            </a:r>
          </a:p>
        </p:txBody>
      </p:sp>
    </p:spTree>
    <p:extLst>
      <p:ext uri="{BB962C8B-B14F-4D97-AF65-F5344CB8AC3E}">
        <p14:creationId xmlns:p14="http://schemas.microsoft.com/office/powerpoint/2010/main" val="3205102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914BF-F9E0-5422-4EFE-C46D79FCF2DF}"/>
              </a:ext>
            </a:extLst>
          </p:cNvPr>
          <p:cNvSpPr>
            <a:spLocks noGrp="1"/>
          </p:cNvSpPr>
          <p:nvPr>
            <p:ph type="title"/>
          </p:nvPr>
        </p:nvSpPr>
        <p:spPr>
          <a:xfrm>
            <a:off x="890803" y="0"/>
            <a:ext cx="9610049" cy="796413"/>
          </a:xfrm>
        </p:spPr>
        <p:txBody>
          <a:bodyPr/>
          <a:lstStyle/>
          <a:p>
            <a:r>
              <a:rPr lang="en-US" dirty="0"/>
              <a:t>	Outlier Detection – Energy per kW</a:t>
            </a:r>
            <a:endParaRPr lang="en-IN" dirty="0"/>
          </a:p>
        </p:txBody>
      </p:sp>
      <p:pic>
        <p:nvPicPr>
          <p:cNvPr id="5" name="Content Placeholder 4">
            <a:extLst>
              <a:ext uri="{FF2B5EF4-FFF2-40B4-BE49-F238E27FC236}">
                <a16:creationId xmlns:a16="http://schemas.microsoft.com/office/drawing/2014/main" id="{253705E2-D1AE-3902-3E20-C79E73CA34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94601" y="796413"/>
            <a:ext cx="4597399" cy="4022725"/>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4AB0D2C7-1B87-10A2-EC3E-1D55E9359E75}"/>
              </a:ext>
            </a:extLst>
          </p:cNvPr>
          <p:cNvSpPr txBox="1"/>
          <p:nvPr/>
        </p:nvSpPr>
        <p:spPr>
          <a:xfrm>
            <a:off x="1" y="796413"/>
            <a:ext cx="7594600" cy="4247317"/>
          </a:xfrm>
          <a:prstGeom prst="rect">
            <a:avLst/>
          </a:prstGeom>
          <a:noFill/>
        </p:spPr>
        <p:txBody>
          <a:bodyPr wrap="square" rtlCol="0">
            <a:spAutoFit/>
          </a:bodyPr>
          <a:lstStyle/>
          <a:p>
            <a:r>
              <a:rPr lang="en-US" dirty="0"/>
              <a:t>The boxplot visualizes the distribution of </a:t>
            </a:r>
            <a:r>
              <a:rPr lang="en-US" b="1" dirty="0"/>
              <a:t>energy per kW (system efficiency)</a:t>
            </a:r>
            <a:r>
              <a:rPr lang="en-US" dirty="0"/>
              <a:t> and highlights potential outliers.</a:t>
            </a:r>
          </a:p>
          <a:p>
            <a:r>
              <a:rPr lang="en-US" dirty="0"/>
              <a:t>The data is </a:t>
            </a:r>
            <a:r>
              <a:rPr lang="en-US" b="1" dirty="0"/>
              <a:t>tightly concentrated</a:t>
            </a:r>
            <a:r>
              <a:rPr lang="en-US" dirty="0"/>
              <a:t>, with most values lying within a narrow range. </a:t>
            </a:r>
          </a:p>
          <a:p>
            <a:r>
              <a:rPr lang="en-US" dirty="0"/>
              <a:t>A few points appear outside the whiskers, indicating </a:t>
            </a:r>
            <a:r>
              <a:rPr lang="en-US" b="1" dirty="0"/>
              <a:t>minor outliers</a:t>
            </a:r>
            <a:r>
              <a:rPr lang="en-US" dirty="0"/>
              <a:t> on both lower and higher ends. </a:t>
            </a:r>
          </a:p>
          <a:p>
            <a:r>
              <a:rPr lang="en-US" dirty="0"/>
              <a:t>The median lies near the center of the box, suggesting a </a:t>
            </a:r>
            <a:r>
              <a:rPr lang="en-US" b="1" dirty="0"/>
              <a:t>balanced distribution</a:t>
            </a:r>
            <a:r>
              <a:rPr lang="en-US" dirty="0"/>
              <a:t>.</a:t>
            </a:r>
          </a:p>
          <a:p>
            <a:endParaRPr lang="en-US" dirty="0"/>
          </a:p>
          <a:p>
            <a:r>
              <a:rPr lang="en-US" dirty="0"/>
              <a:t>The small spread confirms </a:t>
            </a:r>
            <a:r>
              <a:rPr lang="en-US" b="1" dirty="0"/>
              <a:t>high consistency in system efficiency</a:t>
            </a:r>
            <a:r>
              <a:rPr lang="en-US" dirty="0"/>
              <a:t> across installations.</a:t>
            </a:r>
          </a:p>
          <a:p>
            <a:r>
              <a:rPr lang="en-US" dirty="0"/>
              <a:t>Detected outliers are minimal and likely represent </a:t>
            </a:r>
            <a:r>
              <a:rPr lang="en-US" b="1" dirty="0"/>
              <a:t>slight deviations rather than major errors</a:t>
            </a:r>
            <a:r>
              <a:rPr lang="en-US" dirty="0"/>
              <a:t>.</a:t>
            </a:r>
          </a:p>
          <a:p>
            <a:r>
              <a:rPr lang="en-US" dirty="0"/>
              <a:t>Overall, the dataset shows </a:t>
            </a:r>
            <a:r>
              <a:rPr lang="en-US" b="1" dirty="0"/>
              <a:t>stable and reliable efficiency values</a:t>
            </a:r>
            <a:r>
              <a:rPr lang="en-US" dirty="0"/>
              <a:t>.</a:t>
            </a:r>
          </a:p>
          <a:p>
            <a:endParaRPr lang="en-US" dirty="0"/>
          </a:p>
          <a:p>
            <a:r>
              <a:rPr lang="en-US" dirty="0"/>
              <a:t>Energy per kW shows low variability with only minor outliers, indicating consistent solar system performance across the dataset.</a:t>
            </a:r>
          </a:p>
        </p:txBody>
      </p:sp>
    </p:spTree>
    <p:extLst>
      <p:ext uri="{BB962C8B-B14F-4D97-AF65-F5344CB8AC3E}">
        <p14:creationId xmlns:p14="http://schemas.microsoft.com/office/powerpoint/2010/main" val="1056908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E630-1419-B83B-F905-DF7580FC8A2C}"/>
              </a:ext>
            </a:extLst>
          </p:cNvPr>
          <p:cNvSpPr>
            <a:spLocks noGrp="1"/>
          </p:cNvSpPr>
          <p:nvPr>
            <p:ph type="title"/>
          </p:nvPr>
        </p:nvSpPr>
        <p:spPr>
          <a:xfrm>
            <a:off x="943898" y="78659"/>
            <a:ext cx="9851922" cy="698089"/>
          </a:xfrm>
        </p:spPr>
        <p:txBody>
          <a:bodyPr>
            <a:normAutofit fontScale="90000"/>
          </a:bodyPr>
          <a:lstStyle/>
          <a:p>
            <a:r>
              <a:rPr lang="en-IN" dirty="0"/>
              <a:t>			Capacity Vs Efficiency</a:t>
            </a:r>
          </a:p>
        </p:txBody>
      </p:sp>
      <p:pic>
        <p:nvPicPr>
          <p:cNvPr id="5" name="Content Placeholder 4">
            <a:extLst>
              <a:ext uri="{FF2B5EF4-FFF2-40B4-BE49-F238E27FC236}">
                <a16:creationId xmlns:a16="http://schemas.microsoft.com/office/drawing/2014/main" id="{69AEE3BA-7186-3DE0-FF3F-360A453554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9196" y="1040019"/>
            <a:ext cx="5242804" cy="4022725"/>
          </a:xfrm>
          <a:prstGeom prst="rect">
            <a:avLst/>
          </a:prstGeom>
          <a:scene3d>
            <a:camera prst="orthographicFront"/>
            <a:lightRig rig="threePt" dir="t"/>
          </a:scene3d>
          <a:sp3d>
            <a:bevelT prst="relaxedInset"/>
          </a:sp3d>
        </p:spPr>
      </p:pic>
      <p:sp>
        <p:nvSpPr>
          <p:cNvPr id="7" name="TextBox 6">
            <a:extLst>
              <a:ext uri="{FF2B5EF4-FFF2-40B4-BE49-F238E27FC236}">
                <a16:creationId xmlns:a16="http://schemas.microsoft.com/office/drawing/2014/main" id="{E2A1B7EE-B2CC-2005-F827-27774B59D0ED}"/>
              </a:ext>
            </a:extLst>
          </p:cNvPr>
          <p:cNvSpPr txBox="1"/>
          <p:nvPr/>
        </p:nvSpPr>
        <p:spPr>
          <a:xfrm>
            <a:off x="206478" y="776748"/>
            <a:ext cx="6636774" cy="4801314"/>
          </a:xfrm>
          <a:prstGeom prst="rect">
            <a:avLst/>
          </a:prstGeom>
          <a:noFill/>
        </p:spPr>
        <p:txBody>
          <a:bodyPr wrap="square" rtlCol="0">
            <a:spAutoFit/>
          </a:bodyPr>
          <a:lstStyle/>
          <a:p>
            <a:r>
              <a:rPr lang="en-US" dirty="0"/>
              <a:t>The scatter plot shows the relationship between </a:t>
            </a:r>
            <a:r>
              <a:rPr lang="en-US" b="1" dirty="0"/>
              <a:t>system capacity (kW)</a:t>
            </a:r>
            <a:r>
              <a:rPr lang="en-US" dirty="0"/>
              <a:t> and </a:t>
            </a:r>
            <a:r>
              <a:rPr lang="en-US" b="1" dirty="0"/>
              <a:t>energy per kW (efficiency)</a:t>
            </a:r>
            <a:r>
              <a:rPr lang="en-US" dirty="0"/>
              <a:t>.</a:t>
            </a:r>
          </a:p>
          <a:p>
            <a:r>
              <a:rPr lang="en-US" dirty="0"/>
              <a:t>Efficiency values are </a:t>
            </a:r>
            <a:r>
              <a:rPr lang="en-US" b="1" dirty="0"/>
              <a:t>highly concentrated within a narrow range</a:t>
            </a:r>
            <a:r>
              <a:rPr lang="en-US" dirty="0"/>
              <a:t>, regardless of system size. </a:t>
            </a:r>
          </a:p>
          <a:p>
            <a:r>
              <a:rPr lang="en-US" dirty="0"/>
              <a:t>There is </a:t>
            </a:r>
            <a:r>
              <a:rPr lang="en-US" b="1" dirty="0"/>
              <a:t>no strong relationship</a:t>
            </a:r>
            <a:r>
              <a:rPr lang="en-US" dirty="0"/>
              <a:t> between capacity and efficiency. </a:t>
            </a:r>
          </a:p>
          <a:p>
            <a:r>
              <a:rPr lang="en-US" dirty="0"/>
              <a:t>Smaller systems show slightly more spread, while larger systems are tightly clustered.</a:t>
            </a:r>
          </a:p>
          <a:p>
            <a:endParaRPr lang="en-US" dirty="0"/>
          </a:p>
          <a:p>
            <a:r>
              <a:rPr lang="en-US" dirty="0"/>
              <a:t>System efficiency remains </a:t>
            </a:r>
            <a:r>
              <a:rPr lang="en-US" b="1" dirty="0"/>
              <a:t>consistent across different capacity levels</a:t>
            </a:r>
            <a:r>
              <a:rPr lang="en-US" dirty="0"/>
              <a:t>.</a:t>
            </a:r>
          </a:p>
          <a:p>
            <a:r>
              <a:rPr lang="en-US" dirty="0"/>
              <a:t>Increasing capacity increases total energy output, but </a:t>
            </a:r>
            <a:r>
              <a:rPr lang="en-US" b="1" dirty="0"/>
              <a:t>does not significantly affect efficiency</a:t>
            </a:r>
            <a:r>
              <a:rPr lang="en-US" dirty="0"/>
              <a:t>.</a:t>
            </a:r>
          </a:p>
          <a:p>
            <a:r>
              <a:rPr lang="en-US" dirty="0"/>
              <a:t>Variations in efficiency are minimal and likely due to </a:t>
            </a:r>
            <a:r>
              <a:rPr lang="en-US" b="1" dirty="0"/>
              <a:t>minor operational or environmental differences</a:t>
            </a:r>
            <a:r>
              <a:rPr lang="en-US" dirty="0"/>
              <a:t>.</a:t>
            </a:r>
          </a:p>
          <a:p>
            <a:endParaRPr lang="en-US" dirty="0"/>
          </a:p>
          <a:p>
            <a:r>
              <a:rPr lang="en-US" dirty="0"/>
              <a:t>System capacity does not significantly influence efficiency, indicating that solar installations perform consistently across different sizes</a:t>
            </a:r>
          </a:p>
          <a:p>
            <a:endParaRPr lang="en-US" dirty="0"/>
          </a:p>
        </p:txBody>
      </p:sp>
    </p:spTree>
    <p:extLst>
      <p:ext uri="{BB962C8B-B14F-4D97-AF65-F5344CB8AC3E}">
        <p14:creationId xmlns:p14="http://schemas.microsoft.com/office/powerpoint/2010/main" val="31807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EEE5B-EBD4-71C0-7830-AEDACB0A43FB}"/>
              </a:ext>
            </a:extLst>
          </p:cNvPr>
          <p:cNvSpPr>
            <a:spLocks noGrp="1"/>
          </p:cNvSpPr>
          <p:nvPr>
            <p:ph type="title"/>
          </p:nvPr>
        </p:nvSpPr>
        <p:spPr>
          <a:xfrm>
            <a:off x="989125" y="0"/>
            <a:ext cx="9364243" cy="806245"/>
          </a:xfrm>
        </p:spPr>
        <p:txBody>
          <a:bodyPr/>
          <a:lstStyle/>
          <a:p>
            <a:r>
              <a:rPr lang="en-IN" dirty="0"/>
              <a:t>Features &amp; Target &amp; Train-Test Split</a:t>
            </a:r>
          </a:p>
        </p:txBody>
      </p:sp>
      <p:sp>
        <p:nvSpPr>
          <p:cNvPr id="3" name="Content Placeholder 2">
            <a:extLst>
              <a:ext uri="{FF2B5EF4-FFF2-40B4-BE49-F238E27FC236}">
                <a16:creationId xmlns:a16="http://schemas.microsoft.com/office/drawing/2014/main" id="{8C8CB219-22B4-84E7-4FB2-16E8CE7FBCEC}"/>
              </a:ext>
            </a:extLst>
          </p:cNvPr>
          <p:cNvSpPr>
            <a:spLocks noGrp="1"/>
          </p:cNvSpPr>
          <p:nvPr>
            <p:ph idx="1"/>
          </p:nvPr>
        </p:nvSpPr>
        <p:spPr>
          <a:xfrm>
            <a:off x="167148" y="678425"/>
            <a:ext cx="12024852" cy="5673213"/>
          </a:xfrm>
        </p:spPr>
        <p:txBody>
          <a:bodyPr>
            <a:normAutofit fontScale="70000" lnSpcReduction="20000"/>
          </a:bodyPr>
          <a:lstStyle/>
          <a:p>
            <a:r>
              <a:rPr lang="en-US" dirty="0"/>
              <a:t>In this step, the dataset was prepared for modeling by clearly defining the </a:t>
            </a:r>
            <a:r>
              <a:rPr lang="en-US" b="1" dirty="0"/>
              <a:t>target variable, input features, and preprocessing pipeline</a:t>
            </a:r>
            <a:r>
              <a:rPr lang="en-US" dirty="0"/>
              <a:t>.</a:t>
            </a:r>
          </a:p>
          <a:p>
            <a:r>
              <a:rPr lang="en-US" dirty="0"/>
              <a:t>The target variable was set as </a:t>
            </a:r>
            <a:r>
              <a:rPr lang="en-US" b="1" dirty="0" err="1"/>
              <a:t>log_energy</a:t>
            </a:r>
            <a:r>
              <a:rPr lang="en-US" dirty="0"/>
              <a:t>, which is the log-transformed version of annual energy. This helps reduce skewness and improves model stability. </a:t>
            </a:r>
          </a:p>
          <a:p>
            <a:r>
              <a:rPr lang="en-US" dirty="0"/>
              <a:t>The original </a:t>
            </a:r>
            <a:r>
              <a:rPr lang="en-US" b="1" dirty="0" err="1"/>
              <a:t>annual_energy</a:t>
            </a:r>
            <a:r>
              <a:rPr lang="en-US" dirty="0"/>
              <a:t> was reconstructed using exponential transformation for consistency, and </a:t>
            </a:r>
            <a:r>
              <a:rPr lang="en-US" b="1" dirty="0" err="1"/>
              <a:t>energy_per_kw</a:t>
            </a:r>
            <a:r>
              <a:rPr lang="en-US" dirty="0"/>
              <a:t> was recalculated as an efficiency feature (though not used as the target).</a:t>
            </a:r>
          </a:p>
          <a:p>
            <a:r>
              <a:rPr lang="en-US" b="1" dirty="0"/>
              <a:t>Features Used</a:t>
            </a:r>
          </a:p>
          <a:p>
            <a:r>
              <a:rPr lang="en-US" dirty="0"/>
              <a:t>The model includes a mix of:</a:t>
            </a:r>
          </a:p>
          <a:p>
            <a:r>
              <a:rPr lang="en-US" b="1" dirty="0"/>
              <a:t>Categorical features:</a:t>
            </a:r>
            <a:r>
              <a:rPr lang="en-US" dirty="0"/>
              <a:t> developer, county, city, utility, metering method </a:t>
            </a:r>
          </a:p>
          <a:p>
            <a:r>
              <a:rPr lang="en-US" b="1" dirty="0"/>
              <a:t>Numerical features:</a:t>
            </a:r>
            <a:r>
              <a:rPr lang="en-US" dirty="0"/>
              <a:t> </a:t>
            </a:r>
            <a:r>
              <a:rPr lang="en-US" dirty="0" err="1"/>
              <a:t>capacity_kw</a:t>
            </a:r>
            <a:r>
              <a:rPr lang="en-US" dirty="0"/>
              <a:t>, year, month </a:t>
            </a:r>
          </a:p>
          <a:p>
            <a:r>
              <a:rPr lang="en-US" dirty="0"/>
              <a:t>These features capture </a:t>
            </a:r>
            <a:r>
              <a:rPr lang="en-US" b="1" dirty="0"/>
              <a:t>system size, location, operational setup, and temporal patterns</a:t>
            </a:r>
            <a:r>
              <a:rPr lang="en-US" dirty="0"/>
              <a:t>.</a:t>
            </a:r>
          </a:p>
          <a:p>
            <a:r>
              <a:rPr lang="en-US" b="1" dirty="0"/>
              <a:t>Preprocessing Pipeline</a:t>
            </a:r>
          </a:p>
          <a:p>
            <a:r>
              <a:rPr lang="en-US" dirty="0"/>
              <a:t>Numerical features were </a:t>
            </a:r>
            <a:r>
              <a:rPr lang="en-US" b="1" dirty="0"/>
              <a:t>standardized</a:t>
            </a:r>
            <a:r>
              <a:rPr lang="en-US" dirty="0"/>
              <a:t> using </a:t>
            </a:r>
            <a:r>
              <a:rPr lang="en-US" dirty="0" err="1"/>
              <a:t>StandardScaler</a:t>
            </a:r>
            <a:r>
              <a:rPr lang="en-US" dirty="0"/>
              <a:t> </a:t>
            </a:r>
          </a:p>
          <a:p>
            <a:r>
              <a:rPr lang="en-US" dirty="0"/>
              <a:t>Categorical features were </a:t>
            </a:r>
            <a:r>
              <a:rPr lang="en-US" b="1" dirty="0"/>
              <a:t>encoded</a:t>
            </a:r>
            <a:r>
              <a:rPr lang="en-US" dirty="0"/>
              <a:t> using </a:t>
            </a:r>
            <a:r>
              <a:rPr lang="en-US" dirty="0" err="1"/>
              <a:t>OneHotEncoder</a:t>
            </a:r>
            <a:r>
              <a:rPr lang="en-US" dirty="0"/>
              <a:t> </a:t>
            </a:r>
          </a:p>
          <a:p>
            <a:r>
              <a:rPr lang="en-US" dirty="0"/>
              <a:t>A </a:t>
            </a:r>
            <a:r>
              <a:rPr lang="en-US" dirty="0" err="1"/>
              <a:t>ColumnTransformer</a:t>
            </a:r>
            <a:r>
              <a:rPr lang="en-US" dirty="0"/>
              <a:t> was used to apply transformations efficiently</a:t>
            </a:r>
          </a:p>
          <a:p>
            <a:r>
              <a:rPr lang="en-US" b="1" dirty="0"/>
              <a:t>Train-Test Split</a:t>
            </a:r>
          </a:p>
          <a:p>
            <a:r>
              <a:rPr lang="en-US" dirty="0"/>
              <a:t>Data was split into: </a:t>
            </a:r>
          </a:p>
          <a:p>
            <a:pPr lvl="1"/>
            <a:r>
              <a:rPr lang="en-US" b="1" dirty="0"/>
              <a:t>80% training set</a:t>
            </a:r>
            <a:r>
              <a:rPr lang="en-US" dirty="0"/>
              <a:t> </a:t>
            </a:r>
          </a:p>
          <a:p>
            <a:pPr lvl="1"/>
            <a:r>
              <a:rPr lang="en-US" b="1" dirty="0"/>
              <a:t>20% testing set</a:t>
            </a:r>
            <a:r>
              <a:rPr lang="en-US" dirty="0"/>
              <a:t> </a:t>
            </a:r>
          </a:p>
          <a:p>
            <a:r>
              <a:rPr lang="en-US" dirty="0" err="1"/>
              <a:t>random_state</a:t>
            </a:r>
            <a:r>
              <a:rPr lang="en-US" dirty="0"/>
              <a:t>=42 ensures reproducibility</a:t>
            </a:r>
          </a:p>
          <a:p>
            <a:endParaRPr lang="en-US" dirty="0"/>
          </a:p>
          <a:p>
            <a:endParaRPr lang="en-IN" dirty="0"/>
          </a:p>
        </p:txBody>
      </p:sp>
    </p:spTree>
    <p:extLst>
      <p:ext uri="{BB962C8B-B14F-4D97-AF65-F5344CB8AC3E}">
        <p14:creationId xmlns:p14="http://schemas.microsoft.com/office/powerpoint/2010/main" val="1578669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C4A6-1CD0-D5AF-B6E0-B66338AC6A77}"/>
              </a:ext>
            </a:extLst>
          </p:cNvPr>
          <p:cNvSpPr>
            <a:spLocks noGrp="1"/>
          </p:cNvSpPr>
          <p:nvPr>
            <p:ph type="title"/>
          </p:nvPr>
        </p:nvSpPr>
        <p:spPr>
          <a:xfrm>
            <a:off x="1097280" y="80127"/>
            <a:ext cx="9315081" cy="588468"/>
          </a:xfrm>
        </p:spPr>
        <p:txBody>
          <a:bodyPr>
            <a:normAutofit fontScale="90000"/>
          </a:bodyPr>
          <a:lstStyle/>
          <a:p>
            <a:r>
              <a:rPr lang="en-IN" dirty="0"/>
              <a:t>		Model Selection</a:t>
            </a:r>
          </a:p>
        </p:txBody>
      </p:sp>
      <p:sp>
        <p:nvSpPr>
          <p:cNvPr id="3" name="Content Placeholder 2">
            <a:extLst>
              <a:ext uri="{FF2B5EF4-FFF2-40B4-BE49-F238E27FC236}">
                <a16:creationId xmlns:a16="http://schemas.microsoft.com/office/drawing/2014/main" id="{A3122551-C12D-7E4E-21AF-8F0F31544F6F}"/>
              </a:ext>
            </a:extLst>
          </p:cNvPr>
          <p:cNvSpPr>
            <a:spLocks noGrp="1"/>
          </p:cNvSpPr>
          <p:nvPr>
            <p:ph idx="1"/>
          </p:nvPr>
        </p:nvSpPr>
        <p:spPr>
          <a:xfrm>
            <a:off x="615499" y="668594"/>
            <a:ext cx="11379856" cy="5643715"/>
          </a:xfrm>
        </p:spPr>
        <p:txBody>
          <a:bodyPr>
            <a:normAutofit fontScale="92500" lnSpcReduction="10000"/>
          </a:bodyPr>
          <a:lstStyle/>
          <a:p>
            <a:r>
              <a:rPr lang="en-US" dirty="0"/>
              <a:t>Multiple regression models were selected to compare performance and identify the best approach for solar energy prediction. The selection includes both </a:t>
            </a:r>
            <a:r>
              <a:rPr lang="en-US" b="1" dirty="0"/>
              <a:t>simple baseline models and advanced ensemble methods</a:t>
            </a:r>
            <a:r>
              <a:rPr lang="en-US" dirty="0"/>
              <a:t> to capture linear as well as non-linear relationships.</a:t>
            </a:r>
          </a:p>
          <a:p>
            <a:endParaRPr lang="en-US" b="1" dirty="0"/>
          </a:p>
          <a:p>
            <a:r>
              <a:rPr lang="en-US" b="1" dirty="0"/>
              <a:t>Models Used</a:t>
            </a:r>
          </a:p>
          <a:p>
            <a:r>
              <a:rPr lang="en-US" b="1" dirty="0"/>
              <a:t>Linear Regression</a:t>
            </a:r>
            <a:r>
              <a:rPr lang="en-US" dirty="0"/>
              <a:t> </a:t>
            </a:r>
          </a:p>
          <a:p>
            <a:pPr lvl="1"/>
            <a:r>
              <a:rPr lang="en-US" dirty="0"/>
              <a:t>Used as a baseline model </a:t>
            </a:r>
          </a:p>
          <a:p>
            <a:pPr lvl="1"/>
            <a:r>
              <a:rPr lang="en-US" dirty="0"/>
              <a:t>Helps understand if relationships are mostly linear </a:t>
            </a:r>
          </a:p>
          <a:p>
            <a:r>
              <a:rPr lang="en-US" b="1" dirty="0"/>
              <a:t>Random Forest Regressor</a:t>
            </a:r>
            <a:r>
              <a:rPr lang="en-US" dirty="0"/>
              <a:t> </a:t>
            </a:r>
          </a:p>
          <a:p>
            <a:pPr lvl="1"/>
            <a:r>
              <a:rPr lang="en-US" dirty="0"/>
              <a:t>Captures non-linear patterns using multiple decision trees </a:t>
            </a:r>
          </a:p>
          <a:p>
            <a:pPr lvl="1"/>
            <a:r>
              <a:rPr lang="en-US" dirty="0"/>
              <a:t>Reduces overfitting through averaging </a:t>
            </a:r>
          </a:p>
          <a:p>
            <a:r>
              <a:rPr lang="en-US" b="1" dirty="0"/>
              <a:t>Gradient Boosting Regressor</a:t>
            </a:r>
            <a:r>
              <a:rPr lang="en-US" dirty="0"/>
              <a:t> </a:t>
            </a:r>
          </a:p>
          <a:p>
            <a:pPr lvl="1"/>
            <a:r>
              <a:rPr lang="en-US" dirty="0"/>
              <a:t>Builds models sequentially to correct previous errors </a:t>
            </a:r>
          </a:p>
          <a:p>
            <a:pPr lvl="1"/>
            <a:r>
              <a:rPr lang="en-US" dirty="0"/>
              <a:t>Effective for complex relationships </a:t>
            </a:r>
          </a:p>
          <a:p>
            <a:r>
              <a:rPr lang="en-US" b="1" dirty="0" err="1"/>
              <a:t>XGBoost</a:t>
            </a:r>
            <a:r>
              <a:rPr lang="en-US" b="1" dirty="0"/>
              <a:t> Regressor</a:t>
            </a:r>
            <a:r>
              <a:rPr lang="en-US" dirty="0"/>
              <a:t> </a:t>
            </a:r>
          </a:p>
          <a:p>
            <a:pPr lvl="1"/>
            <a:r>
              <a:rPr lang="en-US" dirty="0"/>
              <a:t>Advanced boosting algorithm with high performance and efficiency </a:t>
            </a:r>
          </a:p>
          <a:p>
            <a:pPr lvl="1"/>
            <a:r>
              <a:rPr lang="en-US" dirty="0"/>
              <a:t>Handles large datasets and feature interactions well</a:t>
            </a:r>
          </a:p>
          <a:p>
            <a:endParaRPr lang="en-IN" dirty="0"/>
          </a:p>
          <a:p>
            <a:endParaRPr lang="en-IN" dirty="0"/>
          </a:p>
        </p:txBody>
      </p:sp>
    </p:spTree>
    <p:extLst>
      <p:ext uri="{BB962C8B-B14F-4D97-AF65-F5344CB8AC3E}">
        <p14:creationId xmlns:p14="http://schemas.microsoft.com/office/powerpoint/2010/main" val="432648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94B26-3C24-D5D8-2A9A-F51073645D7E}"/>
              </a:ext>
            </a:extLst>
          </p:cNvPr>
          <p:cNvSpPr>
            <a:spLocks noGrp="1"/>
          </p:cNvSpPr>
          <p:nvPr>
            <p:ph idx="1"/>
          </p:nvPr>
        </p:nvSpPr>
        <p:spPr>
          <a:xfrm>
            <a:off x="477848" y="115256"/>
            <a:ext cx="11566668" cy="6216717"/>
          </a:xfrm>
        </p:spPr>
        <p:txBody>
          <a:bodyPr>
            <a:normAutofit fontScale="85000" lnSpcReduction="20000"/>
          </a:bodyPr>
          <a:lstStyle/>
          <a:p>
            <a:r>
              <a:rPr lang="en-IN" b="1" dirty="0"/>
              <a:t>Parameter Logic:</a:t>
            </a:r>
          </a:p>
          <a:p>
            <a:r>
              <a:rPr lang="en-US" b="1" dirty="0"/>
              <a:t>Random Forest</a:t>
            </a:r>
          </a:p>
          <a:p>
            <a:r>
              <a:rPr lang="en-US" dirty="0" err="1"/>
              <a:t>n_estimators</a:t>
            </a:r>
            <a:r>
              <a:rPr lang="en-US" dirty="0"/>
              <a:t>=100 → Sufficient number of trees for stable predictions without excessive training time </a:t>
            </a:r>
          </a:p>
          <a:p>
            <a:r>
              <a:rPr lang="en-US" dirty="0" err="1"/>
              <a:t>max_depth</a:t>
            </a:r>
            <a:r>
              <a:rPr lang="en-US" dirty="0"/>
              <a:t>=10 → Controls tree complexity to prevent overfitting </a:t>
            </a:r>
          </a:p>
          <a:p>
            <a:r>
              <a:rPr lang="en-US" dirty="0" err="1"/>
              <a:t>random_state</a:t>
            </a:r>
            <a:r>
              <a:rPr lang="en-US" dirty="0"/>
              <a:t>=42 → Consistent results across runs </a:t>
            </a:r>
          </a:p>
          <a:p>
            <a:r>
              <a:rPr lang="en-US" b="1" dirty="0"/>
              <a:t>Gradient Boosting</a:t>
            </a:r>
          </a:p>
          <a:p>
            <a:r>
              <a:rPr lang="en-US" dirty="0"/>
              <a:t>Default parameters used for simplicity and baseline comparison </a:t>
            </a:r>
          </a:p>
          <a:p>
            <a:r>
              <a:rPr lang="en-US" dirty="0" err="1"/>
              <a:t>random_state</a:t>
            </a:r>
            <a:r>
              <a:rPr lang="en-US" dirty="0"/>
              <a:t>=42 → Consistent results across runs </a:t>
            </a:r>
          </a:p>
          <a:p>
            <a:r>
              <a:rPr lang="en-IN" b="1" dirty="0" err="1"/>
              <a:t>XGBoost</a:t>
            </a:r>
            <a:endParaRPr lang="en-IN" b="1" dirty="0"/>
          </a:p>
          <a:p>
            <a:r>
              <a:rPr lang="en-IN" dirty="0" err="1"/>
              <a:t>n_estimators</a:t>
            </a:r>
            <a:r>
              <a:rPr lang="en-IN" dirty="0"/>
              <a:t>=200 → More boosting rounds for better learning </a:t>
            </a:r>
          </a:p>
          <a:p>
            <a:r>
              <a:rPr lang="en-IN" dirty="0" err="1"/>
              <a:t>learning_rate</a:t>
            </a:r>
            <a:r>
              <a:rPr lang="en-IN" dirty="0"/>
              <a:t>=0.1 → Balanced step size for stable convergence </a:t>
            </a:r>
          </a:p>
          <a:p>
            <a:r>
              <a:rPr lang="en-IN" dirty="0" err="1"/>
              <a:t>max_depth</a:t>
            </a:r>
            <a:r>
              <a:rPr lang="en-IN" dirty="0"/>
              <a:t>=6 → Prevents overly complex trees while capturing patterns </a:t>
            </a:r>
          </a:p>
          <a:p>
            <a:r>
              <a:rPr lang="en-IN" dirty="0" err="1"/>
              <a:t>random_state</a:t>
            </a:r>
            <a:r>
              <a:rPr lang="en-IN" dirty="0"/>
              <a:t>=42 → </a:t>
            </a:r>
            <a:r>
              <a:rPr lang="en-US" dirty="0"/>
              <a:t>Consistent results across runs </a:t>
            </a:r>
          </a:p>
          <a:p>
            <a:r>
              <a:rPr lang="en-US" b="1" dirty="0"/>
              <a:t>Model Selection Strategy</a:t>
            </a:r>
          </a:p>
          <a:p>
            <a:r>
              <a:rPr lang="en-US" dirty="0"/>
              <a:t>Start with </a:t>
            </a:r>
            <a:r>
              <a:rPr lang="en-US" b="1" dirty="0"/>
              <a:t>Linear Regression</a:t>
            </a:r>
            <a:r>
              <a:rPr lang="en-US" dirty="0"/>
              <a:t> to establish a baseline </a:t>
            </a:r>
          </a:p>
          <a:p>
            <a:r>
              <a:rPr lang="en-US" dirty="0"/>
              <a:t>Use </a:t>
            </a:r>
            <a:r>
              <a:rPr lang="en-US" b="1" dirty="0"/>
              <a:t>tree-based models</a:t>
            </a:r>
            <a:r>
              <a:rPr lang="en-US" dirty="0"/>
              <a:t> (Random Forest, Gradient Boosting) to capture non-linear relationships </a:t>
            </a:r>
          </a:p>
          <a:p>
            <a:r>
              <a:rPr lang="en-US" dirty="0"/>
              <a:t>Use </a:t>
            </a:r>
            <a:r>
              <a:rPr lang="en-US" b="1" dirty="0" err="1"/>
              <a:t>XGBoost</a:t>
            </a:r>
            <a:r>
              <a:rPr lang="en-US" dirty="0"/>
              <a:t> as the final high-performance model</a:t>
            </a:r>
          </a:p>
          <a:p>
            <a:endParaRPr lang="en-IN" dirty="0"/>
          </a:p>
        </p:txBody>
      </p:sp>
    </p:spTree>
    <p:extLst>
      <p:ext uri="{BB962C8B-B14F-4D97-AF65-F5344CB8AC3E}">
        <p14:creationId xmlns:p14="http://schemas.microsoft.com/office/powerpoint/2010/main" val="4191128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1E77-37C8-F795-D875-121D5DC22C66}"/>
              </a:ext>
            </a:extLst>
          </p:cNvPr>
          <p:cNvSpPr>
            <a:spLocks noGrp="1"/>
          </p:cNvSpPr>
          <p:nvPr>
            <p:ph type="title"/>
          </p:nvPr>
        </p:nvSpPr>
        <p:spPr>
          <a:xfrm>
            <a:off x="884904" y="1"/>
            <a:ext cx="9222658" cy="737418"/>
          </a:xfrm>
        </p:spPr>
        <p:txBody>
          <a:bodyPr/>
          <a:lstStyle/>
          <a:p>
            <a:r>
              <a:rPr lang="en-IN" dirty="0"/>
              <a:t>	Model Training &amp; Validation</a:t>
            </a:r>
          </a:p>
        </p:txBody>
      </p:sp>
      <p:sp>
        <p:nvSpPr>
          <p:cNvPr id="3" name="Content Placeholder 2">
            <a:extLst>
              <a:ext uri="{FF2B5EF4-FFF2-40B4-BE49-F238E27FC236}">
                <a16:creationId xmlns:a16="http://schemas.microsoft.com/office/drawing/2014/main" id="{54B0E33A-2669-87CA-573B-12C5381535DB}"/>
              </a:ext>
            </a:extLst>
          </p:cNvPr>
          <p:cNvSpPr>
            <a:spLocks noGrp="1"/>
          </p:cNvSpPr>
          <p:nvPr>
            <p:ph idx="1"/>
          </p:nvPr>
        </p:nvSpPr>
        <p:spPr>
          <a:xfrm>
            <a:off x="176981" y="609599"/>
            <a:ext cx="12015019" cy="5692877"/>
          </a:xfrm>
        </p:spPr>
        <p:txBody>
          <a:bodyPr/>
          <a:lstStyle/>
          <a:p>
            <a:r>
              <a:rPr lang="en-US" dirty="0"/>
              <a:t>In this step, multiple models were trained and evaluated using a </a:t>
            </a:r>
            <a:r>
              <a:rPr lang="en-US" b="1" dirty="0"/>
              <a:t>pipeline-based approach with cross-validation</a:t>
            </a:r>
            <a:r>
              <a:rPr lang="en-US" dirty="0"/>
              <a:t> to ensure reliable and unbiased performance comparison.</a:t>
            </a:r>
          </a:p>
          <a:p>
            <a:r>
              <a:rPr lang="en-US" b="1" dirty="0"/>
              <a:t>Training Approach</a:t>
            </a:r>
          </a:p>
          <a:p>
            <a:r>
              <a:rPr lang="en-US" dirty="0"/>
              <a:t>Each model was combined with the preprocessing steps using a </a:t>
            </a:r>
            <a:r>
              <a:rPr lang="en-US" b="1" dirty="0"/>
              <a:t>Pipeline</a:t>
            </a:r>
            <a:r>
              <a:rPr lang="en-US" dirty="0"/>
              <a:t>: </a:t>
            </a:r>
          </a:p>
          <a:p>
            <a:pPr lvl="1"/>
            <a:r>
              <a:rPr lang="en-US" dirty="0"/>
              <a:t>Data preprocessing (scaling + encoding) </a:t>
            </a:r>
          </a:p>
          <a:p>
            <a:pPr lvl="1"/>
            <a:r>
              <a:rPr lang="en-US" dirty="0"/>
              <a:t>Model training </a:t>
            </a:r>
          </a:p>
          <a:p>
            <a:r>
              <a:rPr lang="en-US" dirty="0"/>
              <a:t>This ensures that </a:t>
            </a:r>
            <a:r>
              <a:rPr lang="en-US" b="1" dirty="0"/>
              <a:t>data transformations are consistently applied</a:t>
            </a:r>
            <a:r>
              <a:rPr lang="en-US" dirty="0"/>
              <a:t> during both training and validation. </a:t>
            </a:r>
          </a:p>
          <a:p>
            <a:r>
              <a:rPr lang="en-US" b="1" dirty="0"/>
              <a:t>Validation Method</a:t>
            </a:r>
          </a:p>
          <a:p>
            <a:r>
              <a:rPr lang="en-US" b="1" dirty="0"/>
              <a:t>5-Fold Cross-Validation (cv=5)</a:t>
            </a:r>
            <a:r>
              <a:rPr lang="en-US" dirty="0"/>
              <a:t> was used: </a:t>
            </a:r>
          </a:p>
          <a:p>
            <a:pPr lvl="1"/>
            <a:r>
              <a:rPr lang="en-US" dirty="0"/>
              <a:t>The training data was split into 5 subsets </a:t>
            </a:r>
          </a:p>
          <a:p>
            <a:pPr lvl="1"/>
            <a:r>
              <a:rPr lang="en-US" dirty="0"/>
              <a:t>Each model was trained on 4 folds and validated on 1 fold </a:t>
            </a:r>
          </a:p>
          <a:p>
            <a:pPr lvl="1"/>
            <a:r>
              <a:rPr lang="en-US" dirty="0"/>
              <a:t>This process was repeated 5 times </a:t>
            </a:r>
          </a:p>
          <a:p>
            <a:r>
              <a:rPr lang="en-US" dirty="0"/>
              <a:t>Helps in: </a:t>
            </a:r>
          </a:p>
          <a:p>
            <a:pPr lvl="1"/>
            <a:r>
              <a:rPr lang="en-US" dirty="0"/>
              <a:t>Reducing overfitting </a:t>
            </a:r>
          </a:p>
          <a:p>
            <a:pPr lvl="1"/>
            <a:r>
              <a:rPr lang="en-US" dirty="0"/>
              <a:t>Providing a more </a:t>
            </a:r>
            <a:r>
              <a:rPr lang="en-US" b="1" dirty="0"/>
              <a:t>robust estimate of model performance</a:t>
            </a:r>
            <a:endParaRPr lang="en-US" dirty="0"/>
          </a:p>
          <a:p>
            <a:endParaRPr lang="en-IN" dirty="0"/>
          </a:p>
        </p:txBody>
      </p:sp>
    </p:spTree>
    <p:extLst>
      <p:ext uri="{BB962C8B-B14F-4D97-AF65-F5344CB8AC3E}">
        <p14:creationId xmlns:p14="http://schemas.microsoft.com/office/powerpoint/2010/main" val="397426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F039A5-9A26-30DA-2554-CDDBA297EF97}"/>
              </a:ext>
            </a:extLst>
          </p:cNvPr>
          <p:cNvSpPr>
            <a:spLocks noGrp="1"/>
          </p:cNvSpPr>
          <p:nvPr>
            <p:ph idx="1"/>
          </p:nvPr>
        </p:nvSpPr>
        <p:spPr>
          <a:xfrm>
            <a:off x="157315" y="78658"/>
            <a:ext cx="11916697" cy="6233652"/>
          </a:xfrm>
        </p:spPr>
        <p:txBody>
          <a:bodyPr/>
          <a:lstStyle/>
          <a:p>
            <a:r>
              <a:rPr lang="en-US" b="1" dirty="0"/>
              <a:t>Evaluation Metric</a:t>
            </a:r>
          </a:p>
          <a:p>
            <a:r>
              <a:rPr lang="en-US" b="1" dirty="0"/>
              <a:t>Mean Absolute Error (MAE)</a:t>
            </a:r>
            <a:r>
              <a:rPr lang="en-US" dirty="0"/>
              <a:t> was used as the evaluation metric </a:t>
            </a:r>
          </a:p>
          <a:p>
            <a:r>
              <a:rPr lang="en-US" dirty="0"/>
              <a:t>Since </a:t>
            </a:r>
            <a:r>
              <a:rPr lang="en-US" dirty="0" err="1"/>
              <a:t>cross_val_score</a:t>
            </a:r>
            <a:r>
              <a:rPr lang="en-US" dirty="0"/>
              <a:t> returns negative values, the scores were converted to positive </a:t>
            </a:r>
          </a:p>
          <a:p>
            <a:r>
              <a:rPr lang="en-US" dirty="0"/>
              <a:t>MAE represents the </a:t>
            </a:r>
            <a:r>
              <a:rPr lang="en-US" b="1" dirty="0"/>
              <a:t>average prediction error</a:t>
            </a:r>
            <a:r>
              <a:rPr lang="en-US" dirty="0"/>
              <a:t>, making it easy to interpret</a:t>
            </a:r>
          </a:p>
          <a:p>
            <a:endParaRPr lang="en-US" dirty="0"/>
          </a:p>
          <a:p>
            <a:r>
              <a:rPr lang="en-US" dirty="0"/>
              <a:t>Models were trained using pipelines and evaluated with 5-fold cross-validation using MAE, ensuring consistent preprocessing and reliable performance comparison across models</a:t>
            </a:r>
          </a:p>
          <a:p>
            <a:endParaRPr lang="en-IN" dirty="0"/>
          </a:p>
        </p:txBody>
      </p:sp>
    </p:spTree>
    <p:extLst>
      <p:ext uri="{BB962C8B-B14F-4D97-AF65-F5344CB8AC3E}">
        <p14:creationId xmlns:p14="http://schemas.microsoft.com/office/powerpoint/2010/main" val="689015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127F-17D2-EF54-E875-EB71D792FA07}"/>
              </a:ext>
            </a:extLst>
          </p:cNvPr>
          <p:cNvSpPr>
            <a:spLocks noGrp="1"/>
          </p:cNvSpPr>
          <p:nvPr>
            <p:ph type="title"/>
          </p:nvPr>
        </p:nvSpPr>
        <p:spPr>
          <a:xfrm>
            <a:off x="1097280" y="89959"/>
            <a:ext cx="9265920" cy="617964"/>
          </a:xfrm>
        </p:spPr>
        <p:txBody>
          <a:bodyPr>
            <a:normAutofit fontScale="90000"/>
          </a:bodyPr>
          <a:lstStyle/>
          <a:p>
            <a:r>
              <a:rPr lang="en-IN" dirty="0"/>
              <a:t>		Model Comparison</a:t>
            </a:r>
          </a:p>
        </p:txBody>
      </p:sp>
      <p:sp>
        <p:nvSpPr>
          <p:cNvPr id="3" name="Content Placeholder 2">
            <a:extLst>
              <a:ext uri="{FF2B5EF4-FFF2-40B4-BE49-F238E27FC236}">
                <a16:creationId xmlns:a16="http://schemas.microsoft.com/office/drawing/2014/main" id="{96F90473-81DD-AF70-71B2-9C0A1C212515}"/>
              </a:ext>
            </a:extLst>
          </p:cNvPr>
          <p:cNvSpPr>
            <a:spLocks noGrp="1"/>
          </p:cNvSpPr>
          <p:nvPr>
            <p:ph idx="1"/>
          </p:nvPr>
        </p:nvSpPr>
        <p:spPr>
          <a:xfrm>
            <a:off x="324465" y="619432"/>
            <a:ext cx="11572567" cy="5614220"/>
          </a:xfrm>
        </p:spPr>
        <p:txBody>
          <a:bodyPr>
            <a:normAutofit lnSpcReduction="10000"/>
          </a:bodyPr>
          <a:lstStyle/>
          <a:p>
            <a:r>
              <a:rPr lang="en-US" dirty="0"/>
              <a:t>After training and cross-validation, the performance of all models was compiled into a </a:t>
            </a:r>
            <a:r>
              <a:rPr lang="en-US" dirty="0" err="1"/>
              <a:t>dataframe</a:t>
            </a:r>
            <a:r>
              <a:rPr lang="en-US" dirty="0"/>
              <a:t> (</a:t>
            </a:r>
            <a:r>
              <a:rPr lang="en-US" dirty="0" err="1"/>
              <a:t>results_df</a:t>
            </a:r>
            <a:r>
              <a:rPr lang="en-US" dirty="0"/>
              <a:t>) containing </a:t>
            </a:r>
            <a:r>
              <a:rPr lang="en-US" b="1" dirty="0"/>
              <a:t>Model names and their corresponding MAE (Mean Absolute Error)</a:t>
            </a:r>
            <a:r>
              <a:rPr lang="en-US" dirty="0"/>
              <a:t>.</a:t>
            </a:r>
          </a:p>
          <a:p>
            <a:r>
              <a:rPr lang="en-US" dirty="0"/>
              <a:t>The model performance comparison based on </a:t>
            </a:r>
            <a:r>
              <a:rPr lang="en-US" b="1" dirty="0"/>
              <a:t>Mean Absolute Error (MAE)</a:t>
            </a:r>
            <a:r>
              <a:rPr lang="en-US" dirty="0"/>
              <a:t> shows clear differences in predictive accuracy:</a:t>
            </a:r>
          </a:p>
          <a:p>
            <a:r>
              <a:rPr lang="en-US" b="1" dirty="0"/>
              <a:t>Random Forest</a:t>
            </a:r>
            <a:r>
              <a:rPr lang="en-US" dirty="0"/>
              <a:t> achieved the </a:t>
            </a:r>
            <a:r>
              <a:rPr lang="en-US" b="1" dirty="0"/>
              <a:t>lowest MAE (0.000054)</a:t>
            </a:r>
            <a:r>
              <a:rPr lang="en-US" dirty="0"/>
              <a:t>, making it the best-performing model. </a:t>
            </a:r>
          </a:p>
          <a:p>
            <a:r>
              <a:rPr lang="en-US" b="1" dirty="0"/>
              <a:t>Gradient Boosting (0.001508)</a:t>
            </a:r>
            <a:r>
              <a:rPr lang="en-US" dirty="0"/>
              <a:t> and </a:t>
            </a:r>
            <a:r>
              <a:rPr lang="en-US" b="1" dirty="0" err="1"/>
              <a:t>XGBoost</a:t>
            </a:r>
            <a:r>
              <a:rPr lang="en-US" b="1" dirty="0"/>
              <a:t> (0.001890)</a:t>
            </a:r>
            <a:r>
              <a:rPr lang="en-US" dirty="0"/>
              <a:t> also performed well, but slightly worse than Random Forest. </a:t>
            </a:r>
          </a:p>
          <a:p>
            <a:r>
              <a:rPr lang="en-US" b="1" dirty="0"/>
              <a:t>Linear Regression (0.084142)</a:t>
            </a:r>
            <a:r>
              <a:rPr lang="en-US" dirty="0"/>
              <a:t> showed significantly higher error, indicating poor performance.</a:t>
            </a:r>
          </a:p>
          <a:p>
            <a:r>
              <a:rPr lang="en-US" b="1" dirty="0"/>
              <a:t>Random Forest outperformed all models</a:t>
            </a:r>
            <a:r>
              <a:rPr lang="en-US" dirty="0"/>
              <a:t>, suggesting that the dataset benefits from </a:t>
            </a:r>
            <a:r>
              <a:rPr lang="en-US" b="1" dirty="0"/>
              <a:t>non-linear modeling and ensemble learning</a:t>
            </a:r>
            <a:r>
              <a:rPr lang="en-US" dirty="0"/>
              <a:t>.</a:t>
            </a:r>
          </a:p>
          <a:p>
            <a:r>
              <a:rPr lang="en-US" b="1" dirty="0"/>
              <a:t>Boosting models (Gradient Boosting, </a:t>
            </a:r>
            <a:r>
              <a:rPr lang="en-US" b="1" dirty="0" err="1"/>
              <a:t>XGBoost</a:t>
            </a:r>
            <a:r>
              <a:rPr lang="en-US" b="1" dirty="0"/>
              <a:t>)</a:t>
            </a:r>
            <a:r>
              <a:rPr lang="en-US" dirty="0"/>
              <a:t> performed strongly but did not surpass Random Forest, possibly due to parameter settings or data characteristics.</a:t>
            </a:r>
          </a:p>
          <a:p>
            <a:r>
              <a:rPr lang="en-US" b="1" dirty="0"/>
              <a:t>Linear Regression underperformed</a:t>
            </a:r>
            <a:r>
              <a:rPr lang="en-US" dirty="0"/>
              <a:t>, indicating that relationships in the data are </a:t>
            </a:r>
            <a:r>
              <a:rPr lang="en-US" b="1" dirty="0"/>
              <a:t>not purely linear</a:t>
            </a:r>
            <a:r>
              <a:rPr lang="en-US" dirty="0"/>
              <a:t>.</a:t>
            </a:r>
          </a:p>
          <a:p>
            <a:r>
              <a:rPr lang="en-US" dirty="0"/>
              <a:t>Random Forest emerged as the best model with the lowest error, highlighting the importance of ensemble methods for capturing complex patterns in solar energy data, while linear models proved insufficient for this problem</a:t>
            </a:r>
          </a:p>
          <a:p>
            <a:endParaRPr lang="en-US" dirty="0"/>
          </a:p>
          <a:p>
            <a:endParaRPr lang="en-US" dirty="0"/>
          </a:p>
        </p:txBody>
      </p:sp>
    </p:spTree>
    <p:extLst>
      <p:ext uri="{BB962C8B-B14F-4D97-AF65-F5344CB8AC3E}">
        <p14:creationId xmlns:p14="http://schemas.microsoft.com/office/powerpoint/2010/main" val="2563548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EF43-11D4-23D2-FE82-5A3E2165EEF6}"/>
              </a:ext>
            </a:extLst>
          </p:cNvPr>
          <p:cNvSpPr>
            <a:spLocks noGrp="1"/>
          </p:cNvSpPr>
          <p:nvPr>
            <p:ph type="title"/>
          </p:nvPr>
        </p:nvSpPr>
        <p:spPr>
          <a:xfrm>
            <a:off x="1097280" y="286603"/>
            <a:ext cx="9079107" cy="490145"/>
          </a:xfrm>
        </p:spPr>
        <p:txBody>
          <a:bodyPr>
            <a:normAutofit fontScale="90000"/>
          </a:bodyPr>
          <a:lstStyle/>
          <a:p>
            <a:r>
              <a:rPr lang="en-IN" dirty="0"/>
              <a:t>	Hyperparameter Tuning</a:t>
            </a:r>
          </a:p>
        </p:txBody>
      </p:sp>
      <p:sp>
        <p:nvSpPr>
          <p:cNvPr id="3" name="Content Placeholder 2">
            <a:extLst>
              <a:ext uri="{FF2B5EF4-FFF2-40B4-BE49-F238E27FC236}">
                <a16:creationId xmlns:a16="http://schemas.microsoft.com/office/drawing/2014/main" id="{77AD0393-EAAA-F7F5-68D7-BF8254A7B144}"/>
              </a:ext>
            </a:extLst>
          </p:cNvPr>
          <p:cNvSpPr>
            <a:spLocks noGrp="1"/>
          </p:cNvSpPr>
          <p:nvPr>
            <p:ph idx="1"/>
          </p:nvPr>
        </p:nvSpPr>
        <p:spPr>
          <a:xfrm>
            <a:off x="176981" y="678426"/>
            <a:ext cx="11916696" cy="5633884"/>
          </a:xfrm>
        </p:spPr>
        <p:txBody>
          <a:bodyPr>
            <a:normAutofit lnSpcReduction="10000"/>
          </a:bodyPr>
          <a:lstStyle/>
          <a:p>
            <a:r>
              <a:rPr lang="en-US" dirty="0"/>
              <a:t>Hyperparameter tuning was performed on the </a:t>
            </a:r>
            <a:r>
              <a:rPr lang="en-US" b="1" dirty="0"/>
              <a:t>Random Forest model</a:t>
            </a:r>
            <a:r>
              <a:rPr lang="en-US" dirty="0"/>
              <a:t> to improve its performance by finding the optimal combination of parameters.</a:t>
            </a:r>
          </a:p>
          <a:p>
            <a:r>
              <a:rPr lang="en-US" dirty="0"/>
              <a:t>A </a:t>
            </a:r>
            <a:r>
              <a:rPr lang="en-US" b="1" dirty="0"/>
              <a:t>Pipeline</a:t>
            </a:r>
            <a:r>
              <a:rPr lang="en-US" dirty="0"/>
              <a:t> was created to combine preprocessing and the Random Forest model</a:t>
            </a:r>
          </a:p>
          <a:p>
            <a:r>
              <a:rPr lang="en-US" b="1" dirty="0" err="1"/>
              <a:t>RandomizedSearchCV</a:t>
            </a:r>
            <a:r>
              <a:rPr lang="en-US" dirty="0"/>
              <a:t> was used instead of Grid Search for faster and efficient exploration of parameter space</a:t>
            </a:r>
          </a:p>
          <a:p>
            <a:r>
              <a:rPr lang="en-IN" b="1" dirty="0"/>
              <a:t>Parameters Tuned</a:t>
            </a:r>
          </a:p>
          <a:p>
            <a:r>
              <a:rPr lang="en-IN" dirty="0" err="1"/>
              <a:t>n_estimators</a:t>
            </a:r>
            <a:r>
              <a:rPr lang="en-IN" dirty="0"/>
              <a:t> (100, 200, 300)</a:t>
            </a:r>
            <a:br>
              <a:rPr lang="en-IN" dirty="0"/>
            </a:br>
            <a:r>
              <a:rPr lang="en-IN" dirty="0"/>
              <a:t>→ Controls the number of trees; more trees improve stability but increase computation </a:t>
            </a:r>
          </a:p>
          <a:p>
            <a:r>
              <a:rPr lang="en-IN" dirty="0" err="1"/>
              <a:t>max_depth</a:t>
            </a:r>
            <a:r>
              <a:rPr lang="en-IN" dirty="0"/>
              <a:t> (5, 10, 15)</a:t>
            </a:r>
            <a:br>
              <a:rPr lang="en-IN" dirty="0"/>
            </a:br>
            <a:r>
              <a:rPr lang="en-IN" dirty="0"/>
              <a:t>→ Limits tree depth to prevent overfitting </a:t>
            </a:r>
          </a:p>
          <a:p>
            <a:r>
              <a:rPr lang="en-IN" dirty="0" err="1"/>
              <a:t>min_samples_split</a:t>
            </a:r>
            <a:r>
              <a:rPr lang="en-IN" dirty="0"/>
              <a:t> (2, 5, 10)</a:t>
            </a:r>
            <a:br>
              <a:rPr lang="en-IN" dirty="0"/>
            </a:br>
            <a:r>
              <a:rPr lang="en-IN" dirty="0"/>
              <a:t>→ Controls minimum samples required to split a node, improving generalization </a:t>
            </a:r>
          </a:p>
          <a:p>
            <a:r>
              <a:rPr lang="en-IN" b="1" dirty="0"/>
              <a:t>Validation Strategy</a:t>
            </a:r>
          </a:p>
          <a:p>
            <a:r>
              <a:rPr lang="en-IN" b="1" dirty="0"/>
              <a:t>3-fold cross-validation (cv=3)</a:t>
            </a:r>
            <a:r>
              <a:rPr lang="en-IN" dirty="0"/>
              <a:t> used for evaluation </a:t>
            </a:r>
          </a:p>
          <a:p>
            <a:r>
              <a:rPr lang="en-IN" dirty="0"/>
              <a:t>Metric: </a:t>
            </a:r>
            <a:r>
              <a:rPr lang="en-IN" b="1" dirty="0"/>
              <a:t>Mean Absolute Error (MAE)</a:t>
            </a:r>
            <a:r>
              <a:rPr lang="en-IN" dirty="0"/>
              <a:t> </a:t>
            </a:r>
          </a:p>
          <a:p>
            <a:r>
              <a:rPr lang="en-IN" dirty="0" err="1"/>
              <a:t>n_iter</a:t>
            </a:r>
            <a:r>
              <a:rPr lang="en-IN" dirty="0"/>
              <a:t>=5 ensures faster tuning by sampling parameter combinations</a:t>
            </a:r>
          </a:p>
          <a:p>
            <a:endParaRPr lang="en-IN" dirty="0"/>
          </a:p>
        </p:txBody>
      </p:sp>
    </p:spTree>
    <p:extLst>
      <p:ext uri="{BB962C8B-B14F-4D97-AF65-F5344CB8AC3E}">
        <p14:creationId xmlns:p14="http://schemas.microsoft.com/office/powerpoint/2010/main" val="335643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C6D27-74F4-9891-5E99-53B611D0E3A4}"/>
              </a:ext>
            </a:extLst>
          </p:cNvPr>
          <p:cNvSpPr>
            <a:spLocks noGrp="1"/>
          </p:cNvSpPr>
          <p:nvPr>
            <p:ph idx="1"/>
          </p:nvPr>
        </p:nvSpPr>
        <p:spPr>
          <a:xfrm>
            <a:off x="127819" y="78657"/>
            <a:ext cx="11847871" cy="6204155"/>
          </a:xfrm>
        </p:spPr>
        <p:txBody>
          <a:bodyPr/>
          <a:lstStyle/>
          <a:p>
            <a:r>
              <a:rPr lang="en-US" dirty="0"/>
              <a:t>The Random Forest model was optimized using </a:t>
            </a:r>
            <a:r>
              <a:rPr lang="en-US" b="1" dirty="0" err="1"/>
              <a:t>RandomizedSearchCV</a:t>
            </a:r>
            <a:r>
              <a:rPr lang="en-US" dirty="0"/>
              <a:t>, where </a:t>
            </a:r>
            <a:r>
              <a:rPr lang="en-US" b="1" dirty="0"/>
              <a:t>5 parameter combinations</a:t>
            </a:r>
            <a:r>
              <a:rPr lang="en-US" dirty="0"/>
              <a:t> were evaluated using </a:t>
            </a:r>
            <a:r>
              <a:rPr lang="en-US" b="1" dirty="0"/>
              <a:t>3-fold cross-validation</a:t>
            </a:r>
            <a:r>
              <a:rPr lang="en-US" dirty="0"/>
              <a:t>, resulting in a total of </a:t>
            </a:r>
            <a:r>
              <a:rPr lang="en-US" b="1" dirty="0"/>
              <a:t>15 model fits</a:t>
            </a:r>
            <a:r>
              <a:rPr lang="en-US" dirty="0"/>
              <a:t>.</a:t>
            </a:r>
          </a:p>
          <a:p>
            <a:r>
              <a:rPr lang="en-IN" b="1" dirty="0"/>
              <a:t>Best Parameters Identified</a:t>
            </a:r>
          </a:p>
          <a:p>
            <a:r>
              <a:rPr lang="en-IN" b="1" dirty="0" err="1"/>
              <a:t>n_estimators</a:t>
            </a:r>
            <a:r>
              <a:rPr lang="en-IN" b="1" dirty="0"/>
              <a:t> = 200</a:t>
            </a:r>
            <a:br>
              <a:rPr lang="en-IN" dirty="0"/>
            </a:br>
            <a:r>
              <a:rPr lang="en-IN" dirty="0"/>
              <a:t>→ Provides a good balance between model stability and training time </a:t>
            </a:r>
          </a:p>
          <a:p>
            <a:r>
              <a:rPr lang="en-IN" b="1" dirty="0" err="1"/>
              <a:t>max_depth</a:t>
            </a:r>
            <a:r>
              <a:rPr lang="en-IN" b="1" dirty="0"/>
              <a:t> = 15</a:t>
            </a:r>
            <a:br>
              <a:rPr lang="en-IN" dirty="0"/>
            </a:br>
            <a:r>
              <a:rPr lang="en-IN" dirty="0"/>
              <a:t>→ Allows the model to capture complex patterns without excessive overfitting </a:t>
            </a:r>
          </a:p>
          <a:p>
            <a:r>
              <a:rPr lang="en-IN" b="1" dirty="0" err="1"/>
              <a:t>min_samples_split</a:t>
            </a:r>
            <a:r>
              <a:rPr lang="en-IN" b="1" dirty="0"/>
              <a:t> = 5</a:t>
            </a:r>
            <a:br>
              <a:rPr lang="en-IN" dirty="0"/>
            </a:br>
            <a:r>
              <a:rPr lang="en-IN" dirty="0"/>
              <a:t>→ Prevents overly aggressive splitting, improving generalization</a:t>
            </a:r>
          </a:p>
          <a:p>
            <a:r>
              <a:rPr lang="en-US" dirty="0"/>
              <a:t>Increasing the number of trees improved performance up to an optimal point (200 trees)</a:t>
            </a:r>
          </a:p>
          <a:p>
            <a:r>
              <a:rPr lang="en-US" dirty="0"/>
              <a:t>A moderate-to-high tree depth (15) was effective in capturing non-linear relationships</a:t>
            </a:r>
          </a:p>
          <a:p>
            <a:r>
              <a:rPr lang="en-US" dirty="0"/>
              <a:t>Slight regularization (</a:t>
            </a:r>
            <a:r>
              <a:rPr lang="en-US" dirty="0" err="1"/>
              <a:t>min_samples_split</a:t>
            </a:r>
            <a:r>
              <a:rPr lang="en-US" dirty="0"/>
              <a:t>=5) helped reduce overfitting </a:t>
            </a:r>
          </a:p>
          <a:p>
            <a:r>
              <a:rPr lang="en-US" dirty="0"/>
              <a:t>Hyperparameter tuning identified an optimal Random Forest configuration that balances complexity and generalization, leading to improved model performance and stability</a:t>
            </a:r>
          </a:p>
          <a:p>
            <a:endParaRPr lang="en-IN" dirty="0"/>
          </a:p>
        </p:txBody>
      </p:sp>
    </p:spTree>
    <p:extLst>
      <p:ext uri="{BB962C8B-B14F-4D97-AF65-F5344CB8AC3E}">
        <p14:creationId xmlns:p14="http://schemas.microsoft.com/office/powerpoint/2010/main" val="2104074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C11E-B507-FF04-F915-116F49954CF4}"/>
              </a:ext>
            </a:extLst>
          </p:cNvPr>
          <p:cNvSpPr>
            <a:spLocks noGrp="1"/>
          </p:cNvSpPr>
          <p:nvPr>
            <p:ph type="title"/>
          </p:nvPr>
        </p:nvSpPr>
        <p:spPr>
          <a:xfrm>
            <a:off x="821975" y="99791"/>
            <a:ext cx="10632605" cy="568804"/>
          </a:xfrm>
        </p:spPr>
        <p:txBody>
          <a:bodyPr>
            <a:normAutofit fontScale="90000"/>
          </a:bodyPr>
          <a:lstStyle/>
          <a:p>
            <a:r>
              <a:rPr lang="en-IN" dirty="0"/>
              <a:t>Training the Best Model</a:t>
            </a:r>
          </a:p>
        </p:txBody>
      </p:sp>
      <p:sp>
        <p:nvSpPr>
          <p:cNvPr id="3" name="Content Placeholder 2">
            <a:extLst>
              <a:ext uri="{FF2B5EF4-FFF2-40B4-BE49-F238E27FC236}">
                <a16:creationId xmlns:a16="http://schemas.microsoft.com/office/drawing/2014/main" id="{A4B0CADF-B736-437E-B1BE-B31713743F28}"/>
              </a:ext>
            </a:extLst>
          </p:cNvPr>
          <p:cNvSpPr>
            <a:spLocks noGrp="1"/>
          </p:cNvSpPr>
          <p:nvPr>
            <p:ph idx="1"/>
          </p:nvPr>
        </p:nvSpPr>
        <p:spPr>
          <a:xfrm>
            <a:off x="285135" y="668595"/>
            <a:ext cx="10870545" cy="5200499"/>
          </a:xfrm>
        </p:spPr>
        <p:txBody>
          <a:bodyPr>
            <a:normAutofit fontScale="92500" lnSpcReduction="20000"/>
          </a:bodyPr>
          <a:lstStyle/>
          <a:p>
            <a:r>
              <a:rPr lang="en-US" dirty="0"/>
              <a:t>After hyperparameter tuning, the </a:t>
            </a:r>
            <a:r>
              <a:rPr lang="en-US" b="1" dirty="0"/>
              <a:t>optimized Random Forest model</a:t>
            </a:r>
            <a:r>
              <a:rPr lang="en-US" dirty="0"/>
              <a:t> was selected and trained using a complete pipeline that integrates both preprocessing and modeling steps</a:t>
            </a:r>
          </a:p>
          <a:p>
            <a:r>
              <a:rPr lang="en-IN" b="1" dirty="0"/>
              <a:t>Final Model Setup</a:t>
            </a:r>
          </a:p>
          <a:p>
            <a:r>
              <a:rPr lang="en-IN" dirty="0"/>
              <a:t>The pipeline includes: </a:t>
            </a:r>
          </a:p>
          <a:p>
            <a:pPr lvl="1"/>
            <a:r>
              <a:rPr lang="en-IN" b="1" dirty="0"/>
              <a:t>Preprocessing (</a:t>
            </a:r>
            <a:r>
              <a:rPr lang="en-IN" b="1" dirty="0" err="1"/>
              <a:t>ColumnTransformer</a:t>
            </a:r>
            <a:r>
              <a:rPr lang="en-IN" b="1" dirty="0"/>
              <a:t>):</a:t>
            </a:r>
            <a:r>
              <a:rPr lang="en-IN" dirty="0"/>
              <a:t> </a:t>
            </a:r>
          </a:p>
          <a:p>
            <a:pPr lvl="2"/>
            <a:r>
              <a:rPr lang="en-IN" dirty="0"/>
              <a:t>Numerical features → </a:t>
            </a:r>
            <a:r>
              <a:rPr lang="en-IN" dirty="0" err="1"/>
              <a:t>StandardScaler</a:t>
            </a:r>
            <a:r>
              <a:rPr lang="en-IN" dirty="0"/>
              <a:t> </a:t>
            </a:r>
          </a:p>
          <a:p>
            <a:pPr lvl="2"/>
            <a:r>
              <a:rPr lang="en-IN" dirty="0"/>
              <a:t>Categorical features → </a:t>
            </a:r>
            <a:r>
              <a:rPr lang="en-IN" dirty="0" err="1"/>
              <a:t>OneHotEncoder</a:t>
            </a:r>
            <a:r>
              <a:rPr lang="en-IN" dirty="0"/>
              <a:t> </a:t>
            </a:r>
          </a:p>
          <a:p>
            <a:pPr lvl="1"/>
            <a:r>
              <a:rPr lang="en-IN" b="1" dirty="0"/>
              <a:t>Model: Random Forest Regressor</a:t>
            </a:r>
            <a:r>
              <a:rPr lang="en-IN" dirty="0"/>
              <a:t> </a:t>
            </a:r>
          </a:p>
          <a:p>
            <a:r>
              <a:rPr lang="en-IN" dirty="0"/>
              <a:t>Best parameters used: </a:t>
            </a:r>
          </a:p>
          <a:p>
            <a:pPr lvl="1"/>
            <a:r>
              <a:rPr lang="en-IN" dirty="0" err="1"/>
              <a:t>n_estimators</a:t>
            </a:r>
            <a:r>
              <a:rPr lang="en-IN" dirty="0"/>
              <a:t> = 200 </a:t>
            </a:r>
          </a:p>
          <a:p>
            <a:pPr lvl="1"/>
            <a:r>
              <a:rPr lang="en-IN" dirty="0" err="1"/>
              <a:t>max_depth</a:t>
            </a:r>
            <a:r>
              <a:rPr lang="en-IN" dirty="0"/>
              <a:t> = 15 </a:t>
            </a:r>
          </a:p>
          <a:p>
            <a:pPr lvl="1"/>
            <a:r>
              <a:rPr lang="en-IN" dirty="0" err="1"/>
              <a:t>min_samples_split</a:t>
            </a:r>
            <a:r>
              <a:rPr lang="en-IN" dirty="0"/>
              <a:t> = 5</a:t>
            </a:r>
          </a:p>
          <a:p>
            <a:r>
              <a:rPr lang="en-US" b="1" dirty="0"/>
              <a:t>Training Process</a:t>
            </a:r>
          </a:p>
          <a:p>
            <a:r>
              <a:rPr lang="en-US" dirty="0"/>
              <a:t>The model was trained on the </a:t>
            </a:r>
            <a:r>
              <a:rPr lang="en-US" b="1" dirty="0"/>
              <a:t>training dataset (80%)</a:t>
            </a:r>
            <a:r>
              <a:rPr lang="en-US" dirty="0"/>
              <a:t> </a:t>
            </a:r>
          </a:p>
          <a:p>
            <a:r>
              <a:rPr lang="en-US" dirty="0"/>
              <a:t>Preprocessing and model training were applied together using a </a:t>
            </a:r>
            <a:r>
              <a:rPr lang="en-US" b="1" dirty="0"/>
              <a:t>Pipeline</a:t>
            </a:r>
            <a:r>
              <a:rPr lang="en-US" dirty="0"/>
              <a:t>, ensuring: </a:t>
            </a:r>
          </a:p>
          <a:p>
            <a:pPr lvl="1"/>
            <a:r>
              <a:rPr lang="en-US" dirty="0"/>
              <a:t>No data leakage </a:t>
            </a:r>
          </a:p>
          <a:p>
            <a:pPr lvl="1"/>
            <a:r>
              <a:rPr lang="en-US" dirty="0"/>
              <a:t>Consistent transformations</a:t>
            </a:r>
          </a:p>
          <a:p>
            <a:endParaRPr lang="en-IN" dirty="0"/>
          </a:p>
        </p:txBody>
      </p:sp>
    </p:spTree>
    <p:extLst>
      <p:ext uri="{BB962C8B-B14F-4D97-AF65-F5344CB8AC3E}">
        <p14:creationId xmlns:p14="http://schemas.microsoft.com/office/powerpoint/2010/main" val="2070365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F9C06-CEC4-2F40-3496-99275966DA4A}"/>
              </a:ext>
            </a:extLst>
          </p:cNvPr>
          <p:cNvSpPr>
            <a:spLocks noGrp="1"/>
          </p:cNvSpPr>
          <p:nvPr>
            <p:ph type="title"/>
          </p:nvPr>
        </p:nvSpPr>
        <p:spPr>
          <a:xfrm>
            <a:off x="875072" y="117988"/>
            <a:ext cx="9920748" cy="766916"/>
          </a:xfrm>
        </p:spPr>
        <p:txBody>
          <a:bodyPr/>
          <a:lstStyle/>
          <a:p>
            <a:r>
              <a:rPr lang="en-US" dirty="0"/>
              <a:t>Final Model Evaluation on Test Data</a:t>
            </a:r>
            <a:endParaRPr lang="en-IN" dirty="0"/>
          </a:p>
        </p:txBody>
      </p:sp>
      <p:sp>
        <p:nvSpPr>
          <p:cNvPr id="3" name="Content Placeholder 2">
            <a:extLst>
              <a:ext uri="{FF2B5EF4-FFF2-40B4-BE49-F238E27FC236}">
                <a16:creationId xmlns:a16="http://schemas.microsoft.com/office/drawing/2014/main" id="{11A7F880-8B07-7604-9082-65E2FEC012B6}"/>
              </a:ext>
            </a:extLst>
          </p:cNvPr>
          <p:cNvSpPr>
            <a:spLocks noGrp="1"/>
          </p:cNvSpPr>
          <p:nvPr>
            <p:ph idx="1"/>
          </p:nvPr>
        </p:nvSpPr>
        <p:spPr>
          <a:xfrm>
            <a:off x="245806" y="884903"/>
            <a:ext cx="11788878" cy="5388077"/>
          </a:xfrm>
        </p:spPr>
        <p:txBody>
          <a:bodyPr/>
          <a:lstStyle/>
          <a:p>
            <a:r>
              <a:rPr lang="en-US" dirty="0"/>
              <a:t>The tuned </a:t>
            </a:r>
            <a:r>
              <a:rPr lang="en-US" b="1" dirty="0"/>
              <a:t>Random Forest model</a:t>
            </a:r>
            <a:r>
              <a:rPr lang="en-US" dirty="0"/>
              <a:t> was evaluated on the unseen test dataset to measure its real-world performance.</a:t>
            </a:r>
          </a:p>
          <a:p>
            <a:r>
              <a:rPr lang="en-US" b="1" dirty="0"/>
              <a:t>Test MAE:</a:t>
            </a:r>
            <a:r>
              <a:rPr lang="en-US" dirty="0"/>
              <a:t> 0.0000134 </a:t>
            </a:r>
          </a:p>
          <a:p>
            <a:r>
              <a:rPr lang="en-US" b="1" dirty="0"/>
              <a:t>R² Score:</a:t>
            </a:r>
            <a:r>
              <a:rPr lang="en-US" dirty="0"/>
              <a:t> 0.9999999 </a:t>
            </a:r>
          </a:p>
          <a:p>
            <a:r>
              <a:rPr lang="en-US" dirty="0"/>
              <a:t>The </a:t>
            </a:r>
            <a:r>
              <a:rPr lang="en-US" b="1" dirty="0"/>
              <a:t>extremely low MAE</a:t>
            </a:r>
            <a:r>
              <a:rPr lang="en-US" dirty="0"/>
              <a:t> indicates that the model’s predictions are very close to actual values.</a:t>
            </a:r>
          </a:p>
          <a:p>
            <a:r>
              <a:rPr lang="en-US" dirty="0"/>
              <a:t>The </a:t>
            </a:r>
            <a:r>
              <a:rPr lang="en-US" b="1" dirty="0"/>
              <a:t>R² score near 1</a:t>
            </a:r>
            <a:r>
              <a:rPr lang="en-US" dirty="0"/>
              <a:t> shows that the model explains almost all the variance in the data.</a:t>
            </a:r>
          </a:p>
          <a:p>
            <a:r>
              <a:rPr lang="en-US" dirty="0"/>
              <a:t>This suggests </a:t>
            </a:r>
            <a:r>
              <a:rPr lang="en-US" b="1" dirty="0"/>
              <a:t>exceptionally high predictive accuracy</a:t>
            </a:r>
            <a:r>
              <a:rPr lang="en-US" dirty="0"/>
              <a:t>.</a:t>
            </a:r>
          </a:p>
          <a:p>
            <a:r>
              <a:rPr lang="en-US" dirty="0"/>
              <a:t>The tuned Random Forest model achieved near-perfect performance on test data, demonstrating very high accuracy, though results should be validated to rule out potential overfitting or data leakage.</a:t>
            </a:r>
          </a:p>
          <a:p>
            <a:endParaRPr lang="en-IN" dirty="0"/>
          </a:p>
        </p:txBody>
      </p:sp>
    </p:spTree>
    <p:extLst>
      <p:ext uri="{BB962C8B-B14F-4D97-AF65-F5344CB8AC3E}">
        <p14:creationId xmlns:p14="http://schemas.microsoft.com/office/powerpoint/2010/main" val="1750645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5294-5B19-0B20-516E-65D02D4048C3}"/>
              </a:ext>
            </a:extLst>
          </p:cNvPr>
          <p:cNvSpPr>
            <a:spLocks noGrp="1"/>
          </p:cNvSpPr>
          <p:nvPr>
            <p:ph type="title"/>
          </p:nvPr>
        </p:nvSpPr>
        <p:spPr>
          <a:xfrm>
            <a:off x="890803" y="1"/>
            <a:ext cx="9580552" cy="747252"/>
          </a:xfrm>
        </p:spPr>
        <p:txBody>
          <a:bodyPr/>
          <a:lstStyle/>
          <a:p>
            <a:r>
              <a:rPr lang="en-IN" dirty="0"/>
              <a:t>		SHAP Feature Importance</a:t>
            </a:r>
          </a:p>
        </p:txBody>
      </p:sp>
      <p:pic>
        <p:nvPicPr>
          <p:cNvPr id="5" name="Content Placeholder 4">
            <a:extLst>
              <a:ext uri="{FF2B5EF4-FFF2-40B4-BE49-F238E27FC236}">
                <a16:creationId xmlns:a16="http://schemas.microsoft.com/office/drawing/2014/main" id="{7FD6E6C0-4CF3-5A81-3988-9A79652BBD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93394" y="627063"/>
            <a:ext cx="3598606" cy="4207326"/>
          </a:xfrm>
          <a:prstGeom prst="rect">
            <a:avLst/>
          </a:prstGeom>
        </p:spPr>
      </p:pic>
      <p:sp>
        <p:nvSpPr>
          <p:cNvPr id="6" name="TextBox 5">
            <a:extLst>
              <a:ext uri="{FF2B5EF4-FFF2-40B4-BE49-F238E27FC236}">
                <a16:creationId xmlns:a16="http://schemas.microsoft.com/office/drawing/2014/main" id="{FCB02A94-B920-9ED3-C536-02729D24BAAC}"/>
              </a:ext>
            </a:extLst>
          </p:cNvPr>
          <p:cNvSpPr txBox="1"/>
          <p:nvPr/>
        </p:nvSpPr>
        <p:spPr>
          <a:xfrm>
            <a:off x="226142" y="747253"/>
            <a:ext cx="8367252" cy="4247317"/>
          </a:xfrm>
          <a:prstGeom prst="rect">
            <a:avLst/>
          </a:prstGeom>
          <a:noFill/>
        </p:spPr>
        <p:txBody>
          <a:bodyPr wrap="square" rtlCol="0">
            <a:spAutoFit/>
          </a:bodyPr>
          <a:lstStyle/>
          <a:p>
            <a:r>
              <a:rPr lang="en-US" dirty="0"/>
              <a:t>The SHAP summary plot shows the </a:t>
            </a:r>
            <a:r>
              <a:rPr lang="en-US" b="1" dirty="0"/>
              <a:t>impact of each feature on the model’s predictions</a:t>
            </a:r>
            <a:r>
              <a:rPr lang="en-US" dirty="0"/>
              <a:t>.</a:t>
            </a:r>
          </a:p>
          <a:p>
            <a:r>
              <a:rPr lang="en-US" b="1" dirty="0" err="1"/>
              <a:t>capacity_kw</a:t>
            </a:r>
            <a:r>
              <a:rPr lang="en-US" b="1" dirty="0"/>
              <a:t> is the most influential feature</a:t>
            </a:r>
            <a:r>
              <a:rPr lang="en-US" dirty="0"/>
              <a:t>, with a strong impact on the model output. Higher capacity values (red) push predictions higher, while lower values (blue) reduce predictions. </a:t>
            </a:r>
          </a:p>
          <a:p>
            <a:r>
              <a:rPr lang="en-US" dirty="0"/>
              <a:t>Other features such as </a:t>
            </a:r>
            <a:r>
              <a:rPr lang="en-US" b="1" dirty="0"/>
              <a:t>year and month</a:t>
            </a:r>
            <a:r>
              <a:rPr lang="en-US" dirty="0"/>
              <a:t> have relatively minor influence. </a:t>
            </a:r>
          </a:p>
          <a:p>
            <a:r>
              <a:rPr lang="en-US" dirty="0"/>
              <a:t>Most categorical features (developer, utility, county, city) show </a:t>
            </a:r>
            <a:r>
              <a:rPr lang="en-US" b="1" dirty="0"/>
              <a:t>very low impact</a:t>
            </a:r>
            <a:r>
              <a:rPr lang="en-US" dirty="0"/>
              <a:t>, with SHAP values close to zero.</a:t>
            </a:r>
          </a:p>
          <a:p>
            <a:endParaRPr lang="en-US" dirty="0"/>
          </a:p>
          <a:p>
            <a:r>
              <a:rPr lang="en-US" dirty="0"/>
              <a:t>The model relies </a:t>
            </a:r>
            <a:r>
              <a:rPr lang="en-US" b="1" dirty="0"/>
              <a:t>heavily on system capacity</a:t>
            </a:r>
            <a:r>
              <a:rPr lang="en-US" dirty="0"/>
              <a:t> to make predictions.</a:t>
            </a:r>
          </a:p>
          <a:p>
            <a:r>
              <a:rPr lang="en-US" dirty="0"/>
              <a:t>Temporal and categorical features contribute </a:t>
            </a:r>
            <a:r>
              <a:rPr lang="en-US" b="1" dirty="0"/>
              <a:t>very little</a:t>
            </a:r>
            <a:r>
              <a:rPr lang="en-US" dirty="0"/>
              <a:t> compared to capacity.</a:t>
            </a:r>
          </a:p>
          <a:p>
            <a:r>
              <a:rPr lang="en-US" dirty="0"/>
              <a:t>This aligns with earlier analysis showing a </a:t>
            </a:r>
            <a:r>
              <a:rPr lang="en-US" b="1" dirty="0"/>
              <a:t>strong linear relationship between capacity and energy</a:t>
            </a:r>
            <a:r>
              <a:rPr lang="en-US" dirty="0"/>
              <a:t>.</a:t>
            </a:r>
          </a:p>
          <a:p>
            <a:endParaRPr lang="en-US" dirty="0"/>
          </a:p>
          <a:p>
            <a:r>
              <a:rPr lang="en-US" dirty="0"/>
              <a:t>SHAP analysis confirms that system capacity is the dominant factor in predicting solar energy output, while other features have minimal influence on the model.</a:t>
            </a:r>
          </a:p>
        </p:txBody>
      </p:sp>
    </p:spTree>
    <p:extLst>
      <p:ext uri="{BB962C8B-B14F-4D97-AF65-F5344CB8AC3E}">
        <p14:creationId xmlns:p14="http://schemas.microsoft.com/office/powerpoint/2010/main" val="3560788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FED3-E37E-3A20-0857-02280D03CA22}"/>
              </a:ext>
            </a:extLst>
          </p:cNvPr>
          <p:cNvSpPr>
            <a:spLocks noGrp="1"/>
          </p:cNvSpPr>
          <p:nvPr>
            <p:ph type="title"/>
          </p:nvPr>
        </p:nvSpPr>
        <p:spPr>
          <a:xfrm>
            <a:off x="1097280" y="286603"/>
            <a:ext cx="9472397" cy="1011255"/>
          </a:xfrm>
        </p:spPr>
        <p:txBody>
          <a:bodyPr>
            <a:normAutofit fontScale="90000"/>
          </a:bodyPr>
          <a:lstStyle/>
          <a:p>
            <a:r>
              <a:rPr lang="en-US" dirty="0"/>
              <a:t>SHAP Dependence Plot – Capacity vs Impact</a:t>
            </a:r>
            <a:endParaRPr lang="en-IN" dirty="0"/>
          </a:p>
        </p:txBody>
      </p:sp>
      <p:pic>
        <p:nvPicPr>
          <p:cNvPr id="5" name="Content Placeholder 4">
            <a:extLst>
              <a:ext uri="{FF2B5EF4-FFF2-40B4-BE49-F238E27FC236}">
                <a16:creationId xmlns:a16="http://schemas.microsoft.com/office/drawing/2014/main" id="{5134A996-632F-11EE-646D-9A9A0C539D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23586" y="792230"/>
            <a:ext cx="5368413" cy="4142240"/>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EAB99E77-EEBD-F446-4A5D-CA1DB611A728}"/>
              </a:ext>
            </a:extLst>
          </p:cNvPr>
          <p:cNvSpPr txBox="1"/>
          <p:nvPr/>
        </p:nvSpPr>
        <p:spPr>
          <a:xfrm>
            <a:off x="117987" y="1297858"/>
            <a:ext cx="6705599" cy="5355312"/>
          </a:xfrm>
          <a:prstGeom prst="rect">
            <a:avLst/>
          </a:prstGeom>
          <a:noFill/>
        </p:spPr>
        <p:txBody>
          <a:bodyPr wrap="square" rtlCol="0">
            <a:spAutoFit/>
          </a:bodyPr>
          <a:lstStyle/>
          <a:p>
            <a:r>
              <a:rPr lang="en-US" dirty="0"/>
              <a:t>The plot shows how </a:t>
            </a:r>
            <a:r>
              <a:rPr lang="en-US" b="1" dirty="0" err="1"/>
              <a:t>capacity_kw</a:t>
            </a:r>
            <a:r>
              <a:rPr lang="en-US" b="1" dirty="0"/>
              <a:t> influences the model’s prediction (SHAP value)</a:t>
            </a:r>
            <a:r>
              <a:rPr lang="en-US" dirty="0"/>
              <a:t>, with color representing the </a:t>
            </a:r>
            <a:r>
              <a:rPr lang="en-US" b="1" dirty="0"/>
              <a:t>year</a:t>
            </a:r>
            <a:r>
              <a:rPr lang="en-US" dirty="0"/>
              <a:t>.</a:t>
            </a:r>
          </a:p>
          <a:p>
            <a:r>
              <a:rPr lang="en-US" dirty="0"/>
              <a:t>There is a </a:t>
            </a:r>
            <a:r>
              <a:rPr lang="en-US" b="1" dirty="0"/>
              <a:t>strong positive relationship</a:t>
            </a:r>
            <a:r>
              <a:rPr lang="en-US" dirty="0"/>
              <a:t> between capacity and SHAP values. </a:t>
            </a:r>
          </a:p>
          <a:p>
            <a:r>
              <a:rPr lang="en-US" dirty="0"/>
              <a:t>As capacity increases, the SHAP value increases, meaning </a:t>
            </a:r>
            <a:r>
              <a:rPr lang="en-US" b="1" dirty="0"/>
              <a:t>higher capacity leads to higher predicted energy</a:t>
            </a:r>
            <a:r>
              <a:rPr lang="en-US" dirty="0"/>
              <a:t>. </a:t>
            </a:r>
          </a:p>
          <a:p>
            <a:r>
              <a:rPr lang="en-US" dirty="0"/>
              <a:t>Most data points are concentrated at lower capacity values, with a few high-capacity outliers showing strong positive impact. </a:t>
            </a:r>
          </a:p>
          <a:p>
            <a:r>
              <a:rPr lang="en-US" dirty="0"/>
              <a:t>The color (year) shows </a:t>
            </a:r>
            <a:r>
              <a:rPr lang="en-US" b="1" dirty="0"/>
              <a:t>minimal variation</a:t>
            </a:r>
            <a:r>
              <a:rPr lang="en-US" dirty="0"/>
              <a:t>, indicating that year has little interaction with capacity.</a:t>
            </a:r>
          </a:p>
          <a:p>
            <a:endParaRPr lang="en-US" dirty="0"/>
          </a:p>
          <a:p>
            <a:r>
              <a:rPr lang="en-US" b="1" dirty="0"/>
              <a:t>Capacity is the dominant driver</a:t>
            </a:r>
            <a:r>
              <a:rPr lang="en-US" dirty="0"/>
              <a:t> of model predictions.</a:t>
            </a:r>
          </a:p>
          <a:p>
            <a:r>
              <a:rPr lang="en-US" dirty="0"/>
              <a:t>The relationship is </a:t>
            </a:r>
            <a:r>
              <a:rPr lang="en-US" b="1" dirty="0"/>
              <a:t>almost linear</a:t>
            </a:r>
            <a:r>
              <a:rPr lang="en-US" dirty="0"/>
              <a:t>, reinforcing earlier findings from correlation and scatter plots.</a:t>
            </a:r>
          </a:p>
          <a:p>
            <a:r>
              <a:rPr lang="en-US" dirty="0"/>
              <a:t>Temporal influence (year) does not significantly change the effect of capacity.</a:t>
            </a:r>
          </a:p>
          <a:p>
            <a:r>
              <a:rPr lang="en-US" dirty="0"/>
              <a:t>The SHAP dependence plot confirms that increasing system capacity directly increases predicted energy output, with minimal influence from temporal factors.</a:t>
            </a:r>
          </a:p>
        </p:txBody>
      </p:sp>
    </p:spTree>
    <p:extLst>
      <p:ext uri="{BB962C8B-B14F-4D97-AF65-F5344CB8AC3E}">
        <p14:creationId xmlns:p14="http://schemas.microsoft.com/office/powerpoint/2010/main" val="1677224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BA9A9-258F-D993-4E99-FB1F76E7C552}"/>
              </a:ext>
            </a:extLst>
          </p:cNvPr>
          <p:cNvSpPr>
            <a:spLocks noGrp="1"/>
          </p:cNvSpPr>
          <p:nvPr>
            <p:ph type="title"/>
          </p:nvPr>
        </p:nvSpPr>
        <p:spPr>
          <a:xfrm>
            <a:off x="890802" y="0"/>
            <a:ext cx="10058400" cy="1450757"/>
          </a:xfrm>
        </p:spPr>
        <p:txBody>
          <a:bodyPr/>
          <a:lstStyle/>
          <a:p>
            <a:r>
              <a:rPr lang="en-IN" dirty="0"/>
              <a:t>SHAP Explanation (Single Prediction) – Interpretation</a:t>
            </a:r>
          </a:p>
        </p:txBody>
      </p:sp>
      <p:pic>
        <p:nvPicPr>
          <p:cNvPr id="5" name="Content Placeholder 4">
            <a:extLst>
              <a:ext uri="{FF2B5EF4-FFF2-40B4-BE49-F238E27FC236}">
                <a16:creationId xmlns:a16="http://schemas.microsoft.com/office/drawing/2014/main" id="{DBBDD761-42F7-500C-9F14-0D048DFFBD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4045" y="961231"/>
            <a:ext cx="4687955" cy="4935538"/>
          </a:xfrm>
          <a:prstGeom prst="rect">
            <a:avLst/>
          </a:prstGeom>
          <a:scene3d>
            <a:camera prst="orthographicFront"/>
            <a:lightRig rig="threePt" dir="t"/>
          </a:scene3d>
          <a:sp3d>
            <a:bevelT prst="relaxedInset"/>
          </a:sp3d>
        </p:spPr>
      </p:pic>
      <p:sp>
        <p:nvSpPr>
          <p:cNvPr id="6" name="TextBox 5">
            <a:extLst>
              <a:ext uri="{FF2B5EF4-FFF2-40B4-BE49-F238E27FC236}">
                <a16:creationId xmlns:a16="http://schemas.microsoft.com/office/drawing/2014/main" id="{D1D8084F-C133-966D-97CD-D1FB49E67BA3}"/>
              </a:ext>
            </a:extLst>
          </p:cNvPr>
          <p:cNvSpPr txBox="1"/>
          <p:nvPr/>
        </p:nvSpPr>
        <p:spPr>
          <a:xfrm>
            <a:off x="0" y="1450757"/>
            <a:ext cx="7433187" cy="3970318"/>
          </a:xfrm>
          <a:prstGeom prst="rect">
            <a:avLst/>
          </a:prstGeom>
          <a:noFill/>
        </p:spPr>
        <p:txBody>
          <a:bodyPr wrap="square" rtlCol="0">
            <a:spAutoFit/>
          </a:bodyPr>
          <a:lstStyle/>
          <a:p>
            <a:r>
              <a:rPr lang="en-US" dirty="0"/>
              <a:t>This SHAP waterfall plot explains how individual features contribute to a </a:t>
            </a:r>
            <a:r>
              <a:rPr lang="en-US" b="1" dirty="0"/>
              <a:t>single prediction</a:t>
            </a:r>
            <a:r>
              <a:rPr lang="en-US" dirty="0"/>
              <a:t>.</a:t>
            </a:r>
          </a:p>
          <a:p>
            <a:r>
              <a:rPr lang="en-US" dirty="0"/>
              <a:t>The model’s </a:t>
            </a:r>
            <a:r>
              <a:rPr lang="en-US" b="1" dirty="0"/>
              <a:t>base value (average prediction)</a:t>
            </a:r>
            <a:r>
              <a:rPr lang="en-US" dirty="0"/>
              <a:t> starts around </a:t>
            </a:r>
            <a:r>
              <a:rPr lang="en-US" b="1" dirty="0"/>
              <a:t>9.034</a:t>
            </a:r>
            <a:r>
              <a:rPr lang="en-US" dirty="0"/>
              <a:t>, and the final prediction is </a:t>
            </a:r>
            <a:r>
              <a:rPr lang="en-US" b="1" dirty="0"/>
              <a:t>8.937</a:t>
            </a:r>
            <a:r>
              <a:rPr lang="en-US" dirty="0"/>
              <a:t>. </a:t>
            </a:r>
          </a:p>
          <a:p>
            <a:r>
              <a:rPr lang="en-US" dirty="0"/>
              <a:t>The largest impact comes from </a:t>
            </a:r>
            <a:r>
              <a:rPr lang="en-US" b="1" dirty="0" err="1"/>
              <a:t>capacity_kw</a:t>
            </a:r>
            <a:r>
              <a:rPr lang="en-US" dirty="0"/>
              <a:t>, which significantly </a:t>
            </a:r>
            <a:r>
              <a:rPr lang="en-US" b="1" dirty="0"/>
              <a:t>reduces the prediction</a:t>
            </a:r>
            <a:r>
              <a:rPr lang="en-US" dirty="0"/>
              <a:t> (negative contribution). </a:t>
            </a:r>
          </a:p>
          <a:p>
            <a:r>
              <a:rPr lang="en-US" dirty="0"/>
              <a:t>Other features such as </a:t>
            </a:r>
            <a:r>
              <a:rPr lang="en-US" b="1" dirty="0"/>
              <a:t>year, month, developer, city, and utility</a:t>
            </a:r>
            <a:r>
              <a:rPr lang="en-US" dirty="0"/>
              <a:t> have </a:t>
            </a:r>
            <a:r>
              <a:rPr lang="en-US" b="1" dirty="0"/>
              <a:t>minimal impact</a:t>
            </a:r>
            <a:r>
              <a:rPr lang="en-US" dirty="0"/>
              <a:t>, contributing very small positive or negative values. </a:t>
            </a:r>
          </a:p>
          <a:p>
            <a:r>
              <a:rPr lang="en-US" dirty="0"/>
              <a:t>Most features collectively have </a:t>
            </a:r>
            <a:r>
              <a:rPr lang="en-US" b="1" dirty="0"/>
              <a:t>negligible influence</a:t>
            </a:r>
            <a:r>
              <a:rPr lang="en-US" dirty="0"/>
              <a:t>, as shown by “477 other features”.</a:t>
            </a:r>
          </a:p>
          <a:p>
            <a:endParaRPr lang="en-US" dirty="0"/>
          </a:p>
          <a:p>
            <a:r>
              <a:rPr lang="en-US" dirty="0"/>
              <a:t>The prediction is primarily driven by system capacity, with other features having minimal impact, confirming that capacity is the key determinant of solar energy output</a:t>
            </a:r>
          </a:p>
        </p:txBody>
      </p:sp>
    </p:spTree>
    <p:extLst>
      <p:ext uri="{BB962C8B-B14F-4D97-AF65-F5344CB8AC3E}">
        <p14:creationId xmlns:p14="http://schemas.microsoft.com/office/powerpoint/2010/main" val="2681782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EF8F-1928-5370-C0BF-C5039FBA1D2C}"/>
              </a:ext>
            </a:extLst>
          </p:cNvPr>
          <p:cNvSpPr>
            <a:spLocks noGrp="1"/>
          </p:cNvSpPr>
          <p:nvPr>
            <p:ph type="title"/>
          </p:nvPr>
        </p:nvSpPr>
        <p:spPr>
          <a:xfrm>
            <a:off x="900635" y="1"/>
            <a:ext cx="10058400" cy="1376516"/>
          </a:xfrm>
        </p:spPr>
        <p:txBody>
          <a:bodyPr/>
          <a:lstStyle/>
          <a:p>
            <a:r>
              <a:rPr lang="en-IN" dirty="0"/>
              <a:t>Final Conclusions – Solar Energy Prediction Project</a:t>
            </a:r>
          </a:p>
        </p:txBody>
      </p:sp>
      <p:sp>
        <p:nvSpPr>
          <p:cNvPr id="3" name="Content Placeholder 2">
            <a:extLst>
              <a:ext uri="{FF2B5EF4-FFF2-40B4-BE49-F238E27FC236}">
                <a16:creationId xmlns:a16="http://schemas.microsoft.com/office/drawing/2014/main" id="{EBB00AD4-3A10-0506-EEC9-07FB0F827462}"/>
              </a:ext>
            </a:extLst>
          </p:cNvPr>
          <p:cNvSpPr>
            <a:spLocks noGrp="1"/>
          </p:cNvSpPr>
          <p:nvPr>
            <p:ph idx="1"/>
          </p:nvPr>
        </p:nvSpPr>
        <p:spPr>
          <a:xfrm>
            <a:off x="167148" y="1199535"/>
            <a:ext cx="12024852" cy="5122607"/>
          </a:xfrm>
        </p:spPr>
        <p:txBody>
          <a:bodyPr/>
          <a:lstStyle/>
          <a:p>
            <a:r>
              <a:rPr lang="en-US" dirty="0"/>
              <a:t>This project successfully developed a </a:t>
            </a:r>
            <a:r>
              <a:rPr lang="en-US" b="1" dirty="0"/>
              <a:t>machine learning model to predict solar energy generation</a:t>
            </a:r>
            <a:r>
              <a:rPr lang="en-US" dirty="0"/>
              <a:t>, with the </a:t>
            </a:r>
            <a:r>
              <a:rPr lang="en-US" b="1" dirty="0"/>
              <a:t>tuned Random Forest model</a:t>
            </a:r>
            <a:r>
              <a:rPr lang="en-US" dirty="0"/>
              <a:t> achieving extremely high accuracy on the dataset.</a:t>
            </a:r>
          </a:p>
          <a:p>
            <a:r>
              <a:rPr lang="en-US" b="1" dirty="0"/>
              <a:t>Key Findings</a:t>
            </a:r>
          </a:p>
          <a:p>
            <a:r>
              <a:rPr lang="en-US" b="1" dirty="0"/>
              <a:t>1. Capacity is the Dominant Factor</a:t>
            </a:r>
          </a:p>
          <a:p>
            <a:r>
              <a:rPr lang="en-US" dirty="0"/>
              <a:t>System capacity (</a:t>
            </a:r>
            <a:r>
              <a:rPr lang="en-US" dirty="0" err="1"/>
              <a:t>capacity_kw</a:t>
            </a:r>
            <a:r>
              <a:rPr lang="en-US" dirty="0"/>
              <a:t>) is the </a:t>
            </a:r>
            <a:r>
              <a:rPr lang="en-US" b="1" dirty="0"/>
              <a:t>most influential feature</a:t>
            </a:r>
            <a:r>
              <a:rPr lang="en-US" dirty="0"/>
              <a:t> across all analyses </a:t>
            </a:r>
          </a:p>
          <a:p>
            <a:r>
              <a:rPr lang="en-US" dirty="0"/>
              <a:t>Strong linear relationship with energy production </a:t>
            </a:r>
          </a:p>
          <a:p>
            <a:r>
              <a:rPr lang="en-US" dirty="0"/>
              <a:t>SHAP analysis confirmed it drives the majority of predictions </a:t>
            </a:r>
          </a:p>
          <a:p>
            <a:r>
              <a:rPr lang="en-US" b="1" dirty="0"/>
              <a:t>2.  Efficiency is Highly Consistent</a:t>
            </a:r>
          </a:p>
          <a:p>
            <a:r>
              <a:rPr lang="en-US" dirty="0"/>
              <a:t>Energy per kW showed </a:t>
            </a:r>
            <a:r>
              <a:rPr lang="en-US" b="1" dirty="0"/>
              <a:t>very low variation across systems</a:t>
            </a:r>
            <a:r>
              <a:rPr lang="en-US" dirty="0"/>
              <a:t> </a:t>
            </a:r>
          </a:p>
          <a:p>
            <a:r>
              <a:rPr lang="en-US" dirty="0"/>
              <a:t>Indicates standardized performance across installations </a:t>
            </a:r>
          </a:p>
          <a:p>
            <a:r>
              <a:rPr lang="en-US" dirty="0"/>
              <a:t>Efficiency differences do not significantly impact predictions </a:t>
            </a:r>
          </a:p>
          <a:p>
            <a:endParaRPr lang="en-IN" dirty="0"/>
          </a:p>
        </p:txBody>
      </p:sp>
    </p:spTree>
    <p:extLst>
      <p:ext uri="{BB962C8B-B14F-4D97-AF65-F5344CB8AC3E}">
        <p14:creationId xmlns:p14="http://schemas.microsoft.com/office/powerpoint/2010/main" val="14605591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4F0F7-E9C5-3E90-06FE-529059391656}"/>
              </a:ext>
            </a:extLst>
          </p:cNvPr>
          <p:cNvSpPr>
            <a:spLocks noGrp="1"/>
          </p:cNvSpPr>
          <p:nvPr>
            <p:ph idx="1"/>
          </p:nvPr>
        </p:nvSpPr>
        <p:spPr>
          <a:xfrm>
            <a:off x="206477" y="88490"/>
            <a:ext cx="11847871" cy="6233652"/>
          </a:xfrm>
        </p:spPr>
        <p:txBody>
          <a:bodyPr>
            <a:normAutofit lnSpcReduction="10000"/>
          </a:bodyPr>
          <a:lstStyle/>
          <a:p>
            <a:r>
              <a:rPr lang="en-US" b="1" dirty="0"/>
              <a:t>3. Limited Impact of Categorical Features</a:t>
            </a:r>
          </a:p>
          <a:p>
            <a:r>
              <a:rPr lang="en-US" dirty="0"/>
              <a:t>Developer, utility, city, and county have </a:t>
            </a:r>
            <a:r>
              <a:rPr lang="en-US" b="1" dirty="0"/>
              <a:t>minimal influence</a:t>
            </a:r>
            <a:r>
              <a:rPr lang="en-US" dirty="0"/>
              <a:t> </a:t>
            </a:r>
          </a:p>
          <a:p>
            <a:r>
              <a:rPr lang="en-US" dirty="0"/>
              <a:t>High cardinality features were simplified without loss of performance </a:t>
            </a:r>
          </a:p>
          <a:p>
            <a:r>
              <a:rPr lang="en-US" dirty="0"/>
              <a:t>Model relies less on categorical variables </a:t>
            </a:r>
          </a:p>
          <a:p>
            <a:r>
              <a:rPr lang="en-US" b="1" dirty="0"/>
              <a:t>4. Temporal Features Have Minor Influence</a:t>
            </a:r>
          </a:p>
          <a:p>
            <a:r>
              <a:rPr lang="en-US" dirty="0"/>
              <a:t>Year and month show </a:t>
            </a:r>
            <a:r>
              <a:rPr lang="en-US" b="1" dirty="0"/>
              <a:t>some seasonal trends</a:t>
            </a:r>
            <a:r>
              <a:rPr lang="en-US" dirty="0"/>
              <a:t>, but limited predictive power </a:t>
            </a:r>
          </a:p>
          <a:p>
            <a:r>
              <a:rPr lang="en-US" dirty="0"/>
              <a:t>Solar production remains relatively stable over time </a:t>
            </a:r>
          </a:p>
          <a:p>
            <a:r>
              <a:rPr lang="en-IN" b="1" dirty="0"/>
              <a:t>5. Model Performance</a:t>
            </a:r>
          </a:p>
          <a:p>
            <a:r>
              <a:rPr lang="en-IN" dirty="0"/>
              <a:t>Random Forest (tuned) achieved: </a:t>
            </a:r>
          </a:p>
          <a:p>
            <a:pPr lvl="1"/>
            <a:r>
              <a:rPr lang="en-IN" b="1" dirty="0"/>
              <a:t>Very low MAE (~0.00001)</a:t>
            </a:r>
            <a:r>
              <a:rPr lang="en-IN" dirty="0"/>
              <a:t> </a:t>
            </a:r>
          </a:p>
          <a:p>
            <a:pPr lvl="1"/>
            <a:r>
              <a:rPr lang="en-IN" b="1" dirty="0"/>
              <a:t>R² ≈ 0.9999999</a:t>
            </a:r>
            <a:r>
              <a:rPr lang="en-IN" dirty="0"/>
              <a:t> </a:t>
            </a:r>
          </a:p>
          <a:p>
            <a:r>
              <a:rPr lang="en-IN" dirty="0"/>
              <a:t>Ensemble models significantly outperformed linear models </a:t>
            </a:r>
          </a:p>
          <a:p>
            <a:r>
              <a:rPr lang="en-US" dirty="0"/>
              <a:t>The near-perfect performance suggests:</a:t>
            </a:r>
          </a:p>
          <a:p>
            <a:r>
              <a:rPr lang="en-US" dirty="0"/>
              <a:t>Either </a:t>
            </a:r>
            <a:r>
              <a:rPr lang="en-US" b="1" dirty="0"/>
              <a:t>very strong feature relationships (especially capacity)</a:t>
            </a:r>
            <a:r>
              <a:rPr lang="en-US" dirty="0"/>
              <a:t> </a:t>
            </a:r>
          </a:p>
          <a:p>
            <a:r>
              <a:rPr lang="en-US" dirty="0"/>
              <a:t>Or potential </a:t>
            </a:r>
            <a:r>
              <a:rPr lang="en-US" b="1" dirty="0"/>
              <a:t>data leakage / overly deterministic data</a:t>
            </a:r>
            <a:endParaRPr lang="en-US" dirty="0"/>
          </a:p>
          <a:p>
            <a:endParaRPr lang="en-IN" dirty="0"/>
          </a:p>
          <a:p>
            <a:endParaRPr lang="en-IN" dirty="0"/>
          </a:p>
        </p:txBody>
      </p:sp>
    </p:spTree>
    <p:extLst>
      <p:ext uri="{BB962C8B-B14F-4D97-AF65-F5344CB8AC3E}">
        <p14:creationId xmlns:p14="http://schemas.microsoft.com/office/powerpoint/2010/main" val="580163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F4C8-7801-A500-F1C3-EC6EA1083FCE}"/>
              </a:ext>
            </a:extLst>
          </p:cNvPr>
          <p:cNvSpPr>
            <a:spLocks noGrp="1"/>
          </p:cNvSpPr>
          <p:nvPr>
            <p:ph type="title"/>
          </p:nvPr>
        </p:nvSpPr>
        <p:spPr>
          <a:xfrm>
            <a:off x="1097280" y="286603"/>
            <a:ext cx="9501894" cy="460649"/>
          </a:xfrm>
        </p:spPr>
        <p:txBody>
          <a:bodyPr>
            <a:normAutofit fontScale="90000"/>
          </a:bodyPr>
          <a:lstStyle/>
          <a:p>
            <a:r>
              <a:rPr lang="en-IN" dirty="0"/>
              <a:t>Final Takeaways &amp; Business Insight</a:t>
            </a:r>
          </a:p>
        </p:txBody>
      </p:sp>
      <p:sp>
        <p:nvSpPr>
          <p:cNvPr id="3" name="Content Placeholder 2">
            <a:extLst>
              <a:ext uri="{FF2B5EF4-FFF2-40B4-BE49-F238E27FC236}">
                <a16:creationId xmlns:a16="http://schemas.microsoft.com/office/drawing/2014/main" id="{3E48CA7A-219D-F077-928B-C6F4E207F4E6}"/>
              </a:ext>
            </a:extLst>
          </p:cNvPr>
          <p:cNvSpPr>
            <a:spLocks noGrp="1"/>
          </p:cNvSpPr>
          <p:nvPr>
            <p:ph idx="1"/>
          </p:nvPr>
        </p:nvSpPr>
        <p:spPr>
          <a:xfrm>
            <a:off x="0" y="747252"/>
            <a:ext cx="12192000" cy="5515896"/>
          </a:xfrm>
        </p:spPr>
        <p:txBody>
          <a:bodyPr/>
          <a:lstStyle/>
          <a:p>
            <a:r>
              <a:rPr lang="en-US" dirty="0"/>
              <a:t>Solar energy prediction in this dataset is </a:t>
            </a:r>
            <a:r>
              <a:rPr lang="en-US" b="1" dirty="0"/>
              <a:t>largely deterministic and capacity-driven</a:t>
            </a:r>
            <a:r>
              <a:rPr lang="en-US" dirty="0"/>
              <a:t> </a:t>
            </a:r>
          </a:p>
          <a:p>
            <a:r>
              <a:rPr lang="en-US" dirty="0"/>
              <a:t>Advanced models add value, but </a:t>
            </a:r>
            <a:r>
              <a:rPr lang="en-US" b="1" dirty="0"/>
              <a:t>feature engineering and data understanding were key</a:t>
            </a:r>
            <a:r>
              <a:rPr lang="en-US" dirty="0"/>
              <a:t> </a:t>
            </a:r>
          </a:p>
          <a:p>
            <a:r>
              <a:rPr lang="en-US" dirty="0"/>
              <a:t>Simpler models could still perform well due to strong feature relationships </a:t>
            </a:r>
          </a:p>
          <a:p>
            <a:endParaRPr lang="en-US" dirty="0"/>
          </a:p>
          <a:p>
            <a:r>
              <a:rPr lang="en-US" dirty="0"/>
              <a:t>Energy output can be reliably estimated using </a:t>
            </a:r>
            <a:r>
              <a:rPr lang="en-US" b="1" dirty="0"/>
              <a:t>system size alone</a:t>
            </a:r>
          </a:p>
          <a:p>
            <a:r>
              <a:rPr lang="en-US" dirty="0"/>
              <a:t>Developer or location plays a </a:t>
            </a:r>
            <a:r>
              <a:rPr lang="en-US" b="1" dirty="0"/>
              <a:t>secondary role</a:t>
            </a:r>
          </a:p>
          <a:p>
            <a:r>
              <a:rPr lang="en-IN" dirty="0"/>
              <a:t>Useful for Capacity planning, ROI estimation &amp; Solar installation optimization</a:t>
            </a:r>
          </a:p>
          <a:p>
            <a:r>
              <a:rPr lang="en-US" dirty="0"/>
              <a:t>Solar energy generation is primarily driven by system capacity, and a tuned Random Forest model achieved near-perfect prediction accuracy, highlighting strong underlying data relationships</a:t>
            </a:r>
            <a:endParaRPr lang="en-IN" dirty="0"/>
          </a:p>
          <a:p>
            <a:endParaRPr lang="en-US" dirty="0"/>
          </a:p>
          <a:p>
            <a:endParaRPr lang="en-IN" dirty="0"/>
          </a:p>
        </p:txBody>
      </p:sp>
    </p:spTree>
    <p:extLst>
      <p:ext uri="{BB962C8B-B14F-4D97-AF65-F5344CB8AC3E}">
        <p14:creationId xmlns:p14="http://schemas.microsoft.com/office/powerpoint/2010/main" val="3315803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A897-D7F7-4ABD-4288-12EFAACD87B2}"/>
              </a:ext>
            </a:extLst>
          </p:cNvPr>
          <p:cNvSpPr>
            <a:spLocks noGrp="1"/>
          </p:cNvSpPr>
          <p:nvPr>
            <p:ph type="title"/>
          </p:nvPr>
        </p:nvSpPr>
        <p:spPr>
          <a:xfrm>
            <a:off x="1097280" y="286603"/>
            <a:ext cx="9570720" cy="381991"/>
          </a:xfrm>
        </p:spPr>
        <p:txBody>
          <a:bodyPr>
            <a:normAutofit fontScale="90000"/>
          </a:bodyPr>
          <a:lstStyle/>
          <a:p>
            <a:r>
              <a:rPr lang="en-IN" dirty="0"/>
              <a:t>Future Recommendations</a:t>
            </a:r>
          </a:p>
        </p:txBody>
      </p:sp>
      <p:sp>
        <p:nvSpPr>
          <p:cNvPr id="3" name="Content Placeholder 2">
            <a:extLst>
              <a:ext uri="{FF2B5EF4-FFF2-40B4-BE49-F238E27FC236}">
                <a16:creationId xmlns:a16="http://schemas.microsoft.com/office/drawing/2014/main" id="{3617222B-9961-3950-1B2F-4562549E9D38}"/>
              </a:ext>
            </a:extLst>
          </p:cNvPr>
          <p:cNvSpPr>
            <a:spLocks noGrp="1"/>
          </p:cNvSpPr>
          <p:nvPr>
            <p:ph idx="1"/>
          </p:nvPr>
        </p:nvSpPr>
        <p:spPr>
          <a:xfrm>
            <a:off x="340196" y="715025"/>
            <a:ext cx="11478178" cy="5587452"/>
          </a:xfrm>
        </p:spPr>
        <p:txBody>
          <a:bodyPr/>
          <a:lstStyle/>
          <a:p>
            <a:r>
              <a:rPr lang="en-IN" dirty="0"/>
              <a:t>Add Real-World Weather Data like Solar irradiance, Temperature, Cloud cover, Humidity &amp; Wind speed</a:t>
            </a:r>
          </a:p>
          <a:p>
            <a:r>
              <a:rPr lang="en-IN" dirty="0"/>
              <a:t>Convert to Time-Series Forecasting- </a:t>
            </a:r>
            <a:r>
              <a:rPr lang="en-US" dirty="0"/>
              <a:t>Predict </a:t>
            </a:r>
            <a:r>
              <a:rPr lang="en-US" b="1" dirty="0"/>
              <a:t>future energy</a:t>
            </a:r>
            <a:r>
              <a:rPr lang="en-US" dirty="0"/>
              <a:t> based on past patterns</a:t>
            </a:r>
          </a:p>
          <a:p>
            <a:r>
              <a:rPr lang="en-IN" dirty="0"/>
              <a:t>Improve Feature Engineering : Current features are basic </a:t>
            </a:r>
          </a:p>
          <a:p>
            <a:r>
              <a:rPr lang="en-IN" dirty="0"/>
              <a:t>Reduce Model Overconfidence: Noise robustness checks, Cross-region validation, </a:t>
            </a:r>
            <a:r>
              <a:rPr lang="en-US" dirty="0" err="1"/>
              <a:t>rop</a:t>
            </a:r>
            <a:r>
              <a:rPr lang="en-US" dirty="0"/>
              <a:t> dominant feature (capacity) temporarily to test model</a:t>
            </a:r>
          </a:p>
          <a:p>
            <a:r>
              <a:rPr lang="en-IN" dirty="0"/>
              <a:t>Monitoring &amp; Drift Detection: Data drift detection, Model performance tracking &amp; Retraining pipeline </a:t>
            </a:r>
          </a:p>
          <a:p>
            <a:r>
              <a:rPr lang="en-US"/>
              <a:t>Move from a capacity-driven model to a weather-aware, time-series forecasting system for real-world solar energy prediction.</a:t>
            </a:r>
            <a:endParaRPr lang="en-IN" dirty="0"/>
          </a:p>
        </p:txBody>
      </p:sp>
    </p:spTree>
    <p:extLst>
      <p:ext uri="{BB962C8B-B14F-4D97-AF65-F5344CB8AC3E}">
        <p14:creationId xmlns:p14="http://schemas.microsoft.com/office/powerpoint/2010/main" val="20595004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188</TotalTime>
  <Words>5679</Words>
  <Application>Microsoft Office PowerPoint</Application>
  <PresentationFormat>Widescreen</PresentationFormat>
  <Paragraphs>538</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Retrospect</vt:lpstr>
      <vt:lpstr> Predicting Solar Energy Production</vt:lpstr>
      <vt:lpstr> Table of Contents</vt:lpstr>
      <vt:lpstr>Problem Statement:Solar Energy Generation Prediction</vt:lpstr>
      <vt:lpstr>PowerPoint Presentation</vt:lpstr>
      <vt:lpstr>PowerPoint Presentation</vt:lpstr>
      <vt:lpstr>PowerPoint Presentation</vt:lpstr>
      <vt:lpstr>Dataset Understanding</vt:lpstr>
      <vt:lpstr>PowerPoint Presentation</vt:lpstr>
      <vt:lpstr>PowerPoint Presentation</vt:lpstr>
      <vt:lpstr>PowerPoint Presentation</vt:lpstr>
      <vt:lpstr>Data Cleaning &amp; Preprocessing:</vt:lpstr>
      <vt:lpstr>PowerPoint Presentation</vt:lpstr>
      <vt:lpstr>PowerPoint Presentation</vt:lpstr>
      <vt:lpstr>  Feature Engineering</vt:lpstr>
      <vt:lpstr>PowerPoint Presentation</vt:lpstr>
      <vt:lpstr>  Exploratory Data Analysis</vt:lpstr>
      <vt:lpstr>PowerPoint Presentation</vt:lpstr>
      <vt:lpstr>PowerPoint Presentation</vt:lpstr>
      <vt:lpstr>   Log Energy Distribution</vt:lpstr>
      <vt:lpstr>   Capacity vs Energy</vt:lpstr>
      <vt:lpstr>   Correlation Matrix</vt:lpstr>
      <vt:lpstr>   Top Developers</vt:lpstr>
      <vt:lpstr>Top Developers by Energy(Log)</vt:lpstr>
      <vt:lpstr>  Top Counties By Energy</vt:lpstr>
      <vt:lpstr>   Yearly Energy Trend</vt:lpstr>
      <vt:lpstr>  Monthly Energy Trend</vt:lpstr>
      <vt:lpstr>  Energy per kW Distribution</vt:lpstr>
      <vt:lpstr> Top Developers by Efficiency </vt:lpstr>
      <vt:lpstr> Outlier Detection – Energy per kW</vt:lpstr>
      <vt:lpstr>   Capacity Vs Efficiency</vt:lpstr>
      <vt:lpstr>Features &amp; Target &amp; Train-Test Split</vt:lpstr>
      <vt:lpstr>  Model Selection</vt:lpstr>
      <vt:lpstr>PowerPoint Presentation</vt:lpstr>
      <vt:lpstr> Model Training &amp; Validation</vt:lpstr>
      <vt:lpstr>PowerPoint Presentation</vt:lpstr>
      <vt:lpstr>  Model Comparison</vt:lpstr>
      <vt:lpstr> Hyperparameter Tuning</vt:lpstr>
      <vt:lpstr>PowerPoint Presentation</vt:lpstr>
      <vt:lpstr>Training the Best Model</vt:lpstr>
      <vt:lpstr>Final Model Evaluation on Test Data</vt:lpstr>
      <vt:lpstr>  SHAP Feature Importance</vt:lpstr>
      <vt:lpstr>SHAP Dependence Plot – Capacity vs Impact</vt:lpstr>
      <vt:lpstr>SHAP Explanation (Single Prediction) – Interpretation</vt:lpstr>
      <vt:lpstr>Final Conclusions – Solar Energy Prediction Project</vt:lpstr>
      <vt:lpstr>PowerPoint Presentation</vt:lpstr>
      <vt:lpstr>Final Takeaways &amp; Business Insight</vt:lpstr>
      <vt:lpstr>Future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sanu mathew</dc:creator>
  <cp:lastModifiedBy>sanu mathew</cp:lastModifiedBy>
  <cp:revision>1</cp:revision>
  <dcterms:created xsi:type="dcterms:W3CDTF">2026-04-27T06:49:03Z</dcterms:created>
  <dcterms:modified xsi:type="dcterms:W3CDTF">2026-04-27T09:57:06Z</dcterms:modified>
</cp:coreProperties>
</file>